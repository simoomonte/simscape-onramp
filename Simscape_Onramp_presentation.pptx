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webextensions/webextension1.xml" ContentType="application/vnd.ms-office.webextension+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handoutMasterIdLst>
    <p:handoutMasterId r:id="rId33"/>
  </p:handoutMasterIdLst>
  <p:sldIdLst>
    <p:sldId id="256" r:id="rId5"/>
    <p:sldId id="275" r:id="rId6"/>
    <p:sldId id="278" r:id="rId7"/>
    <p:sldId id="4609" r:id="rId8"/>
    <p:sldId id="259" r:id="rId9"/>
    <p:sldId id="260" r:id="rId10"/>
    <p:sldId id="262" r:id="rId11"/>
    <p:sldId id="264" r:id="rId12"/>
    <p:sldId id="266" r:id="rId13"/>
    <p:sldId id="268" r:id="rId14"/>
    <p:sldId id="270" r:id="rId15"/>
    <p:sldId id="271" r:id="rId16"/>
    <p:sldId id="272" r:id="rId17"/>
    <p:sldId id="273" r:id="rId18"/>
    <p:sldId id="274" r:id="rId19"/>
    <p:sldId id="4631" r:id="rId20"/>
    <p:sldId id="276" r:id="rId21"/>
    <p:sldId id="1369" r:id="rId22"/>
    <p:sldId id="4599" r:id="rId23"/>
    <p:sldId id="277" r:id="rId24"/>
    <p:sldId id="4632" r:id="rId25"/>
    <p:sldId id="4634" r:id="rId26"/>
    <p:sldId id="4633" r:id="rId27"/>
    <p:sldId id="4630" r:id="rId28"/>
    <p:sldId id="4606" r:id="rId29"/>
    <p:sldId id="4607" r:id="rId30"/>
    <p:sldId id="27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6DAD"/>
    <a:srgbClr val="D78824"/>
    <a:srgbClr val="FF0000"/>
    <a:srgbClr val="FF6400"/>
    <a:srgbClr val="228B22"/>
    <a:srgbClr val="A020F6"/>
    <a:srgbClr val="0000FF"/>
    <a:srgbClr val="636569"/>
    <a:srgbClr val="715091"/>
    <a:srgbClr val="0D78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041" autoAdjust="0"/>
  </p:normalViewPr>
  <p:slideViewPr>
    <p:cSldViewPr snapToGrid="0">
      <p:cViewPr varScale="1">
        <p:scale>
          <a:sx n="67" d="100"/>
          <a:sy n="67" d="100"/>
        </p:scale>
        <p:origin x="620" y="56"/>
      </p:cViewPr>
      <p:guideLst>
        <p:guide orient="horz" pos="2160"/>
        <p:guide pos="3841"/>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F993C83-2184-4286-ABE1-941A40B40C8F}" type="datetimeFigureOut">
              <a:rPr lang="en-US" smtClean="0"/>
              <a:pPr/>
              <a:t>4/29/2026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7603001-E0F2-47E5-A338-816CC267AF60}" type="slidenum">
              <a:rPr lang="en-US" smtClean="0"/>
              <a:pPr/>
              <a:t>‹N›</a:t>
            </a:fld>
            <a:endParaRPr lang="en-US"/>
          </a:p>
        </p:txBody>
      </p:sp>
    </p:spTree>
    <p:extLst>
      <p:ext uri="{BB962C8B-B14F-4D97-AF65-F5344CB8AC3E}">
        <p14:creationId xmlns:p14="http://schemas.microsoft.com/office/powerpoint/2010/main" val="215365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053241F-7ED4-45AC-844C-15DB0D5F9CCD}" type="datetimeFigureOut">
              <a:rPr lang="en-US" smtClean="0"/>
              <a:pPr/>
              <a:t>4/29/2026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73B8C3-A209-4A55-9261-22C2A02B3159}" type="slidenum">
              <a:rPr lang="en-US" smtClean="0"/>
              <a:pPr/>
              <a:t>‹N›</a:t>
            </a:fld>
            <a:endParaRPr lang="en-US"/>
          </a:p>
        </p:txBody>
      </p:sp>
    </p:spTree>
    <p:extLst>
      <p:ext uri="{BB962C8B-B14F-4D97-AF65-F5344CB8AC3E}">
        <p14:creationId xmlns:p14="http://schemas.microsoft.com/office/powerpoint/2010/main" val="1744081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t>
            </a:r>
          </a:p>
        </p:txBody>
      </p:sp>
      <p:sp>
        <p:nvSpPr>
          <p:cNvPr id="4" name="Slide Number Placeholder 3"/>
          <p:cNvSpPr>
            <a:spLocks noGrp="1"/>
          </p:cNvSpPr>
          <p:nvPr>
            <p:ph type="sldNum" sz="quarter" idx="5"/>
          </p:nvPr>
        </p:nvSpPr>
        <p:spPr/>
        <p:txBody>
          <a:bodyPr/>
          <a:lstStyle/>
          <a:p>
            <a:fld id="{AD73B8C3-A209-4A55-9261-22C2A02B3159}" type="slidenum">
              <a:rPr lang="en-US" smtClean="0"/>
              <a:pPr/>
              <a:t>1</a:t>
            </a:fld>
            <a:endParaRPr lang="en-US"/>
          </a:p>
        </p:txBody>
      </p:sp>
    </p:spTree>
    <p:extLst>
      <p:ext uri="{BB962C8B-B14F-4D97-AF65-F5344CB8AC3E}">
        <p14:creationId xmlns:p14="http://schemas.microsoft.com/office/powerpoint/2010/main" val="3267804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are the contacts: there is my personal </a:t>
            </a:r>
            <a:r>
              <a:rPr lang="en-GB" dirty="0" err="1"/>
              <a:t>Polimi</a:t>
            </a:r>
            <a:r>
              <a:rPr lang="en-GB" dirty="0"/>
              <a:t> e-mail, the MATLAB </a:t>
            </a:r>
            <a:r>
              <a:rPr lang="en-GB" dirty="0" err="1"/>
              <a:t>PoliMi</a:t>
            </a:r>
            <a:r>
              <a:rPr lang="en-GB" dirty="0"/>
              <a:t> </a:t>
            </a:r>
            <a:r>
              <a:rPr lang="en-GB" dirty="0" err="1"/>
              <a:t>gmail</a:t>
            </a:r>
            <a:r>
              <a:rPr lang="en-GB" dirty="0"/>
              <a:t> and, above all, the official Instagram account of the MATLAB Student Ambassador, so please follow us using the link or the QR code.</a:t>
            </a:r>
          </a:p>
        </p:txBody>
      </p:sp>
      <p:sp>
        <p:nvSpPr>
          <p:cNvPr id="4" name="Slide Number Placeholder 3"/>
          <p:cNvSpPr>
            <a:spLocks noGrp="1"/>
          </p:cNvSpPr>
          <p:nvPr>
            <p:ph type="sldNum" sz="quarter" idx="5"/>
          </p:nvPr>
        </p:nvSpPr>
        <p:spPr/>
        <p:txBody>
          <a:bodyPr/>
          <a:lstStyle/>
          <a:p>
            <a:fld id="{AD73B8C3-A209-4A55-9261-22C2A02B3159}" type="slidenum">
              <a:rPr lang="en-US" smtClean="0"/>
              <a:pPr/>
              <a:t>2</a:t>
            </a:fld>
            <a:endParaRPr lang="en-US"/>
          </a:p>
        </p:txBody>
      </p:sp>
    </p:spTree>
    <p:extLst>
      <p:ext uri="{BB962C8B-B14F-4D97-AF65-F5344CB8AC3E}">
        <p14:creationId xmlns:p14="http://schemas.microsoft.com/office/powerpoint/2010/main" val="661070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agenda for today: we have an initial setup, then we move to examples with the coding part, and finally, we have the quiz and the MATHWORKS gadgets.</a:t>
            </a:r>
          </a:p>
        </p:txBody>
      </p:sp>
      <p:sp>
        <p:nvSpPr>
          <p:cNvPr id="4" name="Slide Number Placeholder 3"/>
          <p:cNvSpPr>
            <a:spLocks noGrp="1"/>
          </p:cNvSpPr>
          <p:nvPr>
            <p:ph type="sldNum" sz="quarter" idx="5"/>
          </p:nvPr>
        </p:nvSpPr>
        <p:spPr/>
        <p:txBody>
          <a:bodyPr/>
          <a:lstStyle/>
          <a:p>
            <a:fld id="{AD73B8C3-A209-4A55-9261-22C2A02B3159}" type="slidenum">
              <a:rPr lang="en-US" smtClean="0"/>
              <a:pPr/>
              <a:t>3</a:t>
            </a:fld>
            <a:endParaRPr lang="en-US"/>
          </a:p>
        </p:txBody>
      </p:sp>
    </p:spTree>
    <p:extLst>
      <p:ext uri="{BB962C8B-B14F-4D97-AF65-F5344CB8AC3E}">
        <p14:creationId xmlns:p14="http://schemas.microsoft.com/office/powerpoint/2010/main" val="4246208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see how much you know about Machine Learning, so what is ML in your opinion?</a:t>
            </a:r>
          </a:p>
        </p:txBody>
      </p:sp>
      <p:sp>
        <p:nvSpPr>
          <p:cNvPr id="4" name="Slide Number Placeholder 3"/>
          <p:cNvSpPr>
            <a:spLocks noGrp="1"/>
          </p:cNvSpPr>
          <p:nvPr>
            <p:ph type="sldNum" sz="quarter" idx="5"/>
          </p:nvPr>
        </p:nvSpPr>
        <p:spPr/>
        <p:txBody>
          <a:bodyPr/>
          <a:lstStyle/>
          <a:p>
            <a:fld id="{AD73B8C3-A209-4A55-9261-22C2A02B3159}" type="slidenum">
              <a:rPr lang="en-US" smtClean="0"/>
              <a:pPr/>
              <a:t>4</a:t>
            </a:fld>
            <a:endParaRPr lang="en-US"/>
          </a:p>
        </p:txBody>
      </p:sp>
    </p:spTree>
    <p:extLst>
      <p:ext uri="{BB962C8B-B14F-4D97-AF65-F5344CB8AC3E}">
        <p14:creationId xmlns:p14="http://schemas.microsoft.com/office/powerpoint/2010/main" val="3986782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 name="Google Shape;6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171450" marR="0" lvl="0" indent="-171450" algn="l" rtl="0">
              <a:lnSpc>
                <a:spcPct val="100000"/>
              </a:lnSpc>
              <a:spcBef>
                <a:spcPts val="0"/>
              </a:spcBef>
              <a:spcAft>
                <a:spcPts val="0"/>
              </a:spcAft>
              <a:buClr>
                <a:schemeClr val="dk1"/>
              </a:buClr>
              <a:buSzPts val="1200"/>
              <a:buFont typeface="Arial"/>
              <a:buChar char="•"/>
            </a:pPr>
            <a:r>
              <a:rPr lang="en-US"/>
              <a:t>Build physical component models based on physical connection that directly integrate with block diagrams.</a:t>
            </a:r>
            <a:endParaRPr/>
          </a:p>
          <a:p>
            <a:pPr marL="171450" marR="0" lvl="0" indent="-171450" algn="l" rtl="0">
              <a:lnSpc>
                <a:spcPct val="100000"/>
              </a:lnSpc>
              <a:spcBef>
                <a:spcPts val="0"/>
              </a:spcBef>
              <a:spcAft>
                <a:spcPts val="0"/>
              </a:spcAft>
              <a:buClr>
                <a:schemeClr val="dk1"/>
              </a:buClr>
              <a:buSzPts val="1200"/>
              <a:buFont typeface="Arial"/>
              <a:buChar char="•"/>
            </a:pPr>
            <a:r>
              <a:rPr lang="en-US"/>
              <a:t>Create custom components models through text-based authoring of physical modeling components, domains, and libraries.</a:t>
            </a:r>
            <a:endParaRPr/>
          </a:p>
          <a:p>
            <a:pPr marL="171450" marR="0" lvl="0" indent="-171450" algn="l" rtl="0">
              <a:lnSpc>
                <a:spcPct val="100000"/>
              </a:lnSpc>
              <a:spcBef>
                <a:spcPts val="0"/>
              </a:spcBef>
              <a:spcAft>
                <a:spcPts val="0"/>
              </a:spcAft>
              <a:buClr>
                <a:schemeClr val="dk1"/>
              </a:buClr>
              <a:buSzPts val="1200"/>
              <a:buFont typeface="Arial"/>
              <a:buChar char="•"/>
            </a:pPr>
            <a:r>
              <a:rPr lang="en-US"/>
              <a:t>Deploy your models to other simulation environments, such as HIL.</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a:p>
            <a:pPr marL="0" lvl="0" indent="0" algn="l" rtl="0">
              <a:spcBef>
                <a:spcPts val="0"/>
              </a:spcBef>
              <a:spcAft>
                <a:spcPts val="0"/>
              </a:spcAft>
              <a:buNone/>
            </a:pPr>
            <a:endParaRPr/>
          </a:p>
        </p:txBody>
      </p:sp>
      <p:sp>
        <p:nvSpPr>
          <p:cNvPr id="68" name="Google Shape;68;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 name="Google Shape;7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Simscape Electrical™ (formerly SimPowerSystems™ and SimElectronics</a:t>
            </a:r>
            <a:r>
              <a:rPr lang="en-US" sz="1200" b="0" i="0" baseline="30000">
                <a:solidFill>
                  <a:schemeClr val="dk1"/>
                </a:solidFill>
                <a:latin typeface="Calibri"/>
                <a:ea typeface="Calibri"/>
                <a:cs typeface="Calibri"/>
                <a:sym typeface="Calibri"/>
              </a:rPr>
              <a:t>®</a:t>
            </a:r>
            <a:r>
              <a:rPr lang="en-US" sz="1200" b="0" i="0">
                <a:solidFill>
                  <a:schemeClr val="dk1"/>
                </a:solidFill>
                <a:latin typeface="Calibri"/>
                <a:ea typeface="Calibri"/>
                <a:cs typeface="Calibri"/>
                <a:sym typeface="Calibri"/>
              </a:rPr>
              <a:t>) provides component libraries for modeling and simulating electronic, mechatronic, and electrical power systems. It includes models of semiconductors, motors, and components for applications such as electromechanical actuation, smart grids, and renewable energy systems. You can use these components to evaluate analog circuit architectures, develop mechatronic systems with electric drives, and analyze the generation, conversion, transmission, and consumption of electrical power at the grid level.</a:t>
            </a:r>
            <a:br>
              <a:rPr lang="en-US" sz="1200" b="0" i="0">
                <a:solidFill>
                  <a:schemeClr val="dk1"/>
                </a:solidFill>
                <a:latin typeface="Calibri"/>
                <a:ea typeface="Calibri"/>
                <a:cs typeface="Calibri"/>
                <a:sym typeface="Calibri"/>
              </a:rPr>
            </a:b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Simscape Electrical helps you develop control systems and test system-level performance. You can parameterize your models using MATLAB</a:t>
            </a:r>
            <a:r>
              <a:rPr lang="en-US" sz="1200" b="0" i="0" baseline="30000">
                <a:solidFill>
                  <a:schemeClr val="dk1"/>
                </a:solidFill>
                <a:latin typeface="Calibri"/>
                <a:ea typeface="Calibri"/>
                <a:cs typeface="Calibri"/>
                <a:sym typeface="Calibri"/>
              </a:rPr>
              <a:t>®</a:t>
            </a:r>
            <a:r>
              <a:rPr lang="en-US" sz="1200" b="0" i="0">
                <a:solidFill>
                  <a:schemeClr val="dk1"/>
                </a:solidFill>
                <a:latin typeface="Calibri"/>
                <a:ea typeface="Calibri"/>
                <a:cs typeface="Calibri"/>
                <a:sym typeface="Calibri"/>
              </a:rPr>
              <a:t> variables and expressions, and design control systems for electrical systems in Simulink</a:t>
            </a:r>
            <a:r>
              <a:rPr lang="en-US" sz="1200" b="0" i="0" baseline="30000">
                <a:solidFill>
                  <a:schemeClr val="dk1"/>
                </a:solidFill>
                <a:latin typeface="Calibri"/>
                <a:ea typeface="Calibri"/>
                <a:cs typeface="Calibri"/>
                <a:sym typeface="Calibri"/>
              </a:rPr>
              <a:t>®</a:t>
            </a:r>
            <a:r>
              <a:rPr lang="en-US" sz="1200" b="0" i="0">
                <a:solidFill>
                  <a:schemeClr val="dk1"/>
                </a:solidFill>
                <a:latin typeface="Calibri"/>
                <a:ea typeface="Calibri"/>
                <a:cs typeface="Calibri"/>
                <a:sym typeface="Calibri"/>
              </a:rPr>
              <a:t>. You can integrate mechanical, hydraulic, thermal, and other physical systems into your model using components from the Simscape family of products. To deploy models to other simulation environments, including hardware-in-the-loop (HIL) systems, Simscape Electrical supports C-code generation.</a:t>
            </a:r>
            <a:endParaRPr/>
          </a:p>
          <a:p>
            <a:pPr marL="0" lvl="0" indent="0" algn="l" rtl="0">
              <a:spcBef>
                <a:spcPts val="0"/>
              </a:spcBef>
              <a:spcAft>
                <a:spcPts val="0"/>
              </a:spcAft>
              <a:buNone/>
            </a:pP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Simscape Electrical was developed in collaboration with Hydro-Québec of Montreal.</a:t>
            </a:r>
            <a:endParaRPr/>
          </a:p>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1" name="Google Shape;181;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0"/>
              </a:spcBef>
              <a:spcAft>
                <a:spcPts val="0"/>
              </a:spcAft>
              <a:buNone/>
            </a:pPr>
            <a:r>
              <a:rPr lang="en-US" sz="1020" b="0" i="0">
                <a:solidFill>
                  <a:srgbClr val="212121"/>
                </a:solidFill>
                <a:latin typeface="Roboto"/>
                <a:ea typeface="Roboto"/>
                <a:cs typeface="Roboto"/>
                <a:sym typeface="Roboto"/>
              </a:rPr>
              <a:t>Simscape Battery™ provides design tools for modeling and simulating battery and energy storage systems.</a:t>
            </a:r>
            <a:endParaRPr/>
          </a:p>
          <a:p>
            <a:pPr marL="0" lvl="0" indent="0" algn="l" rtl="0">
              <a:lnSpc>
                <a:spcPct val="80000"/>
              </a:lnSpc>
              <a:spcBef>
                <a:spcPts val="0"/>
              </a:spcBef>
              <a:spcAft>
                <a:spcPts val="0"/>
              </a:spcAft>
              <a:buNone/>
            </a:pPr>
            <a:endParaRPr sz="1020" b="0" i="0">
              <a:solidFill>
                <a:srgbClr val="212121"/>
              </a:solidFill>
              <a:latin typeface="Roboto"/>
              <a:ea typeface="Roboto"/>
              <a:cs typeface="Roboto"/>
              <a:sym typeface="Roboto"/>
            </a:endParaRPr>
          </a:p>
          <a:p>
            <a:pPr marL="0" lvl="0" indent="0" algn="l" rtl="0">
              <a:lnSpc>
                <a:spcPct val="80000"/>
              </a:lnSpc>
              <a:spcBef>
                <a:spcPts val="0"/>
              </a:spcBef>
              <a:spcAft>
                <a:spcPts val="0"/>
              </a:spcAft>
              <a:buNone/>
            </a:pPr>
            <a:r>
              <a:rPr lang="en-US" sz="1020" b="0" i="0">
                <a:solidFill>
                  <a:srgbClr val="212121"/>
                </a:solidFill>
                <a:latin typeface="Roboto"/>
                <a:ea typeface="Roboto"/>
                <a:cs typeface="Roboto"/>
                <a:sym typeface="Roboto"/>
              </a:rPr>
              <a:t>You can use these tools to test battery architectures, design battery management systems, and evaluate battery system behavior across normal and extreme conditions. You model these systems by assembling the components into a schematic. Then select the physical effects you wish to include, assign parameter values, and you are ready to simulate.</a:t>
            </a:r>
            <a:endParaRPr/>
          </a:p>
          <a:p>
            <a:pPr marL="0" lvl="0" indent="0" algn="l" rtl="0">
              <a:lnSpc>
                <a:spcPct val="80000"/>
              </a:lnSpc>
              <a:spcBef>
                <a:spcPts val="0"/>
              </a:spcBef>
              <a:spcAft>
                <a:spcPts val="0"/>
              </a:spcAft>
              <a:buNone/>
            </a:pPr>
            <a:endParaRPr sz="1020" b="0" i="0">
              <a:solidFill>
                <a:srgbClr val="212121"/>
              </a:solidFill>
              <a:latin typeface="Roboto"/>
              <a:ea typeface="Roboto"/>
              <a:cs typeface="Roboto"/>
              <a:sym typeface="Roboto"/>
            </a:endParaRPr>
          </a:p>
          <a:p>
            <a:pPr marL="0" lvl="0" indent="0" algn="l" rtl="0">
              <a:lnSpc>
                <a:spcPct val="80000"/>
              </a:lnSpc>
              <a:spcBef>
                <a:spcPts val="0"/>
              </a:spcBef>
              <a:spcAft>
                <a:spcPts val="0"/>
              </a:spcAft>
              <a:buNone/>
            </a:pPr>
            <a:r>
              <a:rPr lang="en-US" sz="1020" b="0" i="0">
                <a:solidFill>
                  <a:srgbClr val="212121"/>
                </a:solidFill>
                <a:latin typeface="Roboto"/>
                <a:ea typeface="Roboto"/>
                <a:cs typeface="Roboto"/>
                <a:sym typeface="Roboto"/>
              </a:rPr>
              <a:t>Simscape Battery includes design tools that automate the creation of battery pack models. You create models that represent your desired topology. These models can include cooling plate connections so that electrical and thermal responses can be evaluated.</a:t>
            </a:r>
            <a:endParaRPr/>
          </a:p>
          <a:p>
            <a:pPr marL="0" lvl="0" indent="0" algn="l" rtl="0">
              <a:lnSpc>
                <a:spcPct val="80000"/>
              </a:lnSpc>
              <a:spcBef>
                <a:spcPts val="0"/>
              </a:spcBef>
              <a:spcAft>
                <a:spcPts val="0"/>
              </a:spcAft>
              <a:buNone/>
            </a:pPr>
            <a:endParaRPr sz="1020" b="0" i="0">
              <a:solidFill>
                <a:srgbClr val="212121"/>
              </a:solidFill>
              <a:latin typeface="Roboto"/>
              <a:ea typeface="Roboto"/>
              <a:cs typeface="Roboto"/>
              <a:sym typeface="Roboto"/>
            </a:endParaRPr>
          </a:p>
          <a:p>
            <a:pPr marL="0" lvl="0" indent="0" algn="l" rtl="0">
              <a:lnSpc>
                <a:spcPct val="80000"/>
              </a:lnSpc>
              <a:spcBef>
                <a:spcPts val="0"/>
              </a:spcBef>
              <a:spcAft>
                <a:spcPts val="0"/>
              </a:spcAft>
              <a:buNone/>
            </a:pPr>
            <a:r>
              <a:rPr lang="en-US" sz="1020" b="0" i="0">
                <a:solidFill>
                  <a:srgbClr val="212121"/>
                </a:solidFill>
                <a:latin typeface="Roboto"/>
                <a:ea typeface="Roboto"/>
                <a:cs typeface="Roboto"/>
                <a:sym typeface="Roboto"/>
              </a:rPr>
              <a:t>You can integrate electrical, hydraulic, pneumatic, and other systems into your model using components from the Simscape family of products. Simscape offers a set of fundamental components in many physical domains, and it provides the technology for simulating and analyzing physical systems.</a:t>
            </a:r>
            <a:endParaRPr/>
          </a:p>
          <a:p>
            <a:pPr marL="0" lvl="0" indent="0" algn="l" rtl="0">
              <a:lnSpc>
                <a:spcPct val="80000"/>
              </a:lnSpc>
              <a:spcBef>
                <a:spcPts val="0"/>
              </a:spcBef>
              <a:spcAft>
                <a:spcPts val="0"/>
              </a:spcAft>
              <a:buNone/>
            </a:pPr>
            <a:endParaRPr sz="1020" b="0" i="0">
              <a:solidFill>
                <a:srgbClr val="212121"/>
              </a:solidFill>
              <a:latin typeface="Roboto"/>
              <a:ea typeface="Roboto"/>
              <a:cs typeface="Roboto"/>
              <a:sym typeface="Roboto"/>
            </a:endParaRPr>
          </a:p>
          <a:p>
            <a:pPr marL="0" lvl="0" indent="0" algn="l" rtl="0">
              <a:lnSpc>
                <a:spcPct val="80000"/>
              </a:lnSpc>
              <a:spcBef>
                <a:spcPts val="0"/>
              </a:spcBef>
              <a:spcAft>
                <a:spcPts val="0"/>
              </a:spcAft>
              <a:buNone/>
            </a:pPr>
            <a:r>
              <a:rPr lang="en-US" sz="1020" b="0" i="0">
                <a:solidFill>
                  <a:srgbClr val="212121"/>
                </a:solidFill>
                <a:latin typeface="Roboto"/>
                <a:ea typeface="Roboto"/>
                <a:cs typeface="Roboto"/>
                <a:sym typeface="Roboto"/>
              </a:rPr>
              <a:t>The Simscape add-on products provide additional models and analysis capabilities for applications such as electrical power networks, heating and cooling systems, and mechatronics. You can integrate these with three-dimensional mechanical systems and analyze their behavior using an animation of the simulation results.</a:t>
            </a:r>
            <a:endParaRPr/>
          </a:p>
          <a:p>
            <a:pPr marL="0" lvl="0" indent="0" algn="l" rtl="0">
              <a:lnSpc>
                <a:spcPct val="80000"/>
              </a:lnSpc>
              <a:spcBef>
                <a:spcPts val="0"/>
              </a:spcBef>
              <a:spcAft>
                <a:spcPts val="0"/>
              </a:spcAft>
              <a:buNone/>
            </a:pPr>
            <a:r>
              <a:rPr lang="en-US" sz="1020" b="0" i="0">
                <a:solidFill>
                  <a:srgbClr val="212121"/>
                </a:solidFill>
                <a:latin typeface="Roboto"/>
                <a:ea typeface="Roboto"/>
                <a:cs typeface="Roboto"/>
                <a:sym typeface="Roboto"/>
              </a:rPr>
              <a:t>Simscape Battery models can also be converted to C code. This enables them to support testing of embedded software in configurations such as processor-in-the-loop and hardware-in-the-loop testing, which is much safer and more efficient than testing on hardware prototypes.</a:t>
            </a:r>
            <a:endParaRPr/>
          </a:p>
          <a:p>
            <a:pPr marL="0" lvl="0" indent="0" algn="l" rtl="0">
              <a:lnSpc>
                <a:spcPct val="80000"/>
              </a:lnSpc>
              <a:spcBef>
                <a:spcPts val="0"/>
              </a:spcBef>
              <a:spcAft>
                <a:spcPts val="0"/>
              </a:spcAft>
              <a:buNone/>
            </a:pPr>
            <a:endParaRPr sz="1020" b="0" i="0">
              <a:solidFill>
                <a:srgbClr val="212121"/>
              </a:solidFill>
              <a:latin typeface="Roboto"/>
              <a:ea typeface="Roboto"/>
              <a:cs typeface="Roboto"/>
              <a:sym typeface="Roboto"/>
            </a:endParaRPr>
          </a:p>
          <a:p>
            <a:pPr marL="0" lvl="0" indent="0" algn="l" rtl="0">
              <a:lnSpc>
                <a:spcPct val="80000"/>
              </a:lnSpc>
              <a:spcBef>
                <a:spcPts val="0"/>
              </a:spcBef>
              <a:spcAft>
                <a:spcPts val="0"/>
              </a:spcAft>
              <a:buNone/>
            </a:pPr>
            <a:r>
              <a:rPr lang="en-US" sz="1020" b="0" i="0">
                <a:solidFill>
                  <a:srgbClr val="212121"/>
                </a:solidFill>
                <a:latin typeface="Roboto"/>
                <a:ea typeface="Roboto"/>
                <a:cs typeface="Roboto"/>
                <a:sym typeface="Roboto"/>
              </a:rPr>
              <a:t>Simscape Battery models integrate directly with block diagrams in Simulink, state machines in Stateflow</a:t>
            </a:r>
            <a:r>
              <a:rPr lang="en-US" sz="1020" b="0" i="0" baseline="30000">
                <a:solidFill>
                  <a:srgbClr val="212121"/>
                </a:solidFill>
                <a:latin typeface="Roboto"/>
                <a:ea typeface="Roboto"/>
                <a:cs typeface="Roboto"/>
                <a:sym typeface="Roboto"/>
              </a:rPr>
              <a:t>®</a:t>
            </a:r>
            <a:r>
              <a:rPr lang="en-US" sz="1020" b="0" i="0">
                <a:solidFill>
                  <a:srgbClr val="212121"/>
                </a:solidFill>
                <a:latin typeface="Roboto"/>
                <a:ea typeface="Roboto"/>
                <a:cs typeface="Roboto"/>
                <a:sym typeface="Roboto"/>
              </a:rPr>
              <a:t>, and MATLAB functions. You can simulate your entire system in a single environment. This accelerates tasks such as designing control systems and optimizing system-level performance.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8" name="Google Shape;198;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1400"/>
              <a:t>Read the slide, and advance.</a:t>
            </a:r>
            <a:endParaRPr/>
          </a:p>
          <a:p>
            <a:pPr marL="0" lvl="0" indent="0" algn="l" rtl="0">
              <a:spcBef>
                <a:spcPts val="0"/>
              </a:spcBef>
              <a:spcAft>
                <a:spcPts val="0"/>
              </a:spcAft>
              <a:buNone/>
            </a:pPr>
            <a:endParaRPr sz="1400"/>
          </a:p>
          <a:p>
            <a:pPr marL="457200" lvl="1" indent="0" algn="l" rtl="0">
              <a:spcBef>
                <a:spcPts val="0"/>
              </a:spcBef>
              <a:spcAft>
                <a:spcPts val="0"/>
              </a:spcAft>
              <a:buNone/>
            </a:pPr>
            <a:r>
              <a:rPr lang="en-US" i="1"/>
              <a:t>Hydraulic circuit model description </a:t>
            </a:r>
            <a:endParaRPr/>
          </a:p>
          <a:p>
            <a:pPr marL="457200" lvl="1" indent="0" algn="l" rtl="0">
              <a:spcBef>
                <a:spcPts val="0"/>
              </a:spcBef>
              <a:spcAft>
                <a:spcPts val="0"/>
              </a:spcAft>
              <a:buNone/>
            </a:pPr>
            <a:r>
              <a:rPr lang="en-US" i="1"/>
              <a:t>No need to derive equations of hydraulic system dynamics</a:t>
            </a:r>
            <a:endParaRPr/>
          </a:p>
          <a:p>
            <a:pPr marL="457200" lvl="1" indent="0" algn="l" rtl="0">
              <a:spcBef>
                <a:spcPts val="0"/>
              </a:spcBef>
              <a:spcAft>
                <a:spcPts val="0"/>
              </a:spcAft>
              <a:buNone/>
            </a:pPr>
            <a:r>
              <a:rPr lang="en-US" i="1"/>
              <a:t>No co-simulation</a:t>
            </a:r>
            <a:endParaRPr/>
          </a:p>
          <a:p>
            <a:pPr marL="0" lvl="0" indent="0" algn="l" rtl="0">
              <a:spcBef>
                <a:spcPts val="0"/>
              </a:spcBef>
              <a:spcAft>
                <a:spcPts val="0"/>
              </a:spcAft>
              <a:buNone/>
            </a:pPr>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1" name="Google Shape;221;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7" name="Google Shape;237;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3" name="Google Shape;403;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1" name="Google Shape;411;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9" name="Google Shape;419;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9" name="Google Shape;429;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6" name="Google Shape;446;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Clr>
                <a:schemeClr val="dk1"/>
              </a:buClr>
              <a:buSzPts val="500"/>
              <a:buFont typeface="Verdana"/>
              <a:buNone/>
            </a:pPr>
            <a:r>
              <a:rPr lang="en-US" sz="500" b="1">
                <a:latin typeface="Verdana"/>
                <a:ea typeface="Verdana"/>
                <a:cs typeface="Verdana"/>
                <a:sym typeface="Verdana"/>
              </a:rPr>
              <a:t>Industries: </a:t>
            </a:r>
            <a:r>
              <a:rPr lang="en-US" sz="500">
                <a:solidFill>
                  <a:schemeClr val="dk1"/>
                </a:solidFill>
                <a:latin typeface="Calibri"/>
                <a:ea typeface="Calibri"/>
                <a:cs typeface="Calibri"/>
                <a:sym typeface="Calibri"/>
              </a:rPr>
              <a:t>Automotive, Industrial automation and machinery</a:t>
            </a:r>
            <a:endParaRPr/>
          </a:p>
          <a:p>
            <a:pPr marL="0" marR="0" lvl="0" indent="0" algn="l" rtl="0">
              <a:lnSpc>
                <a:spcPct val="80000"/>
              </a:lnSpc>
              <a:spcBef>
                <a:spcPts val="0"/>
              </a:spcBef>
              <a:spcAft>
                <a:spcPts val="0"/>
              </a:spcAft>
              <a:buClr>
                <a:schemeClr val="dk1"/>
              </a:buClr>
              <a:buSzPts val="500"/>
              <a:buFont typeface="Verdana"/>
              <a:buNone/>
            </a:pPr>
            <a:r>
              <a:rPr lang="en-US" sz="500" b="1">
                <a:latin typeface="Verdana"/>
                <a:ea typeface="Verdana"/>
                <a:cs typeface="Verdana"/>
                <a:sym typeface="Verdana"/>
              </a:rPr>
              <a:t>Application Areas:</a:t>
            </a:r>
            <a:r>
              <a:rPr lang="en-US" sz="500" b="0">
                <a:latin typeface="Verdana"/>
                <a:ea typeface="Verdana"/>
                <a:cs typeface="Verdana"/>
                <a:sym typeface="Verdana"/>
              </a:rPr>
              <a:t> </a:t>
            </a:r>
            <a:r>
              <a:rPr lang="en-US" sz="500">
                <a:solidFill>
                  <a:schemeClr val="dk1"/>
                </a:solidFill>
                <a:latin typeface="Calibri"/>
                <a:ea typeface="Calibri"/>
                <a:cs typeface="Calibri"/>
                <a:sym typeface="Calibri"/>
              </a:rPr>
              <a:t>Control systems, Mechatronics</a:t>
            </a:r>
            <a:endParaRPr/>
          </a:p>
          <a:p>
            <a:pPr marL="0" marR="0" lvl="0" indent="0" algn="l" rtl="0">
              <a:lnSpc>
                <a:spcPct val="80000"/>
              </a:lnSpc>
              <a:spcBef>
                <a:spcPts val="0"/>
              </a:spcBef>
              <a:spcAft>
                <a:spcPts val="0"/>
              </a:spcAft>
              <a:buClr>
                <a:schemeClr val="dk1"/>
              </a:buClr>
              <a:buSzPts val="500"/>
              <a:buFont typeface="Verdana"/>
              <a:buNone/>
            </a:pPr>
            <a:r>
              <a:rPr lang="en-US" sz="500" b="1">
                <a:latin typeface="Verdana"/>
                <a:ea typeface="Verdana"/>
                <a:cs typeface="Verdana"/>
                <a:sym typeface="Verdana"/>
              </a:rPr>
              <a:t>Capabilities</a:t>
            </a:r>
            <a:r>
              <a:rPr lang="en-US" sz="500" b="0">
                <a:latin typeface="Verdana"/>
                <a:ea typeface="Verdana"/>
                <a:cs typeface="Verdana"/>
                <a:sym typeface="Verdana"/>
              </a:rPr>
              <a:t>: </a:t>
            </a:r>
            <a:r>
              <a:rPr lang="en-US" sz="500">
                <a:solidFill>
                  <a:schemeClr val="dk1"/>
                </a:solidFill>
                <a:latin typeface="Calibri"/>
                <a:ea typeface="Calibri"/>
                <a:cs typeface="Calibri"/>
                <a:sym typeface="Calibri"/>
              </a:rPr>
              <a:t>Mathematical modeling, Algorithm development, System design and simulation, Physical modeling, Rapid prototyping</a:t>
            </a:r>
            <a:endParaRPr/>
          </a:p>
          <a:p>
            <a:pPr marL="0" marR="0" lvl="0" indent="0" algn="l" rtl="0">
              <a:lnSpc>
                <a:spcPct val="80000"/>
              </a:lnSpc>
              <a:spcBef>
                <a:spcPts val="0"/>
              </a:spcBef>
              <a:spcAft>
                <a:spcPts val="0"/>
              </a:spcAft>
              <a:buClr>
                <a:schemeClr val="dk1"/>
              </a:buClr>
              <a:buSzPts val="500"/>
              <a:buFont typeface="Verdana"/>
              <a:buNone/>
            </a:pPr>
            <a:r>
              <a:rPr lang="en-US" sz="500" b="1">
                <a:latin typeface="Verdana"/>
                <a:ea typeface="Verdana"/>
                <a:cs typeface="Verdana"/>
                <a:sym typeface="Verdana"/>
              </a:rPr>
              <a:t>Products Used: </a:t>
            </a:r>
            <a:r>
              <a:rPr lang="en-US" sz="500">
                <a:solidFill>
                  <a:schemeClr val="dk1"/>
                </a:solidFill>
                <a:latin typeface="Calibri"/>
                <a:ea typeface="Calibri"/>
                <a:cs typeface="Calibri"/>
                <a:sym typeface="Calibri"/>
              </a:rPr>
              <a:t>MATLAB, Simulink, SimHydraulics, SimMechanics, Simscape, Simulink Control Design, Simulink Real-Time</a:t>
            </a:r>
            <a:endParaRPr/>
          </a:p>
          <a:p>
            <a:pPr marL="0" marR="0" lvl="0" indent="0" algn="l" rtl="0">
              <a:lnSpc>
                <a:spcPct val="80000"/>
              </a:lnSpc>
              <a:spcBef>
                <a:spcPts val="0"/>
              </a:spcBef>
              <a:spcAft>
                <a:spcPts val="0"/>
              </a:spcAft>
              <a:buClr>
                <a:schemeClr val="dk1"/>
              </a:buClr>
              <a:buSzPts val="500"/>
              <a:buFont typeface="Verdana"/>
              <a:buNone/>
            </a:pPr>
            <a:r>
              <a:rPr lang="en-US" sz="500" b="1">
                <a:latin typeface="Verdana"/>
                <a:ea typeface="Verdana"/>
                <a:cs typeface="Verdana"/>
                <a:sym typeface="Verdana"/>
              </a:rPr>
              <a:t>Country:</a:t>
            </a:r>
            <a:r>
              <a:rPr lang="en-US" sz="500" b="0">
                <a:latin typeface="Verdana"/>
                <a:ea typeface="Verdana"/>
                <a:cs typeface="Verdana"/>
                <a:sym typeface="Verdana"/>
              </a:rPr>
              <a:t> USA</a:t>
            </a:r>
            <a:endParaRPr sz="500">
              <a:latin typeface="Verdana"/>
              <a:ea typeface="Verdana"/>
              <a:cs typeface="Verdana"/>
              <a:sym typeface="Verdana"/>
            </a:endParaRPr>
          </a:p>
          <a:p>
            <a:pPr marL="0" lvl="0" indent="0" algn="l" rtl="0">
              <a:lnSpc>
                <a:spcPct val="80000"/>
              </a:lnSpc>
              <a:spcBef>
                <a:spcPts val="0"/>
              </a:spcBef>
              <a:spcAft>
                <a:spcPts val="0"/>
              </a:spcAft>
              <a:buNone/>
            </a:pPr>
            <a:endParaRPr sz="500" b="1">
              <a:solidFill>
                <a:schemeClr val="dk1"/>
              </a:solidFill>
              <a:latin typeface="Calibri"/>
              <a:ea typeface="Calibri"/>
              <a:cs typeface="Calibri"/>
              <a:sym typeface="Calibri"/>
            </a:endParaRPr>
          </a:p>
          <a:p>
            <a:pPr marL="0" lvl="0" indent="0" algn="l" rtl="0">
              <a:lnSpc>
                <a:spcPct val="80000"/>
              </a:lnSpc>
              <a:spcBef>
                <a:spcPts val="0"/>
              </a:spcBef>
              <a:spcAft>
                <a:spcPts val="0"/>
              </a:spcAft>
              <a:buNone/>
            </a:pPr>
            <a:r>
              <a:rPr lang="en-US" sz="500" b="1">
                <a:solidFill>
                  <a:schemeClr val="dk1"/>
                </a:solidFill>
                <a:latin typeface="Calibri"/>
                <a:ea typeface="Calibri"/>
                <a:cs typeface="Calibri"/>
                <a:sym typeface="Calibri"/>
              </a:rPr>
              <a:t>Volvo Construction Equipment Streamlines Product Development with a Real-Time, Human-in-the-Loop Simulator</a:t>
            </a:r>
            <a:endParaRPr sz="500">
              <a:solidFill>
                <a:schemeClr val="dk1"/>
              </a:solidFill>
              <a:latin typeface="Calibri"/>
              <a:ea typeface="Calibri"/>
              <a:cs typeface="Calibri"/>
              <a:sym typeface="Calibri"/>
            </a:endParaRPr>
          </a:p>
          <a:p>
            <a:pPr marL="0" lvl="0" indent="0" algn="l" rtl="0">
              <a:lnSpc>
                <a:spcPct val="80000"/>
              </a:lnSpc>
              <a:spcBef>
                <a:spcPts val="0"/>
              </a:spcBef>
              <a:spcAft>
                <a:spcPts val="0"/>
              </a:spcAft>
              <a:buNone/>
            </a:pPr>
            <a:r>
              <a:rPr lang="en-US" sz="500">
                <a:solidFill>
                  <a:schemeClr val="dk1"/>
                </a:solidFill>
                <a:latin typeface="Calibri"/>
                <a:ea typeface="Calibri"/>
                <a:cs typeface="Calibri"/>
                <a:sym typeface="Calibri"/>
              </a:rPr>
              <a:t>When designing excavators, wheel loaders, haulers, and other construction equipment, engineers develop prototype versions of the machinery to evaluate performance, responsiveness, and operability. Building physical prototypes costs manufacturers millions of dollars and months of development time. Until recently, however, this was the only way to effectively understand the experience of operating a new machine.</a:t>
            </a:r>
            <a:endParaRPr/>
          </a:p>
          <a:p>
            <a:pPr marL="0" lvl="0" indent="0" algn="l" rtl="0">
              <a:lnSpc>
                <a:spcPct val="80000"/>
              </a:lnSpc>
              <a:spcBef>
                <a:spcPts val="0"/>
              </a:spcBef>
              <a:spcAft>
                <a:spcPts val="0"/>
              </a:spcAft>
              <a:buNone/>
            </a:pPr>
            <a:endParaRPr sz="500">
              <a:solidFill>
                <a:schemeClr val="dk1"/>
              </a:solidFill>
              <a:latin typeface="Calibri"/>
              <a:ea typeface="Calibri"/>
              <a:cs typeface="Calibri"/>
              <a:sym typeface="Calibri"/>
            </a:endParaRPr>
          </a:p>
          <a:p>
            <a:pPr marL="0" lvl="0" indent="0" algn="l" rtl="0">
              <a:lnSpc>
                <a:spcPct val="80000"/>
              </a:lnSpc>
              <a:spcBef>
                <a:spcPts val="0"/>
              </a:spcBef>
              <a:spcAft>
                <a:spcPts val="0"/>
              </a:spcAft>
              <a:buNone/>
            </a:pPr>
            <a:r>
              <a:rPr lang="en-US" sz="500">
                <a:solidFill>
                  <a:schemeClr val="dk1"/>
                </a:solidFill>
                <a:latin typeface="Calibri"/>
                <a:ea typeface="Calibri"/>
                <a:cs typeface="Calibri"/>
                <a:sym typeface="Calibri"/>
              </a:rPr>
              <a:t>Volvo Construction Equipment (Volvo CE) can now evaluate new machine designs before a prototype is built. Volvo CE engineers built a real-time, human-in-the-loop simulator for construction machines using Simulink®, Simscape™, and Simulink Real-Time™. The Virtual Machine Simulator (VMS) gives operators realistic visual, auditory, and motion feedback during simulation.</a:t>
            </a:r>
            <a:endParaRPr/>
          </a:p>
          <a:p>
            <a:pPr marL="0" lvl="0" indent="0" algn="l" rtl="0">
              <a:lnSpc>
                <a:spcPct val="80000"/>
              </a:lnSpc>
              <a:spcBef>
                <a:spcPts val="0"/>
              </a:spcBef>
              <a:spcAft>
                <a:spcPts val="0"/>
              </a:spcAft>
              <a:buNone/>
            </a:pPr>
            <a:endParaRPr sz="500">
              <a:solidFill>
                <a:schemeClr val="dk1"/>
              </a:solidFill>
              <a:latin typeface="Calibri"/>
              <a:ea typeface="Calibri"/>
              <a:cs typeface="Calibri"/>
              <a:sym typeface="Calibri"/>
            </a:endParaRPr>
          </a:p>
          <a:p>
            <a:pPr marL="0" lvl="0" indent="0" algn="l" rtl="0">
              <a:lnSpc>
                <a:spcPct val="80000"/>
              </a:lnSpc>
              <a:spcBef>
                <a:spcPts val="0"/>
              </a:spcBef>
              <a:spcAft>
                <a:spcPts val="0"/>
              </a:spcAft>
              <a:buNone/>
            </a:pPr>
            <a:r>
              <a:rPr lang="en-US" sz="500">
                <a:solidFill>
                  <a:schemeClr val="dk1"/>
                </a:solidFill>
                <a:latin typeface="Calibri"/>
                <a:ea typeface="Calibri"/>
                <a:cs typeface="Calibri"/>
                <a:sym typeface="Calibri"/>
              </a:rPr>
              <a:t>“With Simscape and Simulink Real-Time we can simulate not only fuel economy and performance but also the feel of operating the machine—all before we build a physical prototype,” says Jae Yong Lee, Chief Engineer at Volvo CE. “Evaluating operator experience through simulation is vital to making trade­off decisions in the early stages of product development.” </a:t>
            </a:r>
            <a:r>
              <a:rPr lang="en-US" sz="500" b="0" i="0" u="none" strike="noStrike">
                <a:solidFill>
                  <a:schemeClr val="dk1"/>
                </a:solidFill>
                <a:latin typeface="Calibri"/>
                <a:ea typeface="Calibri"/>
                <a:cs typeface="Calibri"/>
                <a:sym typeface="Calibri"/>
              </a:rPr>
              <a:t> </a:t>
            </a:r>
            <a:r>
              <a:rPr lang="en-US" sz="500">
                <a:solidFill>
                  <a:schemeClr val="dk1"/>
                </a:solidFill>
                <a:latin typeface="Calibri"/>
                <a:ea typeface="Calibri"/>
                <a:cs typeface="Calibri"/>
                <a:sym typeface="Calibri"/>
              </a:rPr>
              <a:t> </a:t>
            </a:r>
            <a:endParaRPr/>
          </a:p>
          <a:p>
            <a:pPr marL="0" marR="0" lvl="0" indent="0" algn="l" rtl="0">
              <a:lnSpc>
                <a:spcPct val="80000"/>
              </a:lnSpc>
              <a:spcBef>
                <a:spcPts val="0"/>
              </a:spcBef>
              <a:spcAft>
                <a:spcPts val="0"/>
              </a:spcAft>
              <a:buClr>
                <a:schemeClr val="dk1"/>
              </a:buClr>
              <a:buSzPts val="187"/>
              <a:buFont typeface="Calibri"/>
              <a:buNone/>
            </a:pPr>
            <a:endParaRPr sz="187"/>
          </a:p>
          <a:p>
            <a:pPr marL="0" lvl="0" indent="0" algn="l" rtl="0">
              <a:lnSpc>
                <a:spcPct val="80000"/>
              </a:lnSpc>
              <a:spcBef>
                <a:spcPts val="0"/>
              </a:spcBef>
              <a:spcAft>
                <a:spcPts val="0"/>
              </a:spcAft>
              <a:buNone/>
            </a:pPr>
            <a:r>
              <a:rPr lang="en-US" sz="187" b="1"/>
              <a:t>Challenge</a:t>
            </a:r>
            <a:endParaRPr sz="500" b="0" i="0" u="none" strike="noStrike">
              <a:solidFill>
                <a:schemeClr val="dk1"/>
              </a:solidFill>
              <a:latin typeface="Calibri"/>
              <a:ea typeface="Calibri"/>
              <a:cs typeface="Calibri"/>
              <a:sym typeface="Calibri"/>
            </a:endParaRPr>
          </a:p>
          <a:p>
            <a:pPr marL="0" lvl="0" indent="0" algn="l" rtl="0">
              <a:lnSpc>
                <a:spcPct val="80000"/>
              </a:lnSpc>
              <a:spcBef>
                <a:spcPts val="0"/>
              </a:spcBef>
              <a:spcAft>
                <a:spcPts val="0"/>
              </a:spcAft>
              <a:buNone/>
            </a:pPr>
            <a:r>
              <a:rPr lang="en-US" sz="500">
                <a:solidFill>
                  <a:schemeClr val="dk1"/>
                </a:solidFill>
                <a:latin typeface="Calibri"/>
                <a:ea typeface="Calibri"/>
                <a:cs typeface="Calibri"/>
                <a:sym typeface="Calibri"/>
              </a:rPr>
              <a:t>Volvo construction machines rely on sophisticated hydraulic systems comprising numerous valves, pumps, and pipes, as well as a control system and various sensors. These hydraulic systems must be matched with an appropriately sized engine and then optimized for performance and fuel economy by tuning controller parameters. </a:t>
            </a:r>
            <a:endParaRPr/>
          </a:p>
          <a:p>
            <a:pPr marL="0" lvl="0" indent="0" algn="l" rtl="0">
              <a:lnSpc>
                <a:spcPct val="80000"/>
              </a:lnSpc>
              <a:spcBef>
                <a:spcPts val="0"/>
              </a:spcBef>
              <a:spcAft>
                <a:spcPts val="0"/>
              </a:spcAft>
              <a:buNone/>
            </a:pPr>
            <a:endParaRPr sz="500">
              <a:solidFill>
                <a:schemeClr val="dk1"/>
              </a:solidFill>
              <a:latin typeface="Calibri"/>
              <a:ea typeface="Calibri"/>
              <a:cs typeface="Calibri"/>
              <a:sym typeface="Calibri"/>
            </a:endParaRPr>
          </a:p>
          <a:p>
            <a:pPr marL="0" lvl="0" indent="0" algn="l" rtl="0">
              <a:lnSpc>
                <a:spcPct val="80000"/>
              </a:lnSpc>
              <a:spcBef>
                <a:spcPts val="0"/>
              </a:spcBef>
              <a:spcAft>
                <a:spcPts val="0"/>
              </a:spcAft>
              <a:buNone/>
            </a:pPr>
            <a:r>
              <a:rPr lang="en-US" sz="500">
                <a:solidFill>
                  <a:schemeClr val="dk1"/>
                </a:solidFill>
                <a:latin typeface="Calibri"/>
                <a:ea typeface="Calibri"/>
                <a:cs typeface="Calibri"/>
                <a:sym typeface="Calibri"/>
              </a:rPr>
              <a:t>Volvo engineers knew that this complex task would be too costly to perform on physical prototypes, but they lacked a way to accurately simulate hydraulics in real time. Further, domain-specific simulation tools would enable them to simulate only individual subsystems, making it impossible to develop a full-scale simulator of a complete machine incorporating hydraulic, mechanical, electrical, and electronic subsystems.</a:t>
            </a:r>
            <a:endParaRPr/>
          </a:p>
          <a:p>
            <a:pPr marL="0" lvl="0" indent="0" algn="l" rtl="0">
              <a:lnSpc>
                <a:spcPct val="80000"/>
              </a:lnSpc>
              <a:spcBef>
                <a:spcPts val="0"/>
              </a:spcBef>
              <a:spcAft>
                <a:spcPts val="0"/>
              </a:spcAft>
              <a:buNone/>
            </a:pPr>
            <a:endParaRPr sz="500">
              <a:solidFill>
                <a:schemeClr val="dk1"/>
              </a:solidFill>
              <a:latin typeface="Calibri"/>
              <a:ea typeface="Calibri"/>
              <a:cs typeface="Calibri"/>
              <a:sym typeface="Calibri"/>
            </a:endParaRPr>
          </a:p>
          <a:p>
            <a:pPr marL="0" lvl="0" indent="0" algn="l" rtl="0">
              <a:lnSpc>
                <a:spcPct val="80000"/>
              </a:lnSpc>
              <a:spcBef>
                <a:spcPts val="0"/>
              </a:spcBef>
              <a:spcAft>
                <a:spcPts val="0"/>
              </a:spcAft>
              <a:buNone/>
            </a:pPr>
            <a:r>
              <a:rPr lang="en-US" sz="500">
                <a:solidFill>
                  <a:schemeClr val="dk1"/>
                </a:solidFill>
                <a:latin typeface="Calibri"/>
                <a:ea typeface="Calibri"/>
                <a:cs typeface="Calibri"/>
                <a:sym typeface="Calibri"/>
              </a:rPr>
              <a:t>The team needed tools that would enable them to model all subsystems in a single environment and perform real-time simulations of the complete system. This approach would let them make informed design trade­off decisions that took into account not only performance and efficiency but also feedback from the operator driving the machine. A modeling and simulation environment that supported multiple domains was also essential to the company’s concurrent engineering approach, in which teams develop various subsystems of the final product in parallel and then converge on an optimal solution. </a:t>
            </a:r>
            <a:r>
              <a:rPr lang="en-US" sz="500" b="0" i="0" u="none" strike="noStrike">
                <a:solidFill>
                  <a:schemeClr val="dk1"/>
                </a:solidFill>
                <a:latin typeface="Calibri"/>
                <a:ea typeface="Calibri"/>
                <a:cs typeface="Calibri"/>
                <a:sym typeface="Calibri"/>
              </a:rPr>
              <a:t> </a:t>
            </a:r>
            <a:endParaRPr sz="500">
              <a:solidFill>
                <a:schemeClr val="dk1"/>
              </a:solidFill>
              <a:latin typeface="Calibri"/>
              <a:ea typeface="Calibri"/>
              <a:cs typeface="Calibri"/>
              <a:sym typeface="Calibri"/>
            </a:endParaRPr>
          </a:p>
          <a:p>
            <a:pPr marL="0" lvl="0" indent="0" algn="l" rtl="0">
              <a:lnSpc>
                <a:spcPct val="80000"/>
              </a:lnSpc>
              <a:spcBef>
                <a:spcPts val="0"/>
              </a:spcBef>
              <a:spcAft>
                <a:spcPts val="0"/>
              </a:spcAft>
              <a:buNone/>
            </a:pPr>
            <a:endParaRPr sz="187"/>
          </a:p>
          <a:p>
            <a:pPr marL="0" lvl="0" indent="0" algn="l" rtl="0">
              <a:lnSpc>
                <a:spcPct val="80000"/>
              </a:lnSpc>
              <a:spcBef>
                <a:spcPts val="0"/>
              </a:spcBef>
              <a:spcAft>
                <a:spcPts val="0"/>
              </a:spcAft>
              <a:buNone/>
            </a:pPr>
            <a:r>
              <a:rPr lang="en-US" sz="187" i="1"/>
              <a:t>	“</a:t>
            </a:r>
            <a:r>
              <a:rPr lang="en-US" sz="500" i="1">
                <a:solidFill>
                  <a:schemeClr val="dk1"/>
                </a:solidFill>
                <a:latin typeface="Calibri"/>
                <a:ea typeface="Calibri"/>
                <a:cs typeface="Calibri"/>
                <a:sym typeface="Calibri"/>
              </a:rPr>
              <a:t>It was technically impossible for us to build a full-scale hydraulic system model to run in real time without Simulink, Simscape, and Simulink Real-Time. Our simulator enables us to test new concepts for construction equipment, tune 	parameters, reduce lead times, and minimize issues in the field</a:t>
            </a:r>
            <a:r>
              <a:rPr lang="en-US" sz="500" b="0" i="1" u="none" strike="noStrike">
                <a:solidFill>
                  <a:schemeClr val="dk1"/>
                </a:solidFill>
                <a:latin typeface="Calibri"/>
                <a:ea typeface="Calibri"/>
                <a:cs typeface="Calibri"/>
                <a:sym typeface="Calibri"/>
              </a:rPr>
              <a:t>.</a:t>
            </a:r>
            <a:r>
              <a:rPr lang="en-US" sz="562" b="0" i="1" u="none" strike="noStrike">
                <a:solidFill>
                  <a:schemeClr val="dk1"/>
                </a:solidFill>
                <a:latin typeface="Calibri"/>
                <a:ea typeface="Calibri"/>
                <a:cs typeface="Calibri"/>
                <a:sym typeface="Calibri"/>
              </a:rPr>
              <a:t>”</a:t>
            </a:r>
            <a:endParaRPr sz="500" i="1"/>
          </a:p>
          <a:p>
            <a:pPr marL="0" lvl="0" indent="0" algn="l" rtl="0">
              <a:lnSpc>
                <a:spcPct val="80000"/>
              </a:lnSpc>
              <a:spcBef>
                <a:spcPts val="0"/>
              </a:spcBef>
              <a:spcAft>
                <a:spcPts val="0"/>
              </a:spcAft>
              <a:buNone/>
            </a:pPr>
            <a:r>
              <a:rPr lang="en-US" sz="187" i="1"/>
              <a:t>	- </a:t>
            </a:r>
            <a:r>
              <a:rPr lang="en-US" sz="500" i="1">
                <a:solidFill>
                  <a:schemeClr val="dk1"/>
                </a:solidFill>
                <a:latin typeface="Calibri"/>
                <a:ea typeface="Calibri"/>
                <a:cs typeface="Calibri"/>
                <a:sym typeface="Calibri"/>
              </a:rPr>
              <a:t>Jae Yong Lee, Volvo Construction Equipment</a:t>
            </a:r>
            <a:endParaRPr sz="500" i="1"/>
          </a:p>
          <a:p>
            <a:pPr marL="0" lvl="0" indent="0" algn="l" rtl="0">
              <a:lnSpc>
                <a:spcPct val="80000"/>
              </a:lnSpc>
              <a:spcBef>
                <a:spcPts val="0"/>
              </a:spcBef>
              <a:spcAft>
                <a:spcPts val="0"/>
              </a:spcAft>
              <a:buNone/>
            </a:pPr>
            <a:endParaRPr sz="187"/>
          </a:p>
          <a:p>
            <a:pPr marL="0" lvl="0" indent="0" algn="l" rtl="0">
              <a:lnSpc>
                <a:spcPct val="80000"/>
              </a:lnSpc>
              <a:spcBef>
                <a:spcPts val="0"/>
              </a:spcBef>
              <a:spcAft>
                <a:spcPts val="0"/>
              </a:spcAft>
              <a:buNone/>
            </a:pPr>
            <a:r>
              <a:rPr lang="en-US" sz="187" b="1"/>
              <a:t>Solution</a:t>
            </a:r>
            <a:endParaRPr sz="500" b="0" i="0" u="none" strike="noStrike">
              <a:solidFill>
                <a:schemeClr val="dk1"/>
              </a:solidFill>
              <a:latin typeface="Calibri"/>
              <a:ea typeface="Calibri"/>
              <a:cs typeface="Calibri"/>
              <a:sym typeface="Calibri"/>
            </a:endParaRPr>
          </a:p>
          <a:p>
            <a:pPr marL="0" lvl="0" indent="0" algn="l" rtl="0">
              <a:lnSpc>
                <a:spcPct val="80000"/>
              </a:lnSpc>
              <a:spcBef>
                <a:spcPts val="0"/>
              </a:spcBef>
              <a:spcAft>
                <a:spcPts val="0"/>
              </a:spcAft>
              <a:buNone/>
            </a:pPr>
            <a:r>
              <a:rPr lang="en-US" sz="500">
                <a:solidFill>
                  <a:schemeClr val="dk1"/>
                </a:solidFill>
                <a:latin typeface="Calibri"/>
                <a:ea typeface="Calibri"/>
                <a:cs typeface="Calibri"/>
                <a:sym typeface="Calibri"/>
              </a:rPr>
              <a:t>Volvo CE engineers selected Simulink, Simscape, and Simulink Real-Time for the development of the VMS platform.</a:t>
            </a:r>
            <a:endParaRPr/>
          </a:p>
          <a:p>
            <a:pPr marL="0" lvl="0" indent="0" algn="l" rtl="0">
              <a:lnSpc>
                <a:spcPct val="80000"/>
              </a:lnSpc>
              <a:spcBef>
                <a:spcPts val="0"/>
              </a:spcBef>
              <a:spcAft>
                <a:spcPts val="0"/>
              </a:spcAft>
              <a:buNone/>
            </a:pPr>
            <a:endParaRPr sz="500">
              <a:solidFill>
                <a:schemeClr val="dk1"/>
              </a:solidFill>
              <a:latin typeface="Calibri"/>
              <a:ea typeface="Calibri"/>
              <a:cs typeface="Calibri"/>
              <a:sym typeface="Calibri"/>
            </a:endParaRPr>
          </a:p>
          <a:p>
            <a:pPr marL="0" lvl="0" indent="0" algn="l" rtl="0">
              <a:lnSpc>
                <a:spcPct val="80000"/>
              </a:lnSpc>
              <a:spcBef>
                <a:spcPts val="0"/>
              </a:spcBef>
              <a:spcAft>
                <a:spcPts val="0"/>
              </a:spcAft>
              <a:buNone/>
            </a:pPr>
            <a:r>
              <a:rPr lang="en-US" sz="500">
                <a:solidFill>
                  <a:schemeClr val="dk1"/>
                </a:solidFill>
                <a:latin typeface="Calibri"/>
                <a:ea typeface="Calibri"/>
                <a:cs typeface="Calibri"/>
                <a:sym typeface="Calibri"/>
              </a:rPr>
              <a:t>The team modeled the main control valve, relief valves, swing motor, and hydraulic circuits of the first machine to be simulated—an excavator—with SimHydraulics® and Simscape. They then modeled the mechanical components, including the boom, arm, and bucket, with SimMechanics™. </a:t>
            </a:r>
            <a:endParaRPr/>
          </a:p>
          <a:p>
            <a:pPr marL="0" lvl="0" indent="0" algn="l" rtl="0">
              <a:lnSpc>
                <a:spcPct val="80000"/>
              </a:lnSpc>
              <a:spcBef>
                <a:spcPts val="0"/>
              </a:spcBef>
              <a:spcAft>
                <a:spcPts val="0"/>
              </a:spcAft>
              <a:buNone/>
            </a:pPr>
            <a:endParaRPr sz="500">
              <a:solidFill>
                <a:schemeClr val="dk1"/>
              </a:solidFill>
              <a:latin typeface="Calibri"/>
              <a:ea typeface="Calibri"/>
              <a:cs typeface="Calibri"/>
              <a:sym typeface="Calibri"/>
            </a:endParaRPr>
          </a:p>
          <a:p>
            <a:pPr marL="0" lvl="0" indent="0" algn="l" rtl="0">
              <a:lnSpc>
                <a:spcPct val="80000"/>
              </a:lnSpc>
              <a:spcBef>
                <a:spcPts val="0"/>
              </a:spcBef>
              <a:spcAft>
                <a:spcPts val="0"/>
              </a:spcAft>
              <a:buNone/>
            </a:pPr>
            <a:r>
              <a:rPr lang="en-US" sz="500">
                <a:solidFill>
                  <a:schemeClr val="dk1"/>
                </a:solidFill>
                <a:latin typeface="Calibri"/>
                <a:ea typeface="Calibri"/>
                <a:cs typeface="Calibri"/>
                <a:sym typeface="Calibri"/>
              </a:rPr>
              <a:t>Working in Simulink, the team created an engine model and then integrated it with the hydraulic, mechanical, and other subsystem models to create a model of the complete machine.</a:t>
            </a:r>
            <a:endParaRPr/>
          </a:p>
          <a:p>
            <a:pPr marL="0" lvl="0" indent="0" algn="l" rtl="0">
              <a:lnSpc>
                <a:spcPct val="80000"/>
              </a:lnSpc>
              <a:spcBef>
                <a:spcPts val="0"/>
              </a:spcBef>
              <a:spcAft>
                <a:spcPts val="0"/>
              </a:spcAft>
              <a:buNone/>
            </a:pPr>
            <a:endParaRPr sz="500">
              <a:solidFill>
                <a:schemeClr val="dk1"/>
              </a:solidFill>
              <a:latin typeface="Calibri"/>
              <a:ea typeface="Calibri"/>
              <a:cs typeface="Calibri"/>
              <a:sym typeface="Calibri"/>
            </a:endParaRPr>
          </a:p>
          <a:p>
            <a:pPr marL="0" lvl="0" indent="0" algn="l" rtl="0">
              <a:lnSpc>
                <a:spcPct val="80000"/>
              </a:lnSpc>
              <a:spcBef>
                <a:spcPts val="0"/>
              </a:spcBef>
              <a:spcAft>
                <a:spcPts val="0"/>
              </a:spcAft>
              <a:buNone/>
            </a:pPr>
            <a:r>
              <a:rPr lang="en-US" sz="500">
                <a:solidFill>
                  <a:schemeClr val="dk1"/>
                </a:solidFill>
                <a:latin typeface="Calibri"/>
                <a:ea typeface="Calibri"/>
                <a:cs typeface="Calibri"/>
                <a:sym typeface="Calibri"/>
              </a:rPr>
              <a:t>Using Simulink and Simulink Control Design™, they developed a controller model and performed closed-loop simulations with the machine model. They used MATLAB® to postprocess simulation results. They then refined the controller design based on their analysis of system behavior in simulation, and verified the machine model with test data from an actual machine.</a:t>
            </a:r>
            <a:endParaRPr/>
          </a:p>
          <a:p>
            <a:pPr marL="0" lvl="0" indent="0" algn="l" rtl="0">
              <a:lnSpc>
                <a:spcPct val="80000"/>
              </a:lnSpc>
              <a:spcBef>
                <a:spcPts val="0"/>
              </a:spcBef>
              <a:spcAft>
                <a:spcPts val="0"/>
              </a:spcAft>
              <a:buNone/>
            </a:pPr>
            <a:endParaRPr sz="500">
              <a:solidFill>
                <a:schemeClr val="dk1"/>
              </a:solidFill>
              <a:latin typeface="Calibri"/>
              <a:ea typeface="Calibri"/>
              <a:cs typeface="Calibri"/>
              <a:sym typeface="Calibri"/>
            </a:endParaRPr>
          </a:p>
          <a:p>
            <a:pPr marL="0" lvl="0" indent="0" algn="l" rtl="0">
              <a:lnSpc>
                <a:spcPct val="80000"/>
              </a:lnSpc>
              <a:spcBef>
                <a:spcPts val="0"/>
              </a:spcBef>
              <a:spcAft>
                <a:spcPts val="0"/>
              </a:spcAft>
              <a:buNone/>
            </a:pPr>
            <a:r>
              <a:rPr lang="en-US" sz="500">
                <a:solidFill>
                  <a:schemeClr val="dk1"/>
                </a:solidFill>
                <a:latin typeface="Calibri"/>
                <a:ea typeface="Calibri"/>
                <a:cs typeface="Calibri"/>
                <a:sym typeface="Calibri"/>
              </a:rPr>
              <a:t>They generated C code from their models using Simulink Coder™, and used Simulink Real-Time to run the code concurrently on three target PCs from Speedgoat.</a:t>
            </a:r>
            <a:endParaRPr/>
          </a:p>
          <a:p>
            <a:pPr marL="0" lvl="0" indent="0" algn="l" rtl="0">
              <a:lnSpc>
                <a:spcPct val="80000"/>
              </a:lnSpc>
              <a:spcBef>
                <a:spcPts val="0"/>
              </a:spcBef>
              <a:spcAft>
                <a:spcPts val="0"/>
              </a:spcAft>
              <a:buNone/>
            </a:pPr>
            <a:endParaRPr sz="500">
              <a:solidFill>
                <a:schemeClr val="dk1"/>
              </a:solidFill>
              <a:latin typeface="Calibri"/>
              <a:ea typeface="Calibri"/>
              <a:cs typeface="Calibri"/>
              <a:sym typeface="Calibri"/>
            </a:endParaRPr>
          </a:p>
          <a:p>
            <a:pPr marL="0" lvl="0" indent="0" algn="l" rtl="0">
              <a:lnSpc>
                <a:spcPct val="80000"/>
              </a:lnSpc>
              <a:spcBef>
                <a:spcPts val="0"/>
              </a:spcBef>
              <a:spcAft>
                <a:spcPts val="0"/>
              </a:spcAft>
              <a:buNone/>
            </a:pPr>
            <a:r>
              <a:rPr lang="en-US" sz="500">
                <a:solidFill>
                  <a:schemeClr val="dk1"/>
                </a:solidFill>
                <a:latin typeface="Calibri"/>
                <a:ea typeface="Calibri"/>
                <a:cs typeface="Calibri"/>
                <a:sym typeface="Calibri"/>
              </a:rPr>
              <a:t>The real-time simulation platform is currently in use for excavator product development, and the company plans to use it to develop wheel loaders and articulated haulers, as well. The team recently added controller-in-the-loop and rapid control prototyping capabilities to the simulator to support software development and testing.</a:t>
            </a:r>
            <a:r>
              <a:rPr lang="en-US" sz="500" b="0" i="0" u="none" strike="noStrike">
                <a:solidFill>
                  <a:schemeClr val="dk1"/>
                </a:solidFill>
                <a:latin typeface="Calibri"/>
                <a:ea typeface="Calibri"/>
                <a:cs typeface="Calibri"/>
                <a:sym typeface="Calibri"/>
              </a:rPr>
              <a:t> </a:t>
            </a:r>
            <a:endParaRPr sz="500">
              <a:solidFill>
                <a:schemeClr val="dk1"/>
              </a:solidFill>
              <a:latin typeface="Calibri"/>
              <a:ea typeface="Calibri"/>
              <a:cs typeface="Calibri"/>
              <a:sym typeface="Calibri"/>
            </a:endParaRPr>
          </a:p>
          <a:p>
            <a:pPr marL="0" lvl="0" indent="0" algn="l" rtl="0">
              <a:lnSpc>
                <a:spcPct val="80000"/>
              </a:lnSpc>
              <a:spcBef>
                <a:spcPts val="0"/>
              </a:spcBef>
              <a:spcAft>
                <a:spcPts val="0"/>
              </a:spcAft>
              <a:buNone/>
            </a:pPr>
            <a:endParaRPr sz="187"/>
          </a:p>
          <a:p>
            <a:pPr marL="0" lvl="0" indent="0" algn="l" rtl="0">
              <a:lnSpc>
                <a:spcPct val="80000"/>
              </a:lnSpc>
              <a:spcBef>
                <a:spcPts val="0"/>
              </a:spcBef>
              <a:spcAft>
                <a:spcPts val="0"/>
              </a:spcAft>
              <a:buNone/>
            </a:pPr>
            <a:r>
              <a:rPr lang="en-US" sz="187" b="1"/>
              <a:t>Results</a:t>
            </a:r>
            <a:endParaRPr/>
          </a:p>
          <a:p>
            <a:pPr marL="0" marR="0" lvl="0" indent="0" algn="l" rtl="0">
              <a:lnSpc>
                <a:spcPct val="80000"/>
              </a:lnSpc>
              <a:spcBef>
                <a:spcPts val="0"/>
              </a:spcBef>
              <a:spcAft>
                <a:spcPts val="0"/>
              </a:spcAft>
              <a:buClr>
                <a:schemeClr val="dk1"/>
              </a:buClr>
              <a:buSzPts val="187"/>
              <a:buFont typeface="Calibri"/>
              <a:buNone/>
            </a:pPr>
            <a:r>
              <a:rPr lang="en-US" sz="187"/>
              <a:t>■ </a:t>
            </a:r>
            <a:r>
              <a:rPr lang="en-US" sz="500" b="1">
                <a:solidFill>
                  <a:schemeClr val="dk1"/>
                </a:solidFill>
                <a:latin typeface="Calibri"/>
                <a:ea typeface="Calibri"/>
                <a:cs typeface="Calibri"/>
                <a:sym typeface="Calibri"/>
              </a:rPr>
              <a:t>Number of prototypes reduced.</a:t>
            </a:r>
            <a:r>
              <a:rPr lang="en-US" sz="500">
                <a:solidFill>
                  <a:schemeClr val="dk1"/>
                </a:solidFill>
                <a:latin typeface="Calibri"/>
                <a:ea typeface="Calibri"/>
                <a:cs typeface="Calibri"/>
                <a:sym typeface="Calibri"/>
              </a:rPr>
              <a:t> “The simulations that we run with Simulink and Simscape let us evaluate various design concepts and parameter values, reducing the risk of redesign later in the development cycle,” says Lee. “Once we identify an optimal design via simulation, we can build it. We anticipate a 30–50% reduction in prototype builds as a result</a:t>
            </a:r>
            <a:r>
              <a:rPr lang="en-US" sz="500" b="0" i="0" u="none" strike="noStrike">
                <a:solidFill>
                  <a:schemeClr val="dk1"/>
                </a:solidFill>
                <a:latin typeface="Calibri"/>
                <a:ea typeface="Calibri"/>
                <a:cs typeface="Calibri"/>
                <a:sym typeface="Calibri"/>
              </a:rPr>
              <a:t>.” </a:t>
            </a:r>
            <a:endParaRPr sz="187"/>
          </a:p>
          <a:p>
            <a:pPr marL="0" lvl="0" indent="0" algn="l" rtl="0">
              <a:lnSpc>
                <a:spcPct val="80000"/>
              </a:lnSpc>
              <a:spcBef>
                <a:spcPts val="0"/>
              </a:spcBef>
              <a:spcAft>
                <a:spcPts val="0"/>
              </a:spcAft>
              <a:buNone/>
            </a:pPr>
            <a:endParaRPr sz="187"/>
          </a:p>
          <a:p>
            <a:pPr marL="0" marR="0" lvl="0" indent="0" algn="l" rtl="0">
              <a:lnSpc>
                <a:spcPct val="80000"/>
              </a:lnSpc>
              <a:spcBef>
                <a:spcPts val="0"/>
              </a:spcBef>
              <a:spcAft>
                <a:spcPts val="0"/>
              </a:spcAft>
              <a:buClr>
                <a:schemeClr val="dk1"/>
              </a:buClr>
              <a:buSzPts val="187"/>
              <a:buFont typeface="Calibri"/>
              <a:buNone/>
            </a:pPr>
            <a:r>
              <a:rPr lang="en-US" sz="187"/>
              <a:t>■ </a:t>
            </a:r>
            <a:r>
              <a:rPr lang="en-US" sz="500" b="1">
                <a:solidFill>
                  <a:schemeClr val="dk1"/>
                </a:solidFill>
                <a:latin typeface="Calibri"/>
                <a:ea typeface="Calibri"/>
                <a:cs typeface="Calibri"/>
                <a:sym typeface="Calibri"/>
              </a:rPr>
              <a:t>Issues in the field resolved faster.</a:t>
            </a:r>
            <a:r>
              <a:rPr lang="en-US" sz="500">
                <a:solidFill>
                  <a:schemeClr val="dk1"/>
                </a:solidFill>
                <a:latin typeface="Calibri"/>
                <a:ea typeface="Calibri"/>
                <a:cs typeface="Calibri"/>
                <a:sym typeface="Calibri"/>
              </a:rPr>
              <a:t> “Using the simulator, we can replicate any issue that arises in the field, troubleshoot the problem, and quickly find a solution,” says Lee.”</a:t>
            </a:r>
            <a:endParaRPr sz="187"/>
          </a:p>
          <a:p>
            <a:pPr marL="0" lvl="0" indent="0" algn="l" rtl="0">
              <a:lnSpc>
                <a:spcPct val="80000"/>
              </a:lnSpc>
              <a:spcBef>
                <a:spcPts val="0"/>
              </a:spcBef>
              <a:spcAft>
                <a:spcPts val="0"/>
              </a:spcAft>
              <a:buNone/>
            </a:pPr>
            <a:endParaRPr sz="187"/>
          </a:p>
          <a:p>
            <a:pPr marL="0" marR="0" lvl="0" indent="0" algn="l" rtl="0">
              <a:lnSpc>
                <a:spcPct val="80000"/>
              </a:lnSpc>
              <a:spcBef>
                <a:spcPts val="0"/>
              </a:spcBef>
              <a:spcAft>
                <a:spcPts val="0"/>
              </a:spcAft>
              <a:buClr>
                <a:schemeClr val="dk1"/>
              </a:buClr>
              <a:buSzPts val="187"/>
              <a:buFont typeface="Calibri"/>
              <a:buNone/>
            </a:pPr>
            <a:r>
              <a:rPr lang="en-US" sz="187"/>
              <a:t>■ </a:t>
            </a:r>
            <a:r>
              <a:rPr lang="en-US" sz="500" b="1">
                <a:solidFill>
                  <a:schemeClr val="dk1"/>
                </a:solidFill>
                <a:latin typeface="Calibri"/>
                <a:ea typeface="Calibri"/>
                <a:cs typeface="Calibri"/>
                <a:sym typeface="Calibri"/>
              </a:rPr>
              <a:t>Controller tuned in simulation.</a:t>
            </a:r>
            <a:r>
              <a:rPr lang="en-US" sz="500">
                <a:solidFill>
                  <a:schemeClr val="dk1"/>
                </a:solidFill>
                <a:latin typeface="Calibri"/>
                <a:ea typeface="Calibri"/>
                <a:cs typeface="Calibri"/>
                <a:sym typeface="Calibri"/>
              </a:rPr>
              <a:t> “We refined the controller design by simulating the controller model with the machine model and analyzing system behavior,” says Lee. “Using this approach we reduced lead time for product development and increased product quality by covering a wide range of test scenarios.” </a:t>
            </a:r>
            <a:endParaRPr/>
          </a:p>
          <a:p>
            <a:pPr marL="0" lvl="0" indent="0" algn="l" rtl="0">
              <a:lnSpc>
                <a:spcPct val="80000"/>
              </a:lnSpc>
              <a:spcBef>
                <a:spcPts val="0"/>
              </a:spcBef>
              <a:spcAft>
                <a:spcPts val="0"/>
              </a:spcAft>
              <a:buNone/>
            </a:pPr>
            <a:endParaRPr sz="125" b="0" i="1">
              <a:solidFill>
                <a:srgbClr val="154F8F"/>
              </a:solidFill>
            </a:endParaRPr>
          </a:p>
          <a:p>
            <a:pPr marL="0" lvl="0" indent="0" algn="l" rtl="0">
              <a:lnSpc>
                <a:spcPct val="80000"/>
              </a:lnSpc>
              <a:spcBef>
                <a:spcPts val="0"/>
              </a:spcBef>
              <a:spcAft>
                <a:spcPts val="0"/>
              </a:spcAft>
              <a:buNone/>
            </a:pPr>
            <a:r>
              <a:rPr lang="en-US" sz="100" b="0" i="1">
                <a:solidFill>
                  <a:srgbClr val="154F8F"/>
                </a:solidFill>
              </a:rPr>
              <a:t>Learn more about </a:t>
            </a:r>
            <a:r>
              <a:rPr lang="en-US" sz="500" b="0" i="1" u="none" strike="noStrike">
                <a:solidFill>
                  <a:schemeClr val="dk1"/>
                </a:solidFill>
                <a:latin typeface="Calibri"/>
                <a:ea typeface="Calibri"/>
                <a:cs typeface="Calibri"/>
                <a:sym typeface="Calibri"/>
              </a:rPr>
              <a:t>Volvo Construction Equipment: www.volvoce.com </a:t>
            </a:r>
            <a:endParaRPr/>
          </a:p>
          <a:p>
            <a:pPr marL="0" lvl="0" indent="0" algn="l" rtl="0">
              <a:lnSpc>
                <a:spcPct val="80000"/>
              </a:lnSpc>
              <a:spcBef>
                <a:spcPts val="0"/>
              </a:spcBef>
              <a:spcAft>
                <a:spcPts val="0"/>
              </a:spcAft>
              <a:buNone/>
            </a:pPr>
            <a:endParaRPr sz="750"/>
          </a:p>
        </p:txBody>
      </p:sp>
      <p:sp>
        <p:nvSpPr>
          <p:cNvPr id="447" name="Google Shape;447;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addition to apps and interactive programming, using self-paced tutorials are a good way to guide students through their learning. Concepts that you teach in your courses may already be developed as a part of our self-paced tutorials. You can assign the entire course or sections of it. Each of the courses provides a certificate and you can verify which sections were completed. Many of these courses are offered in multiple languages.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first 7 offerings are free courses that help the learner understand the basics of the particular topic. They typically take about 2-3 hours to complete. Many instructors assign the onramps as homework or a suggested refresher at the beginning of the course. This allows students to get the foundation they need to be successful in your course without taking valuable class time to review MATLAB.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D73B8C3-A209-4A55-9261-22C2A02B3159}" type="slidenum">
              <a:rPr lang="en-US" smtClean="0"/>
              <a:pPr/>
              <a:t>18</a:t>
            </a:fld>
            <a:endParaRPr lang="en-US"/>
          </a:p>
        </p:txBody>
      </p:sp>
    </p:spTree>
    <p:extLst>
      <p:ext uri="{BB962C8B-B14F-4D97-AF65-F5344CB8AC3E}">
        <p14:creationId xmlns:p14="http://schemas.microsoft.com/office/powerpoint/2010/main" val="28318471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73B8C3-A209-4A55-9261-22C2A02B3159}" type="slidenum">
              <a:rPr lang="en-US" smtClean="0"/>
              <a:pPr/>
              <a:t>19</a:t>
            </a:fld>
            <a:endParaRPr lang="en-US"/>
          </a:p>
        </p:txBody>
      </p:sp>
    </p:spTree>
    <p:extLst>
      <p:ext uri="{BB962C8B-B14F-4D97-AF65-F5344CB8AC3E}">
        <p14:creationId xmlns:p14="http://schemas.microsoft.com/office/powerpoint/2010/main" val="404567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468" name="Google Shape;46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Background" descr="bluemesh.jpg"/>
          <p:cNvPicPr>
            <a:picLocks noChangeAspect="1"/>
          </p:cNvPicPr>
          <p:nvPr userDrawn="1"/>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Copyright"/>
          <p:cNvSpPr txBox="1"/>
          <p:nvPr userDrawn="1"/>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a:t>
            </a:r>
            <a:fld id="{43FEC7B2-4A3C-43EA-A52A-F8DED3FD6DAC}" type="datetimeyyyy">
              <a:rPr lang="en-US" sz="1003" smtClean="0">
                <a:solidFill>
                  <a:schemeClr val="bg1"/>
                </a:solidFill>
                <a:latin typeface="Arial" pitchFamily="34" charset="0"/>
                <a:cs typeface="Arial" pitchFamily="34" charset="0"/>
              </a:rPr>
              <a:t>2026</a:t>
            </a:fld>
            <a:r>
              <a:rPr lang="en-US" sz="1003">
                <a:solidFill>
                  <a:schemeClr val="bg1"/>
                </a:solidFill>
                <a:latin typeface="Arial" pitchFamily="34" charset="0"/>
                <a:cs typeface="Arial" pitchFamily="34" charset="0"/>
              </a:rPr>
              <a:t> The MathWorks, Inc.</a:t>
            </a:r>
          </a:p>
        </p:txBody>
      </p:sp>
      <p:cxnSp>
        <p:nvCxnSpPr>
          <p:cNvPr id="26" name="GrayLine"/>
          <p:cNvCxnSpPr/>
          <p:nvPr userDrawn="1"/>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userDrawn="1"/>
        </p:nvPicPr>
        <p:blipFill>
          <a:blip r:embed="rId3" cstate="print"/>
          <a:stretch>
            <a:fillRect/>
          </a:stretch>
        </p:blipFill>
        <p:spPr>
          <a:xfrm>
            <a:off x="10330730" y="141139"/>
            <a:ext cx="1620665" cy="32059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p>
            <a:r>
              <a:rPr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i="0">
                <a:solidFill>
                  <a:schemeClr val="tx2"/>
                </a:solidFill>
              </a:defRPr>
            </a:lvl1pPr>
          </a:lstStyle>
          <a:p>
            <a:r>
              <a:rPr lang="en-US"/>
              <a:t>Click to edit Master title style</a:t>
            </a:r>
          </a:p>
        </p:txBody>
      </p:sp>
      <p:sp>
        <p:nvSpPr>
          <p:cNvPr id="11" name="Content"/>
          <p:cNvSpPr>
            <a:spLocks noGrp="1"/>
          </p:cNvSpPr>
          <p:nvPr>
            <p:ph sz="half" idx="10" hasCustomPrompt="1"/>
          </p:nvPr>
        </p:nvSpPr>
        <p:spPr>
          <a:xfrm>
            <a:off x="609601"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Headline"/>
          <p:cNvSpPr>
            <a:spLocks noGrp="1"/>
          </p:cNvSpPr>
          <p:nvPr>
            <p:ph type="body" sz="quarter" idx="11" hasCustomPrompt="1"/>
          </p:nvPr>
        </p:nvSpPr>
        <p:spPr>
          <a:xfrm>
            <a:off x="609601" y="1600200"/>
            <a:ext cx="5080001" cy="838200"/>
          </a:xfrm>
        </p:spPr>
        <p:txBody>
          <a:bodyPr anchor="t"/>
          <a:lstStyle>
            <a:lvl1pPr marL="0" indent="0" algn="l">
              <a:buNone/>
              <a:defRPr sz="2000" b="0" i="0" baseline="0"/>
            </a:lvl1pPr>
          </a:lstStyle>
          <a:p>
            <a:pPr lvl="0"/>
            <a:r>
              <a:rPr lang="en-US"/>
              <a:t>Click to add headline</a:t>
            </a:r>
            <a:r>
              <a:rPr lang="en-US" sz="2005" b="1">
                <a:solidFill>
                  <a:prstClr val="black"/>
                </a:solidFill>
              </a:rPr>
              <a:t> providing value of feature</a:t>
            </a:r>
            <a:endParaRPr lang="en-US"/>
          </a:p>
        </p:txBody>
      </p:sp>
      <p:sp>
        <p:nvSpPr>
          <p:cNvPr id="14" name="ProductName"/>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9"/>
            <a:ext cx="10363200" cy="1362075"/>
          </a:xfrm>
        </p:spPr>
        <p:txBody>
          <a:bodyPr anchor="t"/>
          <a:lstStyle>
            <a:lvl1pPr algn="ctr">
              <a:defRPr sz="3200" b="0" cap="none">
                <a:solidFill>
                  <a:schemeClr val="tx2"/>
                </a:solidFill>
              </a:defRPr>
            </a:lvl1pPr>
          </a:lstStyle>
          <a:p>
            <a:r>
              <a:rPr lang="en-US"/>
              <a:t>Click to edit Section Header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Content"/>
          <p:cNvSpPr txBox="1">
            <a:spLocks noChangeArrowheads="1"/>
          </p:cNvSpPr>
          <p:nvPr userDrawn="1"/>
        </p:nvSpPr>
        <p:spPr bwMode="auto">
          <a:xfrm>
            <a:off x="607484" y="1600200"/>
            <a:ext cx="10765536" cy="4648200"/>
          </a:xfrm>
          <a:prstGeom prst="rect">
            <a:avLst/>
          </a:prstGeom>
          <a:noFill/>
          <a:ln w="9525">
            <a:noFill/>
            <a:miter lim="800000"/>
            <a:headEnd/>
            <a:tailEnd/>
          </a:ln>
          <a:effectLst/>
        </p:spPr>
        <p:txBody>
          <a:bodyPr wrap="none"/>
          <a:lstStyle/>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Edit</a:t>
            </a:r>
            <a:r>
              <a:rPr lang="en-US" sz="2400" baseline="0">
                <a:latin typeface="Arial" pitchFamily="34" charset="0"/>
                <a:cs typeface="Arial" pitchFamily="34" charset="0"/>
              </a:rPr>
              <a:t> in Slide Master view to e</a:t>
            </a:r>
            <a:r>
              <a:rPr lang="en-US" sz="2400">
                <a:latin typeface="Arial" pitchFamily="34" charset="0"/>
                <a:cs typeface="Arial" pitchFamily="34" charset="0"/>
              </a:rPr>
              <a:t>nter agenda items</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 2</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a:t>
            </a:r>
            <a:r>
              <a:rPr lang="en-US" sz="2400" baseline="0">
                <a:latin typeface="Arial" pitchFamily="34" charset="0"/>
                <a:cs typeface="Arial" pitchFamily="34" charset="0"/>
              </a:rPr>
              <a:t> 3</a:t>
            </a:r>
          </a:p>
          <a:p>
            <a:pPr marL="342164" lvl="0" indent="-342164">
              <a:buClr>
                <a:schemeClr val="tx2"/>
              </a:buClr>
              <a:buSzPct val="75000"/>
              <a:buFont typeface="Wingdings" pitchFamily="2" charset="2"/>
              <a:buChar char="§"/>
              <a:tabLst>
                <a:tab pos="458340" algn="l"/>
              </a:tabLst>
            </a:pPr>
            <a:r>
              <a:rPr lang="en-US" sz="2400" baseline="0">
                <a:latin typeface="Arial" pitchFamily="34" charset="0"/>
                <a:cs typeface="Arial" pitchFamily="34" charset="0"/>
              </a:rPr>
              <a:t>Bullet 4</a:t>
            </a:r>
          </a:p>
          <a:p>
            <a:pPr marL="342164" lvl="0" indent="-342164">
              <a:buClr>
                <a:schemeClr val="tx2"/>
              </a:buClr>
              <a:buSzPct val="75000"/>
              <a:buFont typeface="Wingdings" pitchFamily="2" charset="2"/>
              <a:buChar char="§"/>
              <a:tabLst>
                <a:tab pos="458340" algn="l"/>
              </a:tabLst>
            </a:pPr>
            <a:endParaRPr lang="en-US" sz="2400">
              <a:latin typeface="Arial" pitchFamily="34" charset="0"/>
              <a:cs typeface="Arial" pitchFamily="34" charset="0"/>
            </a:endParaRPr>
          </a:p>
        </p:txBody>
      </p:sp>
      <p:sp>
        <p:nvSpPr>
          <p:cNvPr id="5" name="Title"/>
          <p:cNvSpPr txBox="1">
            <a:spLocks noChangeArrowheads="1"/>
          </p:cNvSpPr>
          <p:nvPr userDrawn="1"/>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0" b="0">
                <a:solidFill>
                  <a:schemeClr val="tx2"/>
                </a:solidFill>
                <a:latin typeface="Arial" pitchFamily="34" charset="0"/>
                <a:cs typeface="Arial" pitchFamily="34" charset="0"/>
              </a:rPr>
              <a:t>Edit in Slide</a:t>
            </a:r>
            <a:r>
              <a:rPr lang="en-US" sz="2800" b="0" baseline="0">
                <a:solidFill>
                  <a:schemeClr val="tx2"/>
                </a:solidFill>
                <a:latin typeface="Arial" pitchFamily="34" charset="0"/>
                <a:cs typeface="Arial" pitchFamily="34" charset="0"/>
              </a:rPr>
              <a:t> Master view to e</a:t>
            </a:r>
            <a:r>
              <a:rPr lang="en-US" sz="2800" b="0">
                <a:solidFill>
                  <a:schemeClr val="tx2"/>
                </a:solidFill>
                <a:latin typeface="Arial" pitchFamily="34" charset="0"/>
                <a:cs typeface="Arial" pitchFamily="34" charset="0"/>
              </a:rPr>
              <a:t>nter agenda</a:t>
            </a:r>
            <a:r>
              <a:rPr lang="en-US" sz="2800" b="0" baseline="0">
                <a:solidFill>
                  <a:schemeClr val="tx2"/>
                </a:solidFill>
                <a:latin typeface="Arial" pitchFamily="34" charset="0"/>
                <a:cs typeface="Arial" pitchFamily="34" charset="0"/>
              </a:rPr>
              <a:t> title</a:t>
            </a:r>
            <a:endParaRPr lang="en-US" sz="2800" b="0">
              <a:solidFill>
                <a:schemeClr val="tx2"/>
              </a:solidFill>
              <a:latin typeface="Arial" pitchFamily="34" charset="0"/>
              <a:cs typeface="Arial"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609600"/>
          </a:xfrm>
        </p:spPr>
        <p:txBody>
          <a:bodyPr/>
          <a:lstStyle>
            <a:lvl1pPr>
              <a:defRPr b="1">
                <a:latin typeface="Calibri" panose="020F0502020204030204" pitchFamily="34" charset="0"/>
                <a:cs typeface="Calibri" panose="020F0502020204030204"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946EAB55-22CE-4B43-821F-A24E625F2E10}"/>
              </a:ext>
            </a:extLst>
          </p:cNvPr>
          <p:cNvSpPr>
            <a:spLocks noGrp="1"/>
          </p:cNvSpPr>
          <p:nvPr>
            <p:ph type="body" sz="quarter" idx="10" hasCustomPrompt="1"/>
          </p:nvPr>
        </p:nvSpPr>
        <p:spPr>
          <a:xfrm>
            <a:off x="609600" y="1066800"/>
            <a:ext cx="10769600" cy="533400"/>
          </a:xfrm>
        </p:spPr>
        <p:txBody>
          <a:bodyPr/>
          <a:lstStyle>
            <a:lvl1pPr marL="0" indent="0">
              <a:buNone/>
              <a:defRPr b="0">
                <a:solidFill>
                  <a:schemeClr val="accent1">
                    <a:lumMod val="75000"/>
                  </a:schemeClr>
                </a:solidFill>
              </a:defRPr>
            </a:lvl1pPr>
          </a:lstStyle>
          <a:p>
            <a:pPr lvl="0"/>
            <a:r>
              <a:rPr lang="en-US"/>
              <a:t>Click to edit Master subtitle style</a:t>
            </a:r>
          </a:p>
        </p:txBody>
      </p:sp>
    </p:spTree>
    <p:extLst>
      <p:ext uri="{BB962C8B-B14F-4D97-AF65-F5344CB8AC3E}">
        <p14:creationId xmlns:p14="http://schemas.microsoft.com/office/powerpoint/2010/main" val="2712762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‹N›</a:t>
            </a:fld>
            <a:endParaRPr lang="en-US" sz="1203" b="1">
              <a:solidFill>
                <a:schemeClr val="tx2"/>
              </a:solidFill>
            </a:endParaRPr>
          </a:p>
        </p:txBody>
      </p:sp>
      <p:pic>
        <p:nvPicPr>
          <p:cNvPr id="12" name="Logo" descr="logo647.png"/>
          <p:cNvPicPr>
            <a:picLocks noChangeAspect="1"/>
          </p:cNvPicPr>
          <p:nvPr/>
        </p:nvPicPr>
        <p:blipFill>
          <a:blip r:embed="rId11" cstate="print"/>
          <a:stretch>
            <a:fillRect/>
          </a:stretch>
        </p:blipFill>
        <p:spPr>
          <a:xfrm>
            <a:off x="10679339" y="23675"/>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9" r:id="rId4"/>
    <p:sldLayoutId id="2147483663" r:id="rId5"/>
    <p:sldLayoutId id="2147483651" r:id="rId6"/>
    <p:sldLayoutId id="2147483652" r:id="rId7"/>
    <p:sldLayoutId id="2147483664" r:id="rId8"/>
    <p:sldLayoutId id="2147483665" r:id="rId9"/>
  </p:sldLayoutIdLst>
  <p:hf hdr="0" ftr="0" dt="0"/>
  <p:txStyles>
    <p:titleStyle>
      <a:lvl1pPr algn="l" defTabSz="916680"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hyperlink" Target="mailto:Simone.montepiani@mail.polimi.i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6.jpeg"/><Relationship Id="rId4" Type="http://schemas.openxmlformats.org/officeDocument/2006/relationships/hyperlink" Target="mailto:matlab.polimi@gmail.co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8" Type="http://schemas.openxmlformats.org/officeDocument/2006/relationships/hyperlink" Target="https://www.mathworks.com/campaigns/offers/machine-learning-try-in-browser.html" TargetMode="External"/><Relationship Id="rId3" Type="http://schemas.openxmlformats.org/officeDocument/2006/relationships/hyperlink" Target="https://www.mathworks.com/help/deeplearning/ug/deep-learning-in-matlab.html" TargetMode="External"/><Relationship Id="rId7" Type="http://schemas.openxmlformats.org/officeDocument/2006/relationships/hyperlink" Target="https://www.mathworks.com/videos/series/introduction-to-machine-learning.ht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www.mathworks.com/campaigns/offers/mastering-machine-learning-with-matlab.html" TargetMode="External"/><Relationship Id="rId5" Type="http://schemas.openxmlformats.org/officeDocument/2006/relationships/hyperlink" Target="https://www.mathworks.com/campaigns/offers/machine-learning-with-matlab.html" TargetMode="External"/><Relationship Id="rId4" Type="http://schemas.openxmlformats.org/officeDocument/2006/relationships/hyperlink" Target="https://www.mathworks.com/content/dam/mathworks/fact-sheet/machine-learning-quick-start-guide.pdf" TargetMode="External"/><Relationship Id="rId9"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hyperlink" Target="https://www.software.test.polimi.it/mathworks-matlab/"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simoomonte/Simscape-Onramp"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matlab-hack-the-drone.devpost.com/" TargetMode="External"/><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6.jpeg"/><Relationship Id="rId1" Type="http://schemas.openxmlformats.org/officeDocument/2006/relationships/slideLayout" Target="../slideLayouts/slideLayout1.xml"/><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5400" dirty="0" err="1">
                <a:latin typeface="Arial"/>
                <a:cs typeface="Arial"/>
              </a:rPr>
              <a:t>Simscape</a:t>
            </a:r>
            <a:r>
              <a:rPr lang="en-US" sz="5400" dirty="0">
                <a:latin typeface="Arial"/>
                <a:cs typeface="Arial"/>
              </a:rPr>
              <a:t> Onramp</a:t>
            </a:r>
            <a:endParaRPr lang="en-US" sz="2000" dirty="0"/>
          </a:p>
        </p:txBody>
      </p:sp>
      <p:sp>
        <p:nvSpPr>
          <p:cNvPr id="3" name="Subtitle 2"/>
          <p:cNvSpPr>
            <a:spLocks noGrp="1"/>
          </p:cNvSpPr>
          <p:nvPr>
            <p:ph type="subTitle" idx="1"/>
          </p:nvPr>
        </p:nvSpPr>
        <p:spPr>
          <a:xfrm>
            <a:off x="914400" y="3090673"/>
            <a:ext cx="10363200" cy="1283212"/>
          </a:xfrm>
        </p:spPr>
        <p:txBody>
          <a:bodyPr/>
          <a:lstStyle/>
          <a:p>
            <a:r>
              <a:rPr lang="en-US" sz="1600" b="1" dirty="0"/>
              <a:t>Simone Montepiani</a:t>
            </a:r>
          </a:p>
          <a:p>
            <a:r>
              <a:rPr lang="en-US" sz="1600" i="1" dirty="0"/>
              <a:t>MATLAB Student Ambassador</a:t>
            </a:r>
          </a:p>
          <a:p>
            <a:endParaRPr lang="en-US" sz="1600" i="1" dirty="0"/>
          </a:p>
          <a:p>
            <a:r>
              <a:rPr lang="en-US" dirty="0"/>
              <a:t>29/04/2026</a:t>
            </a:r>
          </a:p>
        </p:txBody>
      </p:sp>
      <p:pic>
        <p:nvPicPr>
          <p:cNvPr id="4" name="Picture 3">
            <a:extLst>
              <a:ext uri="{FF2B5EF4-FFF2-40B4-BE49-F238E27FC236}">
                <a16:creationId xmlns:a16="http://schemas.microsoft.com/office/drawing/2014/main" id="{8C3F2210-AB40-096C-9690-1FB52E1C79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97832" y="822960"/>
            <a:ext cx="2019080" cy="1746504"/>
          </a:xfrm>
          <a:prstGeom prst="rect">
            <a:avLst/>
          </a:prstGeom>
          <a:effectLst>
            <a:outerShdw blurRad="177800" sx="90000" sy="90000" algn="ctr" rotWithShape="0">
              <a:prstClr val="black"/>
            </a:outerShdw>
          </a:effectLst>
        </p:spPr>
      </p:pic>
      <p:pic>
        <p:nvPicPr>
          <p:cNvPr id="7" name="Google Shape;48;p1">
            <a:extLst>
              <a:ext uri="{FF2B5EF4-FFF2-40B4-BE49-F238E27FC236}">
                <a16:creationId xmlns:a16="http://schemas.microsoft.com/office/drawing/2014/main" id="{18DFE624-58C8-C5F7-C1E9-054F270DAD42}"/>
              </a:ext>
            </a:extLst>
          </p:cNvPr>
          <p:cNvPicPr preferRelativeResize="0"/>
          <p:nvPr/>
        </p:nvPicPr>
        <p:blipFill rotWithShape="1">
          <a:blip r:embed="rId4">
            <a:alphaModFix/>
          </a:blip>
          <a:srcRect/>
          <a:stretch/>
        </p:blipFill>
        <p:spPr>
          <a:xfrm>
            <a:off x="8797832" y="2834640"/>
            <a:ext cx="2019080" cy="215798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Contacts</a:t>
            </a:r>
          </a:p>
        </p:txBody>
      </p:sp>
      <p:sp>
        <p:nvSpPr>
          <p:cNvPr id="5" name="Content Placeholder 4">
            <a:extLst>
              <a:ext uri="{FF2B5EF4-FFF2-40B4-BE49-F238E27FC236}">
                <a16:creationId xmlns:a16="http://schemas.microsoft.com/office/drawing/2014/main" id="{A21D5431-8C12-F7F7-3543-6BF8DF64C85C}"/>
              </a:ext>
            </a:extLst>
          </p:cNvPr>
          <p:cNvSpPr>
            <a:spLocks noGrp="1"/>
          </p:cNvSpPr>
          <p:nvPr>
            <p:ph idx="1"/>
          </p:nvPr>
        </p:nvSpPr>
        <p:spPr/>
        <p:txBody>
          <a:bodyPr/>
          <a:lstStyle/>
          <a:p>
            <a:pPr lvl="0">
              <a:spcBef>
                <a:spcPts val="0"/>
              </a:spcBef>
              <a:buSzPct val="100000"/>
              <a:buFont typeface="Arial" panose="020B0604020202020204" pitchFamily="34" charset="0"/>
              <a:buChar char="•"/>
            </a:pPr>
            <a:r>
              <a:rPr lang="it-IT" dirty="0"/>
              <a:t>Simone Montepiani</a:t>
            </a:r>
          </a:p>
          <a:p>
            <a:pPr lvl="1">
              <a:spcBef>
                <a:spcPts val="400"/>
              </a:spcBef>
              <a:buSzPts val="2000"/>
              <a:buFont typeface="Courier New" panose="02070309020205020404" pitchFamily="49" charset="0"/>
              <a:buChar char="o"/>
            </a:pPr>
            <a:r>
              <a:rPr lang="it-IT" u="sng" dirty="0">
                <a:solidFill>
                  <a:schemeClr val="hlink"/>
                </a:solidFill>
                <a:hlinkClick r:id="rId3"/>
              </a:rPr>
              <a:t>simone.montepiani@mail.polimi.it</a:t>
            </a:r>
            <a:endParaRPr lang="it-IT" dirty="0"/>
          </a:p>
          <a:p>
            <a:pPr marL="458340" lvl="1" indent="0">
              <a:spcBef>
                <a:spcPts val="400"/>
              </a:spcBef>
              <a:buSzPts val="2000"/>
              <a:buNone/>
            </a:pPr>
            <a:endParaRPr lang="it-IT" dirty="0"/>
          </a:p>
          <a:p>
            <a:pPr marL="458340" lvl="1" indent="0">
              <a:spcBef>
                <a:spcPts val="400"/>
              </a:spcBef>
              <a:buSzPts val="2000"/>
              <a:buNone/>
            </a:pPr>
            <a:endParaRPr lang="it-IT" dirty="0"/>
          </a:p>
          <a:p>
            <a:pPr lvl="0">
              <a:spcBef>
                <a:spcPts val="480"/>
              </a:spcBef>
              <a:buSzPct val="100000"/>
              <a:buFont typeface="Arial" panose="020B0604020202020204" pitchFamily="34" charset="0"/>
              <a:buChar char="•"/>
            </a:pPr>
            <a:r>
              <a:rPr lang="it-IT" dirty="0"/>
              <a:t>MATLAB PoliMi</a:t>
            </a:r>
          </a:p>
          <a:p>
            <a:pPr lvl="1">
              <a:spcBef>
                <a:spcPts val="400"/>
              </a:spcBef>
              <a:buSzPts val="2000"/>
              <a:buFont typeface="Courier New" panose="02070309020205020404" pitchFamily="49" charset="0"/>
              <a:buChar char="o"/>
            </a:pPr>
            <a:r>
              <a:rPr lang="it-IT" u="sng" dirty="0">
                <a:solidFill>
                  <a:schemeClr val="hlink"/>
                </a:solidFill>
                <a:hlinkClick r:id="rId4"/>
              </a:rPr>
              <a:t>matlab.polimi@gmail.com</a:t>
            </a:r>
            <a:endParaRPr lang="it-IT" dirty="0"/>
          </a:p>
          <a:p>
            <a:pPr lvl="1">
              <a:spcBef>
                <a:spcPts val="400"/>
              </a:spcBef>
              <a:buSzPts val="2000"/>
              <a:buFont typeface="Courier New" panose="02070309020205020404" pitchFamily="49" charset="0"/>
              <a:buChar char="o"/>
            </a:pPr>
            <a:r>
              <a:rPr lang="it-IT" dirty="0"/>
              <a:t>@mtlbsapdm (</a:t>
            </a:r>
            <a:r>
              <a:rPr lang="it-IT" b="1" dirty="0"/>
              <a:t>Instagram</a:t>
            </a:r>
            <a:r>
              <a:rPr lang="it-IT" dirty="0"/>
              <a:t>)</a:t>
            </a:r>
          </a:p>
          <a:p>
            <a:pPr marL="0" indent="0">
              <a:buNone/>
            </a:pPr>
            <a:endParaRPr lang="en-US" dirty="0"/>
          </a:p>
          <a:p>
            <a:pPr marL="0" indent="0">
              <a:buNone/>
            </a:pPr>
            <a:endParaRPr lang="en-US" dirty="0"/>
          </a:p>
          <a:p>
            <a:pPr marL="0" indent="0">
              <a:buNone/>
            </a:pPr>
            <a:r>
              <a:rPr lang="en-US" b="1" dirty="0"/>
              <a:t>FOLLOW US ON INSTAGRAM </a:t>
            </a:r>
            <a:r>
              <a:rPr lang="en-US" dirty="0">
                <a:sym typeface="Wingdings" panose="05000000000000000000" pitchFamily="2" charset="2"/>
              </a:rPr>
              <a:t> </a:t>
            </a:r>
            <a:endParaRPr lang="en-US" dirty="0"/>
          </a:p>
        </p:txBody>
      </p:sp>
      <p:pic>
        <p:nvPicPr>
          <p:cNvPr id="4" name="Picture 6">
            <a:extLst>
              <a:ext uri="{FF2B5EF4-FFF2-40B4-BE49-F238E27FC236}">
                <a16:creationId xmlns:a16="http://schemas.microsoft.com/office/drawing/2014/main" id="{E60FDB0A-41E6-B8F1-2A31-851EF24C247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3925" t="23736" r="23900" b="44756"/>
          <a:stretch>
            <a:fillRect/>
          </a:stretch>
        </p:blipFill>
        <p:spPr bwMode="auto">
          <a:xfrm>
            <a:off x="7784099" y="2721864"/>
            <a:ext cx="3798299" cy="3822965"/>
          </a:xfrm>
          <a:prstGeom prst="rect">
            <a:avLst/>
          </a:prstGeom>
          <a:noFill/>
          <a:ln w="101600">
            <a:solidFill>
              <a:schemeClr val="accent2"/>
            </a:solidFill>
            <a:prstDash val="solid"/>
          </a:ln>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BA9CA58-3BB5-80A9-9095-20BCEC59330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797832" y="678931"/>
            <a:ext cx="2019080" cy="1746504"/>
          </a:xfrm>
          <a:prstGeom prst="rect">
            <a:avLst/>
          </a:prstGeom>
          <a:effectLst>
            <a:outerShdw blurRad="177800" sx="90000" sy="90000" algn="ctr" rotWithShape="0">
              <a:prstClr val="black"/>
            </a:outerShdw>
          </a:effectLst>
        </p:spPr>
      </p:pic>
      <p:sp>
        <p:nvSpPr>
          <p:cNvPr id="10" name="Arrow: Right 9">
            <a:extLst>
              <a:ext uri="{FF2B5EF4-FFF2-40B4-BE49-F238E27FC236}">
                <a16:creationId xmlns:a16="http://schemas.microsoft.com/office/drawing/2014/main" id="{57D90C97-1F8F-7F1A-8F18-684C6237DEF9}"/>
              </a:ext>
            </a:extLst>
          </p:cNvPr>
          <p:cNvSpPr/>
          <p:nvPr/>
        </p:nvSpPr>
        <p:spPr>
          <a:xfrm>
            <a:off x="5245117" y="5198364"/>
            <a:ext cx="2212848" cy="44805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latin typeface="Arial" pitchFamily="34" charset="0"/>
              <a:cs typeface="Arial" pitchFamily="34" charset="0"/>
            </a:endParaRPr>
          </a:p>
        </p:txBody>
      </p:sp>
      <p:sp>
        <p:nvSpPr>
          <p:cNvPr id="11" name="TextBox 10">
            <a:extLst>
              <a:ext uri="{FF2B5EF4-FFF2-40B4-BE49-F238E27FC236}">
                <a16:creationId xmlns:a16="http://schemas.microsoft.com/office/drawing/2014/main" id="{7A74C4CA-F51C-3E7B-9F64-A99D56B00E0C}"/>
              </a:ext>
            </a:extLst>
          </p:cNvPr>
          <p:cNvSpPr txBox="1"/>
          <p:nvPr/>
        </p:nvSpPr>
        <p:spPr>
          <a:xfrm>
            <a:off x="1149380" y="5602069"/>
            <a:ext cx="3892541" cy="646331"/>
          </a:xfrm>
          <a:prstGeom prst="rect">
            <a:avLst/>
          </a:prstGeom>
          <a:noFill/>
        </p:spPr>
        <p:txBody>
          <a:bodyPr wrap="square" rtlCol="0">
            <a:spAutoFit/>
          </a:bodyPr>
          <a:lstStyle/>
          <a:p>
            <a:r>
              <a:rPr lang="en-GB" sz="3600" b="1" dirty="0">
                <a:solidFill>
                  <a:srgbClr val="D78824"/>
                </a:solidFill>
                <a:latin typeface="Arial" pitchFamily="34" charset="0"/>
                <a:cs typeface="Arial" pitchFamily="34" charset="0"/>
              </a:rPr>
              <a:t>@MTLBSAPDM</a:t>
            </a:r>
          </a:p>
        </p:txBody>
      </p:sp>
    </p:spTree>
    <p:extLst>
      <p:ext uri="{BB962C8B-B14F-4D97-AF65-F5344CB8AC3E}">
        <p14:creationId xmlns:p14="http://schemas.microsoft.com/office/powerpoint/2010/main" val="2784395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F405C-2C76-B3B9-9E75-7CE648EB9BA3}"/>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C95BD587-FE1F-2698-3E2E-A7FE354434CE}"/>
              </a:ext>
            </a:extLst>
          </p:cNvPr>
          <p:cNvSpPr>
            <a:spLocks noGrp="1"/>
          </p:cNvSpPr>
          <p:nvPr>
            <p:ph idx="1"/>
          </p:nvPr>
        </p:nvSpPr>
        <p:spPr/>
        <p:txBody>
          <a:bodyPr/>
          <a:lstStyle/>
          <a:p>
            <a:pPr lvl="0">
              <a:spcBef>
                <a:spcPts val="0"/>
              </a:spcBef>
              <a:buSzPct val="100000"/>
              <a:buFont typeface="Arial" panose="020B0604020202020204" pitchFamily="34" charset="0"/>
              <a:buChar char="•"/>
            </a:pPr>
            <a:r>
              <a:rPr lang="en-GB" b="1" dirty="0"/>
              <a:t>17:30 – 18:00: Intro</a:t>
            </a:r>
          </a:p>
          <a:p>
            <a:pPr marL="800735" lvl="1" indent="-342900">
              <a:spcBef>
                <a:spcPts val="400"/>
              </a:spcBef>
              <a:buSzPct val="100000"/>
              <a:buFont typeface="Courier New" panose="02070309020205020404" pitchFamily="49" charset="0"/>
              <a:buChar char="o"/>
            </a:pPr>
            <a:r>
              <a:rPr lang="en-GB" dirty="0"/>
              <a:t>Introduction</a:t>
            </a:r>
          </a:p>
          <a:p>
            <a:pPr marL="800735" lvl="1" indent="-342900">
              <a:spcBef>
                <a:spcPts val="400"/>
              </a:spcBef>
              <a:buSzPct val="100000"/>
              <a:buFont typeface="Courier New" panose="02070309020205020404" pitchFamily="49" charset="0"/>
              <a:buChar char="o"/>
            </a:pPr>
            <a:r>
              <a:rPr lang="en-GB" dirty="0"/>
              <a:t>Differences between Simulink and </a:t>
            </a:r>
            <a:r>
              <a:rPr lang="en-GB" dirty="0" err="1"/>
              <a:t>Simscape</a:t>
            </a:r>
            <a:endParaRPr lang="en-GB" dirty="0"/>
          </a:p>
          <a:p>
            <a:pPr marL="800735" lvl="1" indent="-342900">
              <a:spcBef>
                <a:spcPts val="400"/>
              </a:spcBef>
              <a:buSzPct val="100000"/>
              <a:buFont typeface="Arial" panose="020B0604020202020204" pitchFamily="34" charset="0"/>
              <a:buChar char="•"/>
            </a:pPr>
            <a:endParaRPr lang="en-GB" dirty="0"/>
          </a:p>
          <a:p>
            <a:pPr lvl="0">
              <a:spcBef>
                <a:spcPts val="480"/>
              </a:spcBef>
              <a:buSzPct val="100000"/>
              <a:buFont typeface="Arial" panose="020B0604020202020204" pitchFamily="34" charset="0"/>
              <a:buChar char="•"/>
            </a:pPr>
            <a:r>
              <a:rPr lang="en-GB" b="1" dirty="0"/>
              <a:t>18:00 – 19:15: Coding part</a:t>
            </a:r>
          </a:p>
          <a:p>
            <a:pPr marL="800735" lvl="1" indent="-342900">
              <a:spcBef>
                <a:spcPts val="400"/>
              </a:spcBef>
              <a:buSzPct val="100000"/>
              <a:buFont typeface="Courier New" panose="02070309020205020404" pitchFamily="49" charset="0"/>
              <a:buChar char="o"/>
            </a:pPr>
            <a:r>
              <a:rPr lang="en-GB" dirty="0"/>
              <a:t>Demo: mechanical system</a:t>
            </a:r>
          </a:p>
          <a:p>
            <a:pPr marL="800735" lvl="1" indent="-342900">
              <a:spcBef>
                <a:spcPts val="400"/>
              </a:spcBef>
              <a:buSzPct val="100000"/>
              <a:buFont typeface="Courier New" panose="02070309020205020404" pitchFamily="49" charset="0"/>
              <a:buChar char="o"/>
            </a:pPr>
            <a:r>
              <a:rPr lang="en-GB" dirty="0"/>
              <a:t>If we have time… electrical system and thermal system</a:t>
            </a:r>
          </a:p>
          <a:p>
            <a:pPr marL="800735" lvl="1" indent="-342900">
              <a:spcBef>
                <a:spcPts val="400"/>
              </a:spcBef>
              <a:buSzPct val="100000"/>
              <a:buFont typeface="Courier New" panose="02070309020205020404" pitchFamily="49" charset="0"/>
              <a:buChar char="o"/>
            </a:pPr>
            <a:r>
              <a:rPr lang="en-GB" dirty="0"/>
              <a:t>Additional resources</a:t>
            </a:r>
          </a:p>
          <a:p>
            <a:pPr marL="800735" lvl="1" indent="-342900">
              <a:spcBef>
                <a:spcPts val="400"/>
              </a:spcBef>
              <a:buSzPct val="100000"/>
              <a:buFont typeface="Arial" panose="020B0604020202020204" pitchFamily="34" charset="0"/>
              <a:buChar char="•"/>
            </a:pPr>
            <a:endParaRPr lang="en-GB" dirty="0"/>
          </a:p>
          <a:p>
            <a:pPr lvl="0">
              <a:spcBef>
                <a:spcPts val="480"/>
              </a:spcBef>
              <a:buSzPct val="100000"/>
              <a:buFont typeface="Arial" panose="020B0604020202020204" pitchFamily="34" charset="0"/>
              <a:buChar char="•"/>
            </a:pPr>
            <a:r>
              <a:rPr lang="en-GB" b="1" dirty="0"/>
              <a:t>19.15 – 19.30: QUIZ and gadgets!</a:t>
            </a:r>
          </a:p>
        </p:txBody>
      </p:sp>
      <p:pic>
        <p:nvPicPr>
          <p:cNvPr id="8" name="Picture 7">
            <a:extLst>
              <a:ext uri="{FF2B5EF4-FFF2-40B4-BE49-F238E27FC236}">
                <a16:creationId xmlns:a16="http://schemas.microsoft.com/office/drawing/2014/main" id="{B9FB41F4-C014-34FA-C90C-1A86DC42C4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97832" y="822960"/>
            <a:ext cx="2019080" cy="1746504"/>
          </a:xfrm>
          <a:prstGeom prst="rect">
            <a:avLst/>
          </a:prstGeom>
          <a:effectLst>
            <a:outerShdw blurRad="177800" sx="90000" sy="90000" algn="ctr" rotWithShape="0">
              <a:prstClr val="black"/>
            </a:outerShdw>
          </a:effectLst>
        </p:spPr>
      </p:pic>
    </p:spTree>
    <p:extLst>
      <p:ext uri="{BB962C8B-B14F-4D97-AF65-F5344CB8AC3E}">
        <p14:creationId xmlns:p14="http://schemas.microsoft.com/office/powerpoint/2010/main" val="673487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13E74-F924-D695-F6B0-45765BC5F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B4C653-DE7B-2C77-96D5-F54C37A669F0}"/>
              </a:ext>
            </a:extLst>
          </p:cNvPr>
          <p:cNvSpPr>
            <a:spLocks noGrp="1"/>
          </p:cNvSpPr>
          <p:nvPr>
            <p:ph type="title"/>
          </p:nvPr>
        </p:nvSpPr>
        <p:spPr/>
        <p:txBody>
          <a:bodyPr/>
          <a:lstStyle/>
          <a:p>
            <a:r>
              <a:rPr lang="en-US" dirty="0"/>
              <a:t>What is </a:t>
            </a:r>
            <a:r>
              <a:rPr lang="en-US" dirty="0" err="1"/>
              <a:t>Simscape</a:t>
            </a:r>
            <a:r>
              <a:rPr lang="en-US" dirty="0"/>
              <a:t>?</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6" name="Content Placeholder 5">
                <a:extLst>
                  <a:ext uri="{FF2B5EF4-FFF2-40B4-BE49-F238E27FC236}">
                    <a16:creationId xmlns:a16="http://schemas.microsoft.com/office/drawing/2014/main" id="{168C4E6E-7B14-0F2A-0885-C9B15C79FDBC}"/>
                  </a:ext>
                </a:extLst>
              </p:cNvPr>
              <p:cNvGraphicFramePr>
                <a:graphicFrameLocks noGrp="1"/>
              </p:cNvGraphicFramePr>
              <p:nvPr>
                <p:ph idx="1"/>
                <p:extLst>
                  <p:ext uri="{D42A27DB-BD31-4B8C-83A1-F6EECF244321}">
                    <p14:modId xmlns:p14="http://schemas.microsoft.com/office/powerpoint/2010/main" val="1377401506"/>
                  </p:ext>
                </p:extLst>
              </p:nvPr>
            </p:nvGraphicFramePr>
            <p:xfrm>
              <a:off x="166116" y="1033272"/>
              <a:ext cx="11859768" cy="544982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6" name="Content Placeholder 5">
                <a:extLst>
                  <a:ext uri="{FF2B5EF4-FFF2-40B4-BE49-F238E27FC236}">
                    <a16:creationId xmlns:a16="http://schemas.microsoft.com/office/drawing/2014/main" id="{168C4E6E-7B14-0F2A-0885-C9B15C79FDBC}"/>
                  </a:ext>
                </a:extLst>
              </p:cNvPr>
              <p:cNvPicPr>
                <a:picLocks noGrp="1" noRot="1" noChangeAspect="1" noMove="1" noResize="1" noEditPoints="1" noAdjustHandles="1" noChangeArrowheads="1" noChangeShapeType="1"/>
              </p:cNvPicPr>
              <p:nvPr/>
            </p:nvPicPr>
            <p:blipFill>
              <a:blip r:embed="rId4"/>
              <a:stretch>
                <a:fillRect/>
              </a:stretch>
            </p:blipFill>
            <p:spPr>
              <a:xfrm>
                <a:off x="166116" y="1033272"/>
                <a:ext cx="11859768" cy="5449824"/>
              </a:xfrm>
              <a:prstGeom prst="rect">
                <a:avLst/>
              </a:prstGeom>
            </p:spPr>
          </p:pic>
        </mc:Fallback>
      </mc:AlternateContent>
    </p:spTree>
    <p:extLst>
      <p:ext uri="{BB962C8B-B14F-4D97-AF65-F5344CB8AC3E}">
        <p14:creationId xmlns:p14="http://schemas.microsoft.com/office/powerpoint/2010/main" val="3041794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1" name="Google Shape;71;p4"/>
          <p:cNvSpPr txBox="1">
            <a:spLocks noGrp="1"/>
          </p:cNvSpPr>
          <p:nvPr>
            <p:ph type="body" idx="1"/>
          </p:nvPr>
        </p:nvSpPr>
        <p:spPr>
          <a:xfrm>
            <a:off x="407368" y="1397877"/>
            <a:ext cx="6028945" cy="2319446"/>
          </a:xfrm>
          <a:prstGeom prst="rect">
            <a:avLst/>
          </a:prstGeom>
          <a:noFill/>
          <a:ln>
            <a:noFill/>
          </a:ln>
        </p:spPr>
        <p:txBody>
          <a:bodyPr spcFirstLastPara="1" wrap="square" lIns="91425" tIns="45700" rIns="91425" bIns="45700" anchor="t" anchorCtr="0">
            <a:noAutofit/>
          </a:bodyPr>
          <a:lstStyle/>
          <a:p>
            <a:pPr lvl="0" algn="l" rtl="0">
              <a:spcBef>
                <a:spcPts val="0"/>
              </a:spcBef>
              <a:spcAft>
                <a:spcPts val="0"/>
              </a:spcAft>
              <a:buSzPct val="100000"/>
              <a:buFont typeface="Arial" panose="020B0604020202020204" pitchFamily="34" charset="0"/>
              <a:buChar char="•"/>
            </a:pPr>
            <a:r>
              <a:rPr lang="en-US" b="1" dirty="0"/>
              <a:t>Create</a:t>
            </a:r>
            <a:r>
              <a:rPr lang="en-US" dirty="0"/>
              <a:t> models of </a:t>
            </a:r>
            <a:r>
              <a:rPr lang="en-US" b="1" dirty="0"/>
              <a:t>physical systems</a:t>
            </a:r>
            <a:r>
              <a:rPr lang="en-US" dirty="0"/>
              <a:t> within the Simulink environment</a:t>
            </a:r>
            <a:endParaRPr dirty="0"/>
          </a:p>
          <a:p>
            <a:pPr lvl="0" algn="l" rtl="0">
              <a:spcBef>
                <a:spcPts val="480"/>
              </a:spcBef>
              <a:spcAft>
                <a:spcPts val="0"/>
              </a:spcAft>
              <a:buSzPct val="100000"/>
              <a:buFont typeface="Arial" panose="020B0604020202020204" pitchFamily="34" charset="0"/>
              <a:buChar char="•"/>
            </a:pPr>
            <a:r>
              <a:rPr lang="en-US" b="1" dirty="0"/>
              <a:t>Develop</a:t>
            </a:r>
            <a:r>
              <a:rPr lang="en-US" dirty="0"/>
              <a:t> control systems and </a:t>
            </a:r>
            <a:r>
              <a:rPr lang="en-US" b="1" dirty="0"/>
              <a:t>test</a:t>
            </a:r>
            <a:r>
              <a:rPr lang="en-US" dirty="0"/>
              <a:t> system-level performance</a:t>
            </a:r>
            <a:endParaRPr dirty="0"/>
          </a:p>
          <a:p>
            <a:pPr lvl="0" algn="l" rtl="0">
              <a:spcBef>
                <a:spcPts val="480"/>
              </a:spcBef>
              <a:spcAft>
                <a:spcPts val="0"/>
              </a:spcAft>
              <a:buSzPct val="100000"/>
              <a:buFont typeface="Arial" panose="020B0604020202020204" pitchFamily="34" charset="0"/>
              <a:buChar char="•"/>
            </a:pPr>
            <a:r>
              <a:rPr lang="en-US" dirty="0"/>
              <a:t>Supports </a:t>
            </a:r>
            <a:r>
              <a:rPr lang="en-US" b="1" dirty="0"/>
              <a:t>C-code generation</a:t>
            </a:r>
            <a:endParaRPr dirty="0"/>
          </a:p>
        </p:txBody>
      </p:sp>
      <p:sp>
        <p:nvSpPr>
          <p:cNvPr id="72" name="Google Shape;72;p4" descr="Figure 1. Neural networks, which are organized in layers consisting of a set of interconnected nodes. Networks can have tens or hundreds of hidden layers."/>
          <p:cNvSpPr/>
          <p:nvPr/>
        </p:nvSpPr>
        <p:spPr>
          <a:xfrm>
            <a:off x="5943600" y="3276600"/>
            <a:ext cx="2819400" cy="2819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73" name="Google Shape;73;p4"/>
          <p:cNvPicPr preferRelativeResize="0"/>
          <p:nvPr/>
        </p:nvPicPr>
        <p:blipFill rotWithShape="1">
          <a:blip r:embed="rId3">
            <a:alphaModFix/>
          </a:blip>
          <a:srcRect/>
          <a:stretch/>
        </p:blipFill>
        <p:spPr>
          <a:xfrm>
            <a:off x="833736" y="3933056"/>
            <a:ext cx="5015979" cy="2399603"/>
          </a:xfrm>
          <a:prstGeom prst="rect">
            <a:avLst/>
          </a:prstGeom>
          <a:noFill/>
          <a:ln>
            <a:noFill/>
          </a:ln>
        </p:spPr>
      </p:pic>
      <p:pic>
        <p:nvPicPr>
          <p:cNvPr id="74" name="Google Shape;74;p4"/>
          <p:cNvPicPr preferRelativeResize="0"/>
          <p:nvPr/>
        </p:nvPicPr>
        <p:blipFill rotWithShape="1">
          <a:blip r:embed="rId4">
            <a:alphaModFix/>
          </a:blip>
          <a:srcRect/>
          <a:stretch/>
        </p:blipFill>
        <p:spPr>
          <a:xfrm>
            <a:off x="7527555" y="756284"/>
            <a:ext cx="3787019" cy="2170704"/>
          </a:xfrm>
          <a:prstGeom prst="rect">
            <a:avLst/>
          </a:prstGeom>
          <a:noFill/>
          <a:ln>
            <a:noFill/>
          </a:ln>
        </p:spPr>
      </p:pic>
      <p:pic>
        <p:nvPicPr>
          <p:cNvPr id="75" name="Google Shape;75;p4"/>
          <p:cNvPicPr preferRelativeResize="0"/>
          <p:nvPr/>
        </p:nvPicPr>
        <p:blipFill rotWithShape="1">
          <a:blip r:embed="rId5">
            <a:alphaModFix/>
          </a:blip>
          <a:srcRect/>
          <a:stretch/>
        </p:blipFill>
        <p:spPr>
          <a:xfrm>
            <a:off x="7738695" y="3847807"/>
            <a:ext cx="3561818" cy="2077727"/>
          </a:xfrm>
          <a:prstGeom prst="rect">
            <a:avLst/>
          </a:prstGeom>
          <a:noFill/>
          <a:ln>
            <a:noFill/>
          </a:ln>
        </p:spPr>
      </p:pic>
      <p:sp>
        <p:nvSpPr>
          <p:cNvPr id="5" name="Google Shape;81;p5">
            <a:extLst>
              <a:ext uri="{FF2B5EF4-FFF2-40B4-BE49-F238E27FC236}">
                <a16:creationId xmlns:a16="http://schemas.microsoft.com/office/drawing/2014/main" id="{0912CD92-EC48-54BF-3D0F-C321D5BCE645}"/>
              </a:ext>
            </a:extLst>
          </p:cNvPr>
          <p:cNvSpPr txBox="1">
            <a:spLocks noGrp="1"/>
          </p:cNvSpPr>
          <p:nvPr>
            <p:ph type="title"/>
          </p:nvPr>
        </p:nvSpPr>
        <p:spPr>
          <a:xfrm>
            <a:off x="609602" y="457200"/>
            <a:ext cx="10769600" cy="99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2800"/>
              <a:buFont typeface="Arial"/>
              <a:buNone/>
            </a:pPr>
            <a:r>
              <a:rPr lang="en-US" dirty="0"/>
              <a:t>Why use </a:t>
            </a:r>
            <a:r>
              <a:rPr lang="en-US" dirty="0" err="1"/>
              <a:t>Simscape</a:t>
            </a:r>
            <a:r>
              <a:rPr lang="en-US" dirty="0"/>
              <a:t>?</a:t>
            </a:r>
            <a:br>
              <a:rPr lang="en-US" dirty="0"/>
            </a:br>
            <a:endParaRPr dirty="0">
              <a:solidFill>
                <a:srgbClr val="59595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5" descr="Diagram&#10;&#10;Description automatically generated"/>
          <p:cNvPicPr preferRelativeResize="0"/>
          <p:nvPr/>
        </p:nvPicPr>
        <p:blipFill rotWithShape="1">
          <a:blip r:embed="rId3">
            <a:alphaModFix/>
          </a:blip>
          <a:srcRect/>
          <a:stretch/>
        </p:blipFill>
        <p:spPr>
          <a:xfrm>
            <a:off x="7158392" y="430411"/>
            <a:ext cx="4848637" cy="2242586"/>
          </a:xfrm>
          <a:prstGeom prst="rect">
            <a:avLst/>
          </a:prstGeom>
          <a:noFill/>
          <a:ln>
            <a:noFill/>
          </a:ln>
        </p:spPr>
      </p:pic>
      <p:sp>
        <p:nvSpPr>
          <p:cNvPr id="81" name="Google Shape;81;p5"/>
          <p:cNvSpPr txBox="1">
            <a:spLocks noGrp="1"/>
          </p:cNvSpPr>
          <p:nvPr>
            <p:ph type="title"/>
          </p:nvPr>
        </p:nvSpPr>
        <p:spPr>
          <a:xfrm>
            <a:off x="609602" y="457200"/>
            <a:ext cx="10769600" cy="99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2800"/>
              <a:buFont typeface="Arial"/>
              <a:buNone/>
            </a:pPr>
            <a:r>
              <a:rPr lang="en-US" dirty="0" err="1"/>
              <a:t>Simscape</a:t>
            </a:r>
            <a:r>
              <a:rPr lang="en-US" dirty="0"/>
              <a:t> Electrical</a:t>
            </a:r>
            <a:br>
              <a:rPr lang="en-US" dirty="0"/>
            </a:br>
            <a:r>
              <a:rPr lang="en-US" sz="2400" dirty="0">
                <a:solidFill>
                  <a:srgbClr val="595959"/>
                </a:solidFill>
              </a:rPr>
              <a:t>Overview</a:t>
            </a:r>
            <a:endParaRPr dirty="0">
              <a:solidFill>
                <a:srgbClr val="595959"/>
              </a:solidFill>
            </a:endParaRPr>
          </a:p>
        </p:txBody>
      </p:sp>
      <p:sp>
        <p:nvSpPr>
          <p:cNvPr id="82" name="Google Shape;82;p5"/>
          <p:cNvSpPr txBox="1">
            <a:spLocks noGrp="1"/>
          </p:cNvSpPr>
          <p:nvPr>
            <p:ph type="body" idx="1"/>
          </p:nvPr>
        </p:nvSpPr>
        <p:spPr>
          <a:xfrm>
            <a:off x="609601" y="1600200"/>
            <a:ext cx="5439223" cy="4648200"/>
          </a:xfrm>
          <a:prstGeom prst="rect">
            <a:avLst/>
          </a:prstGeom>
          <a:noFill/>
          <a:ln>
            <a:noFill/>
          </a:ln>
        </p:spPr>
        <p:txBody>
          <a:bodyPr spcFirstLastPara="1" wrap="square" lIns="91425" tIns="45700" rIns="91425" bIns="45700" anchor="t" anchorCtr="0">
            <a:noAutofit/>
          </a:bodyPr>
          <a:lstStyle/>
          <a:p>
            <a:pPr lvl="0" algn="l" rtl="0">
              <a:spcBef>
                <a:spcPts val="0"/>
              </a:spcBef>
              <a:spcAft>
                <a:spcPts val="0"/>
              </a:spcAft>
              <a:buSzPts val="1800"/>
              <a:buFont typeface="Arial" panose="020B0604020202020204" pitchFamily="34" charset="0"/>
              <a:buChar char="•"/>
            </a:pPr>
            <a:r>
              <a:rPr lang="en-US" dirty="0"/>
              <a:t>Enables physical modelling of </a:t>
            </a:r>
            <a:r>
              <a:rPr lang="en-US" b="1" dirty="0"/>
              <a:t>electronic, mechatronic, </a:t>
            </a:r>
            <a:br>
              <a:rPr lang="en-US" b="1" dirty="0"/>
            </a:br>
            <a:r>
              <a:rPr lang="en-US" dirty="0"/>
              <a:t>and</a:t>
            </a:r>
            <a:r>
              <a:rPr lang="en-US" b="1" dirty="0"/>
              <a:t> electrical power systems</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Electrical system topology </a:t>
            </a:r>
            <a:br>
              <a:rPr lang="en-US" dirty="0"/>
            </a:br>
            <a:r>
              <a:rPr lang="en-US" dirty="0"/>
              <a:t>represented by a schematic circuit</a:t>
            </a:r>
            <a:endParaRPr dirty="0"/>
          </a:p>
          <a:p>
            <a:pPr marL="1278821" lvl="2" indent="-285750" algn="l" rtl="0">
              <a:lnSpc>
                <a:spcPct val="105000"/>
              </a:lnSpc>
              <a:spcBef>
                <a:spcPts val="321"/>
              </a:spcBef>
              <a:spcAft>
                <a:spcPts val="0"/>
              </a:spcAft>
              <a:buSzPts val="1203"/>
              <a:buFont typeface="Arial" panose="020B0604020202020204" pitchFamily="34" charset="0"/>
              <a:buChar char="•"/>
            </a:pPr>
            <a:endParaRPr dirty="0"/>
          </a:p>
          <a:p>
            <a:pPr lvl="0" algn="l" rtl="0">
              <a:spcBef>
                <a:spcPts val="480"/>
              </a:spcBef>
              <a:spcAft>
                <a:spcPts val="0"/>
              </a:spcAft>
              <a:buSzPts val="1800"/>
              <a:buFont typeface="Arial" panose="020B0604020202020204" pitchFamily="34" charset="0"/>
              <a:buChar char="•"/>
            </a:pPr>
            <a:r>
              <a:rPr lang="en-US" dirty="0"/>
              <a:t>With </a:t>
            </a:r>
            <a:r>
              <a:rPr lang="en-US" b="1" dirty="0" err="1"/>
              <a:t>Simscape</a:t>
            </a:r>
            <a:r>
              <a:rPr lang="en-US" b="1" dirty="0"/>
              <a:t> Electrical</a:t>
            </a:r>
            <a:r>
              <a:rPr lang="en-US" dirty="0"/>
              <a:t>, you can</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Evaluate analogue circuit architectures</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Develop mechatronic systems </a:t>
            </a:r>
            <a:br>
              <a:rPr lang="en-US" dirty="0"/>
            </a:br>
            <a:r>
              <a:rPr lang="en-US" dirty="0"/>
              <a:t>with electric drives</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Analyze the generation, conversion, </a:t>
            </a:r>
            <a:br>
              <a:rPr lang="en-US" dirty="0"/>
            </a:br>
            <a:r>
              <a:rPr lang="en-US" dirty="0"/>
              <a:t>transmission, and consumption </a:t>
            </a:r>
            <a:br>
              <a:rPr lang="en-US" dirty="0"/>
            </a:br>
            <a:r>
              <a:rPr lang="en-US" dirty="0"/>
              <a:t>of electrical power at the grid level</a:t>
            </a:r>
            <a:endParaRPr dirty="0"/>
          </a:p>
        </p:txBody>
      </p:sp>
      <p:grpSp>
        <p:nvGrpSpPr>
          <p:cNvPr id="83" name="Google Shape;83;p5"/>
          <p:cNvGrpSpPr/>
          <p:nvPr/>
        </p:nvGrpSpPr>
        <p:grpSpPr>
          <a:xfrm>
            <a:off x="5910739" y="2968802"/>
            <a:ext cx="3037871" cy="3412526"/>
            <a:chOff x="191344" y="640336"/>
            <a:chExt cx="3079776" cy="3459600"/>
          </a:xfrm>
        </p:grpSpPr>
        <p:pic>
          <p:nvPicPr>
            <p:cNvPr id="84" name="Google Shape;84;p5"/>
            <p:cNvPicPr preferRelativeResize="0"/>
            <p:nvPr/>
          </p:nvPicPr>
          <p:blipFill rotWithShape="1">
            <a:blip r:embed="rId4">
              <a:alphaModFix/>
            </a:blip>
            <a:srcRect/>
            <a:stretch/>
          </p:blipFill>
          <p:spPr>
            <a:xfrm>
              <a:off x="191344" y="640336"/>
              <a:ext cx="3079776" cy="3459600"/>
            </a:xfrm>
            <a:prstGeom prst="rect">
              <a:avLst/>
            </a:prstGeom>
            <a:noFill/>
            <a:ln>
              <a:noFill/>
            </a:ln>
          </p:spPr>
        </p:pic>
        <p:pic>
          <p:nvPicPr>
            <p:cNvPr id="85" name="Google Shape;85;p5"/>
            <p:cNvPicPr preferRelativeResize="0"/>
            <p:nvPr/>
          </p:nvPicPr>
          <p:blipFill rotWithShape="1">
            <a:blip r:embed="rId5">
              <a:alphaModFix/>
            </a:blip>
            <a:srcRect/>
            <a:stretch/>
          </p:blipFill>
          <p:spPr>
            <a:xfrm>
              <a:off x="389852" y="1081761"/>
              <a:ext cx="2846703" cy="2983346"/>
            </a:xfrm>
            <a:prstGeom prst="rect">
              <a:avLst/>
            </a:prstGeom>
            <a:noFill/>
            <a:ln>
              <a:noFill/>
            </a:ln>
          </p:spPr>
        </p:pic>
      </p:grpSp>
      <p:grpSp>
        <p:nvGrpSpPr>
          <p:cNvPr id="86" name="Google Shape;86;p5"/>
          <p:cNvGrpSpPr/>
          <p:nvPr/>
        </p:nvGrpSpPr>
        <p:grpSpPr>
          <a:xfrm>
            <a:off x="9103833" y="2975491"/>
            <a:ext cx="3037171" cy="3405837"/>
            <a:chOff x="8920882" y="764704"/>
            <a:chExt cx="3079066" cy="3452818"/>
          </a:xfrm>
        </p:grpSpPr>
        <p:pic>
          <p:nvPicPr>
            <p:cNvPr id="87" name="Google Shape;87;p5"/>
            <p:cNvPicPr preferRelativeResize="0"/>
            <p:nvPr/>
          </p:nvPicPr>
          <p:blipFill rotWithShape="1">
            <a:blip r:embed="rId6">
              <a:alphaModFix/>
            </a:blip>
            <a:srcRect/>
            <a:stretch/>
          </p:blipFill>
          <p:spPr>
            <a:xfrm>
              <a:off x="8920882" y="764704"/>
              <a:ext cx="3073739" cy="3452818"/>
            </a:xfrm>
            <a:prstGeom prst="rect">
              <a:avLst/>
            </a:prstGeom>
            <a:noFill/>
            <a:ln>
              <a:noFill/>
            </a:ln>
          </p:spPr>
        </p:pic>
        <p:grpSp>
          <p:nvGrpSpPr>
            <p:cNvPr id="88" name="Google Shape;88;p5"/>
            <p:cNvGrpSpPr/>
            <p:nvPr/>
          </p:nvGrpSpPr>
          <p:grpSpPr>
            <a:xfrm>
              <a:off x="9101426" y="1205932"/>
              <a:ext cx="2898522" cy="3011589"/>
              <a:chOff x="7185738" y="2405530"/>
              <a:chExt cx="2898522" cy="3011589"/>
            </a:xfrm>
          </p:grpSpPr>
          <p:pic>
            <p:nvPicPr>
              <p:cNvPr id="89" name="Google Shape;89;p5"/>
              <p:cNvPicPr preferRelativeResize="0"/>
              <p:nvPr/>
            </p:nvPicPr>
            <p:blipFill rotWithShape="1">
              <a:blip r:embed="rId7">
                <a:alphaModFix/>
              </a:blip>
              <a:srcRect/>
              <a:stretch/>
            </p:blipFill>
            <p:spPr>
              <a:xfrm>
                <a:off x="7289537" y="2405530"/>
                <a:ext cx="2730878" cy="2512214"/>
              </a:xfrm>
              <a:prstGeom prst="rect">
                <a:avLst/>
              </a:prstGeom>
              <a:noFill/>
              <a:ln>
                <a:noFill/>
              </a:ln>
            </p:spPr>
          </p:pic>
          <p:sp>
            <p:nvSpPr>
              <p:cNvPr id="90" name="Google Shape;90;p5"/>
              <p:cNvSpPr txBox="1"/>
              <p:nvPr/>
            </p:nvSpPr>
            <p:spPr>
              <a:xfrm>
                <a:off x="7185738" y="4893899"/>
                <a:ext cx="289852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chemeClr val="dk1"/>
                    </a:solidFill>
                    <a:latin typeface="Arial"/>
                    <a:ea typeface="Arial"/>
                    <a:cs typeface="Arial"/>
                    <a:sym typeface="Arial"/>
                  </a:rPr>
                  <a:t>IEEE European Low Voltage Test Feeder (906 buses)</a:t>
                </a:r>
                <a:endParaRPr sz="1600">
                  <a:solidFill>
                    <a:schemeClr val="dk1"/>
                  </a:solidFill>
                  <a:latin typeface="Arial"/>
                  <a:ea typeface="Arial"/>
                  <a:cs typeface="Arial"/>
                  <a:sym typeface="Aria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
                                            <p:txEl>
                                              <p:pRg st="0" end="0"/>
                                            </p:txEl>
                                          </p:spTgt>
                                        </p:tgtEl>
                                        <p:attrNameLst>
                                          <p:attrName>style.visibility</p:attrName>
                                        </p:attrNameLst>
                                      </p:cBhvr>
                                      <p:to>
                                        <p:strVal val="visible"/>
                                      </p:to>
                                    </p:set>
                                    <p:animEffect transition="in" filter="fade">
                                      <p:cBhvr>
                                        <p:cTn id="7" dur="500"/>
                                        <p:tgtEl>
                                          <p:spTgt spid="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
                                            <p:txEl>
                                              <p:pRg st="1" end="1"/>
                                            </p:txEl>
                                          </p:spTgt>
                                        </p:tgtEl>
                                        <p:attrNameLst>
                                          <p:attrName>style.visibility</p:attrName>
                                        </p:attrNameLst>
                                      </p:cBhvr>
                                      <p:to>
                                        <p:strVal val="visible"/>
                                      </p:to>
                                    </p:set>
                                    <p:animEffect transition="in" filter="fade">
                                      <p:cBhvr>
                                        <p:cTn id="12" dur="500"/>
                                        <p:tgtEl>
                                          <p:spTgt spid="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2">
                                            <p:txEl>
                                              <p:pRg st="3" end="3"/>
                                            </p:txEl>
                                          </p:spTgt>
                                        </p:tgtEl>
                                        <p:attrNameLst>
                                          <p:attrName>style.visibility</p:attrName>
                                        </p:attrNameLst>
                                      </p:cBhvr>
                                      <p:to>
                                        <p:strVal val="visible"/>
                                      </p:to>
                                    </p:set>
                                    <p:animEffect transition="in" filter="fade">
                                      <p:cBhvr>
                                        <p:cTn id="17" dur="500"/>
                                        <p:tgtEl>
                                          <p:spTgt spid="8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2">
                                            <p:txEl>
                                              <p:pRg st="4" end="4"/>
                                            </p:txEl>
                                          </p:spTgt>
                                        </p:tgtEl>
                                        <p:attrNameLst>
                                          <p:attrName>style.visibility</p:attrName>
                                        </p:attrNameLst>
                                      </p:cBhvr>
                                      <p:to>
                                        <p:strVal val="visible"/>
                                      </p:to>
                                    </p:set>
                                    <p:animEffect transition="in" filter="fade">
                                      <p:cBhvr>
                                        <p:cTn id="22" dur="500"/>
                                        <p:tgtEl>
                                          <p:spTgt spid="8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2">
                                            <p:txEl>
                                              <p:pRg st="5" end="5"/>
                                            </p:txEl>
                                          </p:spTgt>
                                        </p:tgtEl>
                                        <p:attrNameLst>
                                          <p:attrName>style.visibility</p:attrName>
                                        </p:attrNameLst>
                                      </p:cBhvr>
                                      <p:to>
                                        <p:strVal val="visible"/>
                                      </p:to>
                                    </p:set>
                                    <p:animEffect transition="in" filter="fade">
                                      <p:cBhvr>
                                        <p:cTn id="27" dur="500"/>
                                        <p:tgtEl>
                                          <p:spTgt spid="8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2">
                                            <p:txEl>
                                              <p:pRg st="6" end="6"/>
                                            </p:txEl>
                                          </p:spTgt>
                                        </p:tgtEl>
                                        <p:attrNameLst>
                                          <p:attrName>style.visibility</p:attrName>
                                        </p:attrNameLst>
                                      </p:cBhvr>
                                      <p:to>
                                        <p:strVal val="visible"/>
                                      </p:to>
                                    </p:set>
                                    <p:animEffect transition="in" filter="fade">
                                      <p:cBhvr>
                                        <p:cTn id="32" dur="500"/>
                                        <p:tgtEl>
                                          <p:spTgt spid="82">
                                            <p:txEl>
                                              <p:pRg st="6" end="6"/>
                                            </p:txEl>
                                          </p:spTgt>
                                        </p:tgtEl>
                                      </p:cBhvr>
                                    </p:animEffect>
                                  </p:childTnLst>
                                </p:cTn>
                              </p:par>
                            </p:childTnLst>
                          </p:cTn>
                        </p:par>
                        <p:par>
                          <p:cTn id="33" fill="hold">
                            <p:stCondLst>
                              <p:cond delay="500"/>
                            </p:stCondLst>
                            <p:childTnLst>
                              <p:par>
                                <p:cTn id="34" presetID="10" presetClass="entr" presetSubtype="0" fill="hold" nodeType="afterEffect">
                                  <p:stCondLst>
                                    <p:cond delay="0"/>
                                  </p:stCondLst>
                                  <p:childTnLst>
                                    <p:set>
                                      <p:cBhvr>
                                        <p:cTn id="35" dur="1" fill="hold">
                                          <p:stCondLst>
                                            <p:cond delay="0"/>
                                          </p:stCondLst>
                                        </p:cTn>
                                        <p:tgtEl>
                                          <p:spTgt spid="80"/>
                                        </p:tgtEl>
                                        <p:attrNameLst>
                                          <p:attrName>style.visibility</p:attrName>
                                        </p:attrNameLst>
                                      </p:cBhvr>
                                      <p:to>
                                        <p:strVal val="visible"/>
                                      </p:to>
                                    </p:set>
                                    <p:animEffect transition="in" filter="fade">
                                      <p:cBhvr>
                                        <p:cTn id="36" dur="250"/>
                                        <p:tgtEl>
                                          <p:spTgt spid="80"/>
                                        </p:tgtEl>
                                      </p:cBhvr>
                                    </p:animEffect>
                                  </p:childTnLst>
                                </p:cTn>
                              </p:par>
                            </p:childTnLst>
                          </p:cTn>
                        </p:par>
                        <p:par>
                          <p:cTn id="37" fill="hold">
                            <p:stCondLst>
                              <p:cond delay="750"/>
                            </p:stCondLst>
                            <p:childTnLst>
                              <p:par>
                                <p:cTn id="38" presetID="10" presetClass="entr" presetSubtype="0" fill="hold" nodeType="afterEffect">
                                  <p:stCondLst>
                                    <p:cond delay="0"/>
                                  </p:stCondLst>
                                  <p:childTnLst>
                                    <p:set>
                                      <p:cBhvr>
                                        <p:cTn id="39" dur="1" fill="hold">
                                          <p:stCondLst>
                                            <p:cond delay="0"/>
                                          </p:stCondLst>
                                        </p:cTn>
                                        <p:tgtEl>
                                          <p:spTgt spid="83"/>
                                        </p:tgtEl>
                                        <p:attrNameLst>
                                          <p:attrName>style.visibility</p:attrName>
                                        </p:attrNameLst>
                                      </p:cBhvr>
                                      <p:to>
                                        <p:strVal val="visible"/>
                                      </p:to>
                                    </p:set>
                                    <p:animEffect transition="in" filter="fade">
                                      <p:cBhvr>
                                        <p:cTn id="40" dur="250"/>
                                        <p:tgtEl>
                                          <p:spTgt spid="83"/>
                                        </p:tgtEl>
                                      </p:cBhvr>
                                    </p:animEffect>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86"/>
                                        </p:tgtEl>
                                        <p:attrNameLst>
                                          <p:attrName>style.visibility</p:attrName>
                                        </p:attrNameLst>
                                      </p:cBhvr>
                                      <p:to>
                                        <p:strVal val="visible"/>
                                      </p:to>
                                    </p:set>
                                    <p:animEffect transition="in" filter="fade">
                                      <p:cBhvr>
                                        <p:cTn id="44" dur="25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7" descr="Diagram&#10;&#10;Description automatically generated"/>
          <p:cNvPicPr preferRelativeResize="0"/>
          <p:nvPr/>
        </p:nvPicPr>
        <p:blipFill rotWithShape="1">
          <a:blip r:embed="rId3">
            <a:alphaModFix/>
          </a:blip>
          <a:srcRect/>
          <a:stretch/>
        </p:blipFill>
        <p:spPr>
          <a:xfrm>
            <a:off x="7160968" y="431106"/>
            <a:ext cx="4825751" cy="2232000"/>
          </a:xfrm>
          <a:prstGeom prst="rect">
            <a:avLst/>
          </a:prstGeom>
          <a:noFill/>
          <a:ln>
            <a:noFill/>
          </a:ln>
        </p:spPr>
      </p:pic>
      <p:sp>
        <p:nvSpPr>
          <p:cNvPr id="184" name="Google Shape;184;p7"/>
          <p:cNvSpPr txBox="1">
            <a:spLocks noGrp="1"/>
          </p:cNvSpPr>
          <p:nvPr>
            <p:ph type="title"/>
          </p:nvPr>
        </p:nvSpPr>
        <p:spPr>
          <a:xfrm>
            <a:off x="609602" y="457200"/>
            <a:ext cx="6782542" cy="99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2800"/>
              <a:buFont typeface="Arial"/>
              <a:buNone/>
            </a:pPr>
            <a:r>
              <a:rPr lang="en-US"/>
              <a:t>Simscape Battery             </a:t>
            </a:r>
            <a:br>
              <a:rPr lang="en-US"/>
            </a:br>
            <a:r>
              <a:rPr lang="en-US" sz="2400">
                <a:solidFill>
                  <a:srgbClr val="595959"/>
                </a:solidFill>
              </a:rPr>
              <a:t>Overview</a:t>
            </a:r>
            <a:endParaRPr>
              <a:solidFill>
                <a:srgbClr val="595959"/>
              </a:solidFill>
            </a:endParaRPr>
          </a:p>
        </p:txBody>
      </p:sp>
      <p:sp>
        <p:nvSpPr>
          <p:cNvPr id="185" name="Google Shape;185;p7"/>
          <p:cNvSpPr txBox="1">
            <a:spLocks noGrp="1"/>
          </p:cNvSpPr>
          <p:nvPr>
            <p:ph type="body" idx="1"/>
          </p:nvPr>
        </p:nvSpPr>
        <p:spPr>
          <a:xfrm>
            <a:off x="609602" y="1600200"/>
            <a:ext cx="5245766" cy="4648200"/>
          </a:xfrm>
          <a:prstGeom prst="rect">
            <a:avLst/>
          </a:prstGeom>
          <a:noFill/>
          <a:ln>
            <a:noFill/>
          </a:ln>
        </p:spPr>
        <p:txBody>
          <a:bodyPr spcFirstLastPara="1" wrap="square" lIns="91425" tIns="45700" rIns="91425" bIns="45700" anchor="t" anchorCtr="0">
            <a:noAutofit/>
          </a:bodyPr>
          <a:lstStyle/>
          <a:p>
            <a:pPr lvl="0" algn="l" rtl="0">
              <a:spcBef>
                <a:spcPts val="0"/>
              </a:spcBef>
              <a:spcAft>
                <a:spcPts val="0"/>
              </a:spcAft>
              <a:buSzPts val="1800"/>
              <a:buFont typeface="Arial" panose="020B0604020202020204" pitchFamily="34" charset="0"/>
              <a:buChar char="•"/>
            </a:pPr>
            <a:r>
              <a:rPr lang="en-US" dirty="0"/>
              <a:t>Design and simulate</a:t>
            </a:r>
            <a:r>
              <a:rPr lang="en-US" b="1" dirty="0"/>
              <a:t> battery </a:t>
            </a:r>
            <a:r>
              <a:rPr lang="en-US" dirty="0"/>
              <a:t>and</a:t>
            </a:r>
            <a:r>
              <a:rPr lang="en-US" b="1" dirty="0"/>
              <a:t> energy storage systems</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Electrothermal cell </a:t>
            </a:r>
            <a:r>
              <a:rPr lang="en-US" dirty="0" err="1"/>
              <a:t>behaviour</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Battery pack design</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Battery management systems (BMS)</a:t>
            </a:r>
            <a:endParaRPr dirty="0"/>
          </a:p>
          <a:p>
            <a:pPr marL="1278821" lvl="2" indent="-285750" algn="l" rtl="0">
              <a:lnSpc>
                <a:spcPct val="105000"/>
              </a:lnSpc>
              <a:spcBef>
                <a:spcPts val="321"/>
              </a:spcBef>
              <a:spcAft>
                <a:spcPts val="0"/>
              </a:spcAft>
              <a:buSzPts val="1203"/>
              <a:buFont typeface="Arial" panose="020B0604020202020204" pitchFamily="34" charset="0"/>
              <a:buChar char="•"/>
            </a:pPr>
            <a:endParaRPr dirty="0"/>
          </a:p>
          <a:p>
            <a:pPr lvl="0" algn="l" rtl="0">
              <a:spcBef>
                <a:spcPts val="480"/>
              </a:spcBef>
              <a:spcAft>
                <a:spcPts val="0"/>
              </a:spcAft>
              <a:buSzPts val="1800"/>
              <a:buFont typeface="Arial" panose="020B0604020202020204" pitchFamily="34" charset="0"/>
              <a:buChar char="•"/>
            </a:pPr>
            <a:r>
              <a:rPr lang="en-US" dirty="0"/>
              <a:t>With </a:t>
            </a:r>
            <a:r>
              <a:rPr lang="en-US" b="1" dirty="0" err="1"/>
              <a:t>Simscape</a:t>
            </a:r>
            <a:r>
              <a:rPr lang="en-US" b="1" dirty="0"/>
              <a:t> Battery</a:t>
            </a:r>
            <a:r>
              <a:rPr lang="en-US" dirty="0"/>
              <a:t>,</a:t>
            </a:r>
            <a:r>
              <a:rPr lang="en-US" b="1" dirty="0"/>
              <a:t> </a:t>
            </a:r>
            <a:r>
              <a:rPr lang="en-US" dirty="0"/>
              <a:t>you can</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Evaluate pack architectures for electrical and thermal requirements</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Verify robustness of discharge, charge and thermal management algorithms</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Validate algorithms using HIL testing</a:t>
            </a:r>
            <a:endParaRPr dirty="0"/>
          </a:p>
          <a:p>
            <a:pPr marL="916680" lvl="2" indent="0" algn="l" rtl="0">
              <a:lnSpc>
                <a:spcPct val="105000"/>
              </a:lnSpc>
              <a:spcBef>
                <a:spcPts val="321"/>
              </a:spcBef>
              <a:spcAft>
                <a:spcPts val="0"/>
              </a:spcAft>
              <a:buSzPts val="1203"/>
              <a:buNone/>
            </a:pPr>
            <a:endParaRPr dirty="0"/>
          </a:p>
          <a:p>
            <a:pPr marL="744802" lvl="1" indent="-159462" algn="l" rtl="0">
              <a:lnSpc>
                <a:spcPct val="105000"/>
              </a:lnSpc>
              <a:spcBef>
                <a:spcPts val="400"/>
              </a:spcBef>
              <a:spcAft>
                <a:spcPts val="0"/>
              </a:spcAft>
              <a:buSzPts val="2000"/>
              <a:buNone/>
            </a:pPr>
            <a:endParaRPr dirty="0"/>
          </a:p>
        </p:txBody>
      </p:sp>
      <p:pic>
        <p:nvPicPr>
          <p:cNvPr id="186" name="Google Shape;186;p7"/>
          <p:cNvPicPr preferRelativeResize="0"/>
          <p:nvPr/>
        </p:nvPicPr>
        <p:blipFill rotWithShape="1">
          <a:blip r:embed="rId4">
            <a:alphaModFix/>
          </a:blip>
          <a:srcRect/>
          <a:stretch/>
        </p:blipFill>
        <p:spPr>
          <a:xfrm>
            <a:off x="6424864" y="2764072"/>
            <a:ext cx="5620077" cy="398771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5">
                                            <p:txEl>
                                              <p:pRg st="0" end="0"/>
                                            </p:txEl>
                                          </p:spTgt>
                                        </p:tgtEl>
                                        <p:attrNameLst>
                                          <p:attrName>style.visibility</p:attrName>
                                        </p:attrNameLst>
                                      </p:cBhvr>
                                      <p:to>
                                        <p:strVal val="visible"/>
                                      </p:to>
                                    </p:set>
                                    <p:animEffect transition="in" filter="fade">
                                      <p:cBhvr>
                                        <p:cTn id="7" dur="500"/>
                                        <p:tgtEl>
                                          <p:spTgt spid="1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5">
                                            <p:txEl>
                                              <p:pRg st="1" end="1"/>
                                            </p:txEl>
                                          </p:spTgt>
                                        </p:tgtEl>
                                        <p:attrNameLst>
                                          <p:attrName>style.visibility</p:attrName>
                                        </p:attrNameLst>
                                      </p:cBhvr>
                                      <p:to>
                                        <p:strVal val="visible"/>
                                      </p:to>
                                    </p:set>
                                    <p:animEffect transition="in" filter="fade">
                                      <p:cBhvr>
                                        <p:cTn id="12" dur="500"/>
                                        <p:tgtEl>
                                          <p:spTgt spid="1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5">
                                            <p:txEl>
                                              <p:pRg st="2" end="2"/>
                                            </p:txEl>
                                          </p:spTgt>
                                        </p:tgtEl>
                                        <p:attrNameLst>
                                          <p:attrName>style.visibility</p:attrName>
                                        </p:attrNameLst>
                                      </p:cBhvr>
                                      <p:to>
                                        <p:strVal val="visible"/>
                                      </p:to>
                                    </p:set>
                                    <p:animEffect transition="in" filter="fade">
                                      <p:cBhvr>
                                        <p:cTn id="17" dur="500"/>
                                        <p:tgtEl>
                                          <p:spTgt spid="18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5">
                                            <p:txEl>
                                              <p:pRg st="3" end="3"/>
                                            </p:txEl>
                                          </p:spTgt>
                                        </p:tgtEl>
                                        <p:attrNameLst>
                                          <p:attrName>style.visibility</p:attrName>
                                        </p:attrNameLst>
                                      </p:cBhvr>
                                      <p:to>
                                        <p:strVal val="visible"/>
                                      </p:to>
                                    </p:set>
                                    <p:animEffect transition="in" filter="fade">
                                      <p:cBhvr>
                                        <p:cTn id="22" dur="500"/>
                                        <p:tgtEl>
                                          <p:spTgt spid="18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5">
                                            <p:txEl>
                                              <p:pRg st="5" end="5"/>
                                            </p:txEl>
                                          </p:spTgt>
                                        </p:tgtEl>
                                        <p:attrNameLst>
                                          <p:attrName>style.visibility</p:attrName>
                                        </p:attrNameLst>
                                      </p:cBhvr>
                                      <p:to>
                                        <p:strVal val="visible"/>
                                      </p:to>
                                    </p:set>
                                    <p:animEffect transition="in" filter="fade">
                                      <p:cBhvr>
                                        <p:cTn id="27" dur="500"/>
                                        <p:tgtEl>
                                          <p:spTgt spid="18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5">
                                            <p:txEl>
                                              <p:pRg st="6" end="6"/>
                                            </p:txEl>
                                          </p:spTgt>
                                        </p:tgtEl>
                                        <p:attrNameLst>
                                          <p:attrName>style.visibility</p:attrName>
                                        </p:attrNameLst>
                                      </p:cBhvr>
                                      <p:to>
                                        <p:strVal val="visible"/>
                                      </p:to>
                                    </p:set>
                                    <p:animEffect transition="in" filter="fade">
                                      <p:cBhvr>
                                        <p:cTn id="32" dur="500"/>
                                        <p:tgtEl>
                                          <p:spTgt spid="18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5">
                                            <p:txEl>
                                              <p:pRg st="7" end="7"/>
                                            </p:txEl>
                                          </p:spTgt>
                                        </p:tgtEl>
                                        <p:attrNameLst>
                                          <p:attrName>style.visibility</p:attrName>
                                        </p:attrNameLst>
                                      </p:cBhvr>
                                      <p:to>
                                        <p:strVal val="visible"/>
                                      </p:to>
                                    </p:set>
                                    <p:animEffect transition="in" filter="fade">
                                      <p:cBhvr>
                                        <p:cTn id="37" dur="500"/>
                                        <p:tgtEl>
                                          <p:spTgt spid="18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5">
                                            <p:txEl>
                                              <p:pRg st="8" end="8"/>
                                            </p:txEl>
                                          </p:spTgt>
                                        </p:tgtEl>
                                        <p:attrNameLst>
                                          <p:attrName>style.visibility</p:attrName>
                                        </p:attrNameLst>
                                      </p:cBhvr>
                                      <p:to>
                                        <p:strVal val="visible"/>
                                      </p:to>
                                    </p:set>
                                    <p:animEffect transition="in" filter="fade">
                                      <p:cBhvr>
                                        <p:cTn id="42" dur="500"/>
                                        <p:tgtEl>
                                          <p:spTgt spid="185">
                                            <p:txEl>
                                              <p:pRg st="8" end="8"/>
                                            </p:txEl>
                                          </p:spTgt>
                                        </p:tgtEl>
                                      </p:cBhvr>
                                    </p:animEffect>
                                  </p:childTnLst>
                                </p:cTn>
                              </p:par>
                            </p:childTnLst>
                          </p:cTn>
                        </p:par>
                        <p:par>
                          <p:cTn id="43" fill="hold">
                            <p:stCondLst>
                              <p:cond delay="500"/>
                            </p:stCondLst>
                            <p:childTnLst>
                              <p:par>
                                <p:cTn id="44" presetID="10" presetClass="entr" presetSubtype="0" fill="hold" nodeType="afterEffect">
                                  <p:stCondLst>
                                    <p:cond delay="0"/>
                                  </p:stCondLst>
                                  <p:childTnLst>
                                    <p:set>
                                      <p:cBhvr>
                                        <p:cTn id="45" dur="1" fill="hold">
                                          <p:stCondLst>
                                            <p:cond delay="0"/>
                                          </p:stCondLst>
                                        </p:cTn>
                                        <p:tgtEl>
                                          <p:spTgt spid="183"/>
                                        </p:tgtEl>
                                        <p:attrNameLst>
                                          <p:attrName>style.visibility</p:attrName>
                                        </p:attrNameLst>
                                      </p:cBhvr>
                                      <p:to>
                                        <p:strVal val="visible"/>
                                      </p:to>
                                    </p:set>
                                    <p:animEffect transition="in" filter="fade">
                                      <p:cBhvr>
                                        <p:cTn id="46" dur="250"/>
                                        <p:tgtEl>
                                          <p:spTgt spid="183"/>
                                        </p:tgtEl>
                                      </p:cBhvr>
                                    </p:animEffect>
                                  </p:childTnLst>
                                </p:cTn>
                              </p:par>
                            </p:childTnLst>
                          </p:cTn>
                        </p:par>
                        <p:par>
                          <p:cTn id="47" fill="hold">
                            <p:stCondLst>
                              <p:cond delay="750"/>
                            </p:stCondLst>
                            <p:childTnLst>
                              <p:par>
                                <p:cTn id="48" presetID="10" presetClass="entr" presetSubtype="0" fill="hold" nodeType="afterEffect">
                                  <p:stCondLst>
                                    <p:cond delay="0"/>
                                  </p:stCondLst>
                                  <p:childTnLst>
                                    <p:set>
                                      <p:cBhvr>
                                        <p:cTn id="49" dur="1" fill="hold">
                                          <p:stCondLst>
                                            <p:cond delay="0"/>
                                          </p:stCondLst>
                                        </p:cTn>
                                        <p:tgtEl>
                                          <p:spTgt spid="186"/>
                                        </p:tgtEl>
                                        <p:attrNameLst>
                                          <p:attrName>style.visibility</p:attrName>
                                        </p:attrNameLst>
                                      </p:cBhvr>
                                      <p:to>
                                        <p:strVal val="visible"/>
                                      </p:to>
                                    </p:set>
                                    <p:animEffect transition="in" filter="fade">
                                      <p:cBhvr>
                                        <p:cTn id="50" dur="250"/>
                                        <p:tgtEl>
                                          <p:spTgt spid="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9" descr="A picture containing company name&#10;&#10;Description automatically generated"/>
          <p:cNvPicPr preferRelativeResize="0"/>
          <p:nvPr/>
        </p:nvPicPr>
        <p:blipFill rotWithShape="1">
          <a:blip r:embed="rId3">
            <a:alphaModFix/>
          </a:blip>
          <a:srcRect/>
          <a:stretch/>
        </p:blipFill>
        <p:spPr>
          <a:xfrm>
            <a:off x="7139711" y="425794"/>
            <a:ext cx="4846864" cy="2241766"/>
          </a:xfrm>
          <a:prstGeom prst="rect">
            <a:avLst/>
          </a:prstGeom>
          <a:noFill/>
          <a:ln>
            <a:noFill/>
          </a:ln>
        </p:spPr>
      </p:pic>
      <p:sp>
        <p:nvSpPr>
          <p:cNvPr id="201" name="Google Shape;201;p9"/>
          <p:cNvSpPr txBox="1">
            <a:spLocks noGrp="1"/>
          </p:cNvSpPr>
          <p:nvPr>
            <p:ph type="title"/>
          </p:nvPr>
        </p:nvSpPr>
        <p:spPr>
          <a:xfrm>
            <a:off x="609602" y="457200"/>
            <a:ext cx="10769600" cy="99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2800"/>
              <a:buFont typeface="Arial"/>
              <a:buNone/>
            </a:pPr>
            <a:r>
              <a:rPr lang="en-US"/>
              <a:t>Simscape Fluids</a:t>
            </a:r>
            <a:br>
              <a:rPr lang="en-US"/>
            </a:br>
            <a:r>
              <a:rPr lang="en-US" sz="2400">
                <a:solidFill>
                  <a:srgbClr val="595959"/>
                </a:solidFill>
              </a:rPr>
              <a:t>Overview</a:t>
            </a:r>
            <a:endParaRPr>
              <a:solidFill>
                <a:srgbClr val="595959"/>
              </a:solidFill>
            </a:endParaRPr>
          </a:p>
        </p:txBody>
      </p:sp>
      <p:sp>
        <p:nvSpPr>
          <p:cNvPr id="202" name="Google Shape;202;p9"/>
          <p:cNvSpPr txBox="1">
            <a:spLocks noGrp="1"/>
          </p:cNvSpPr>
          <p:nvPr>
            <p:ph type="body" idx="1"/>
          </p:nvPr>
        </p:nvSpPr>
        <p:spPr>
          <a:xfrm>
            <a:off x="609602" y="1600200"/>
            <a:ext cx="10769600" cy="4648200"/>
          </a:xfrm>
          <a:prstGeom prst="rect">
            <a:avLst/>
          </a:prstGeom>
          <a:noFill/>
          <a:ln>
            <a:noFill/>
          </a:ln>
        </p:spPr>
        <p:txBody>
          <a:bodyPr spcFirstLastPara="1" wrap="square" lIns="91425" tIns="45700" rIns="91425" bIns="45700" anchor="t" anchorCtr="0">
            <a:noAutofit/>
          </a:bodyPr>
          <a:lstStyle/>
          <a:p>
            <a:pPr lvl="0" algn="l" rtl="0">
              <a:spcBef>
                <a:spcPts val="0"/>
              </a:spcBef>
              <a:spcAft>
                <a:spcPts val="0"/>
              </a:spcAft>
              <a:buSzPts val="1800"/>
              <a:buFont typeface="Arial" panose="020B0604020202020204" pitchFamily="34" charset="0"/>
              <a:buChar char="•"/>
            </a:pPr>
            <a:r>
              <a:rPr lang="en-US" dirty="0"/>
              <a:t>Enables physical modelling of </a:t>
            </a:r>
            <a:r>
              <a:rPr lang="en-US" b="1" dirty="0"/>
              <a:t>fluid systems</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Fluid power, heating, cooling, </a:t>
            </a:r>
            <a:br>
              <a:rPr lang="en-US" dirty="0"/>
            </a:br>
            <a:r>
              <a:rPr lang="en-US" dirty="0"/>
              <a:t>and fluid transportation</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Liquids, gases, and multiphase fluids</a:t>
            </a:r>
            <a:endParaRPr dirty="0"/>
          </a:p>
          <a:p>
            <a:pPr marL="1660771" lvl="3" indent="-285750" algn="l" rtl="0">
              <a:lnSpc>
                <a:spcPct val="105000"/>
              </a:lnSpc>
              <a:spcBef>
                <a:spcPts val="321"/>
              </a:spcBef>
              <a:spcAft>
                <a:spcPts val="0"/>
              </a:spcAft>
              <a:buClr>
                <a:schemeClr val="dk1"/>
              </a:buClr>
              <a:buSzPts val="1604"/>
              <a:buFont typeface="Arial" panose="020B0604020202020204" pitchFamily="34" charset="0"/>
              <a:buChar char="•"/>
            </a:pPr>
            <a:endParaRPr dirty="0"/>
          </a:p>
          <a:p>
            <a:pPr lvl="0" algn="l" rtl="0">
              <a:spcBef>
                <a:spcPts val="480"/>
              </a:spcBef>
              <a:spcAft>
                <a:spcPts val="0"/>
              </a:spcAft>
              <a:buSzPts val="1800"/>
              <a:buFont typeface="Arial" panose="020B0604020202020204" pitchFamily="34" charset="0"/>
              <a:buChar char="•"/>
            </a:pPr>
            <a:r>
              <a:rPr lang="en-US" dirty="0"/>
              <a:t>With </a:t>
            </a:r>
            <a:r>
              <a:rPr lang="en-US" b="1" dirty="0" err="1"/>
              <a:t>Simscape</a:t>
            </a:r>
            <a:r>
              <a:rPr lang="en-US" b="1" dirty="0"/>
              <a:t> Fluids</a:t>
            </a:r>
            <a:r>
              <a:rPr lang="en-US" dirty="0"/>
              <a:t>,</a:t>
            </a:r>
            <a:r>
              <a:rPr lang="en-US" b="1" dirty="0"/>
              <a:t> </a:t>
            </a:r>
            <a:r>
              <a:rPr lang="en-US" dirty="0"/>
              <a:t>you can</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Refine requirements for fluid systems </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Discover integration issues early</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Design control algorithms and logic</a:t>
            </a:r>
            <a:br>
              <a:rPr lang="en-US" dirty="0"/>
            </a:br>
            <a:r>
              <a:rPr lang="en-US" dirty="0"/>
              <a:t>within the Simulink environment</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Test embedded software</a:t>
            </a:r>
            <a:br>
              <a:rPr lang="en-US" dirty="0"/>
            </a:br>
            <a:r>
              <a:rPr lang="en-US" dirty="0"/>
              <a:t>without hardware prototypes</a:t>
            </a:r>
            <a:endParaRPr dirty="0"/>
          </a:p>
          <a:p>
            <a:pPr marL="343755" lvl="0" indent="-229455" algn="l" rtl="0">
              <a:spcBef>
                <a:spcPts val="480"/>
              </a:spcBef>
              <a:spcAft>
                <a:spcPts val="0"/>
              </a:spcAft>
              <a:buSzPts val="1800"/>
              <a:buNone/>
            </a:pPr>
            <a:endParaRPr dirty="0"/>
          </a:p>
        </p:txBody>
      </p:sp>
      <p:grpSp>
        <p:nvGrpSpPr>
          <p:cNvPr id="203" name="Google Shape;203;p9"/>
          <p:cNvGrpSpPr/>
          <p:nvPr/>
        </p:nvGrpSpPr>
        <p:grpSpPr>
          <a:xfrm>
            <a:off x="6800662" y="4281266"/>
            <a:ext cx="2235692" cy="2511416"/>
            <a:chOff x="7011262" y="1971119"/>
            <a:chExt cx="3073708" cy="3452783"/>
          </a:xfrm>
        </p:grpSpPr>
        <p:pic>
          <p:nvPicPr>
            <p:cNvPr id="204" name="Google Shape;204;p9"/>
            <p:cNvPicPr preferRelativeResize="0"/>
            <p:nvPr/>
          </p:nvPicPr>
          <p:blipFill rotWithShape="1">
            <a:blip r:embed="rId4">
              <a:alphaModFix/>
            </a:blip>
            <a:srcRect/>
            <a:stretch/>
          </p:blipFill>
          <p:spPr>
            <a:xfrm>
              <a:off x="7011262" y="1971119"/>
              <a:ext cx="3073708" cy="3452783"/>
            </a:xfrm>
            <a:prstGeom prst="rect">
              <a:avLst/>
            </a:prstGeom>
            <a:noFill/>
            <a:ln>
              <a:noFill/>
            </a:ln>
          </p:spPr>
        </p:pic>
        <p:pic>
          <p:nvPicPr>
            <p:cNvPr id="205" name="Google Shape;205;p9"/>
            <p:cNvPicPr preferRelativeResize="0"/>
            <p:nvPr/>
          </p:nvPicPr>
          <p:blipFill rotWithShape="1">
            <a:blip r:embed="rId5">
              <a:alphaModFix/>
            </a:blip>
            <a:srcRect l="4669" b="3543"/>
            <a:stretch/>
          </p:blipFill>
          <p:spPr>
            <a:xfrm>
              <a:off x="7218628" y="2409341"/>
              <a:ext cx="2833272" cy="2991701"/>
            </a:xfrm>
            <a:prstGeom prst="rect">
              <a:avLst/>
            </a:prstGeom>
            <a:noFill/>
            <a:ln>
              <a:noFill/>
            </a:ln>
          </p:spPr>
        </p:pic>
      </p:grpSp>
      <p:grpSp>
        <p:nvGrpSpPr>
          <p:cNvPr id="206" name="Google Shape;206;p9"/>
          <p:cNvGrpSpPr/>
          <p:nvPr/>
        </p:nvGrpSpPr>
        <p:grpSpPr>
          <a:xfrm>
            <a:off x="9805929" y="4281264"/>
            <a:ext cx="2235693" cy="2511417"/>
            <a:chOff x="7005193" y="1962696"/>
            <a:chExt cx="3083365" cy="3463631"/>
          </a:xfrm>
        </p:grpSpPr>
        <p:pic>
          <p:nvPicPr>
            <p:cNvPr id="207" name="Google Shape;207;p9"/>
            <p:cNvPicPr preferRelativeResize="0"/>
            <p:nvPr/>
          </p:nvPicPr>
          <p:blipFill rotWithShape="1">
            <a:blip r:embed="rId6">
              <a:alphaModFix/>
            </a:blip>
            <a:srcRect/>
            <a:stretch/>
          </p:blipFill>
          <p:spPr>
            <a:xfrm>
              <a:off x="7005193" y="1962696"/>
              <a:ext cx="3083365" cy="3463631"/>
            </a:xfrm>
            <a:prstGeom prst="rect">
              <a:avLst/>
            </a:prstGeom>
            <a:noFill/>
            <a:ln>
              <a:noFill/>
            </a:ln>
          </p:spPr>
        </p:pic>
        <p:pic>
          <p:nvPicPr>
            <p:cNvPr id="208" name="Google Shape;208;p9"/>
            <p:cNvPicPr preferRelativeResize="0"/>
            <p:nvPr/>
          </p:nvPicPr>
          <p:blipFill rotWithShape="1">
            <a:blip r:embed="rId7">
              <a:alphaModFix/>
            </a:blip>
            <a:srcRect l="8102" r="4989"/>
            <a:stretch/>
          </p:blipFill>
          <p:spPr>
            <a:xfrm>
              <a:off x="7207223" y="2400548"/>
              <a:ext cx="2854568" cy="2949196"/>
            </a:xfrm>
            <a:prstGeom prst="rect">
              <a:avLst/>
            </a:prstGeom>
            <a:noFill/>
            <a:ln>
              <a:noFill/>
            </a:ln>
          </p:spPr>
        </p:pic>
      </p:grpSp>
      <p:pic>
        <p:nvPicPr>
          <p:cNvPr id="209" name="Google Shape;209;p9"/>
          <p:cNvPicPr preferRelativeResize="0"/>
          <p:nvPr/>
        </p:nvPicPr>
        <p:blipFill rotWithShape="1">
          <a:blip r:embed="rId8">
            <a:alphaModFix/>
          </a:blip>
          <a:srcRect/>
          <a:stretch/>
        </p:blipFill>
        <p:spPr>
          <a:xfrm>
            <a:off x="6292924" y="2720209"/>
            <a:ext cx="1713555" cy="1561057"/>
          </a:xfrm>
          <a:prstGeom prst="rect">
            <a:avLst/>
          </a:prstGeom>
          <a:noFill/>
          <a:ln>
            <a:noFill/>
          </a:ln>
        </p:spPr>
      </p:pic>
      <p:pic>
        <p:nvPicPr>
          <p:cNvPr id="210" name="Google Shape;210;p9"/>
          <p:cNvPicPr preferRelativeResize="0"/>
          <p:nvPr/>
        </p:nvPicPr>
        <p:blipFill rotWithShape="1">
          <a:blip r:embed="rId9">
            <a:alphaModFix/>
          </a:blip>
          <a:srcRect/>
          <a:stretch/>
        </p:blipFill>
        <p:spPr>
          <a:xfrm>
            <a:off x="9036354" y="2720208"/>
            <a:ext cx="2113541" cy="156105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2">
                                            <p:txEl>
                                              <p:pRg st="0" end="0"/>
                                            </p:txEl>
                                          </p:spTgt>
                                        </p:tgtEl>
                                        <p:attrNameLst>
                                          <p:attrName>style.visibility</p:attrName>
                                        </p:attrNameLst>
                                      </p:cBhvr>
                                      <p:to>
                                        <p:strVal val="visible"/>
                                      </p:to>
                                    </p:set>
                                    <p:animEffect transition="in" filter="fade">
                                      <p:cBhvr>
                                        <p:cTn id="7" dur="500"/>
                                        <p:tgtEl>
                                          <p:spTgt spid="2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2">
                                            <p:txEl>
                                              <p:pRg st="1" end="1"/>
                                            </p:txEl>
                                          </p:spTgt>
                                        </p:tgtEl>
                                        <p:attrNameLst>
                                          <p:attrName>style.visibility</p:attrName>
                                        </p:attrNameLst>
                                      </p:cBhvr>
                                      <p:to>
                                        <p:strVal val="visible"/>
                                      </p:to>
                                    </p:set>
                                    <p:animEffect transition="in" filter="fade">
                                      <p:cBhvr>
                                        <p:cTn id="12" dur="500"/>
                                        <p:tgtEl>
                                          <p:spTgt spid="20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2">
                                            <p:txEl>
                                              <p:pRg st="2" end="2"/>
                                            </p:txEl>
                                          </p:spTgt>
                                        </p:tgtEl>
                                        <p:attrNameLst>
                                          <p:attrName>style.visibility</p:attrName>
                                        </p:attrNameLst>
                                      </p:cBhvr>
                                      <p:to>
                                        <p:strVal val="visible"/>
                                      </p:to>
                                    </p:set>
                                    <p:animEffect transition="in" filter="fade">
                                      <p:cBhvr>
                                        <p:cTn id="17" dur="500"/>
                                        <p:tgtEl>
                                          <p:spTgt spid="20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2">
                                            <p:txEl>
                                              <p:pRg st="4" end="4"/>
                                            </p:txEl>
                                          </p:spTgt>
                                        </p:tgtEl>
                                        <p:attrNameLst>
                                          <p:attrName>style.visibility</p:attrName>
                                        </p:attrNameLst>
                                      </p:cBhvr>
                                      <p:to>
                                        <p:strVal val="visible"/>
                                      </p:to>
                                    </p:set>
                                    <p:animEffect transition="in" filter="fade">
                                      <p:cBhvr>
                                        <p:cTn id="22" dur="500"/>
                                        <p:tgtEl>
                                          <p:spTgt spid="20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2">
                                            <p:txEl>
                                              <p:pRg st="5" end="5"/>
                                            </p:txEl>
                                          </p:spTgt>
                                        </p:tgtEl>
                                        <p:attrNameLst>
                                          <p:attrName>style.visibility</p:attrName>
                                        </p:attrNameLst>
                                      </p:cBhvr>
                                      <p:to>
                                        <p:strVal val="visible"/>
                                      </p:to>
                                    </p:set>
                                    <p:animEffect transition="in" filter="fade">
                                      <p:cBhvr>
                                        <p:cTn id="27" dur="500"/>
                                        <p:tgtEl>
                                          <p:spTgt spid="20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2">
                                            <p:txEl>
                                              <p:pRg st="6" end="6"/>
                                            </p:txEl>
                                          </p:spTgt>
                                        </p:tgtEl>
                                        <p:attrNameLst>
                                          <p:attrName>style.visibility</p:attrName>
                                        </p:attrNameLst>
                                      </p:cBhvr>
                                      <p:to>
                                        <p:strVal val="visible"/>
                                      </p:to>
                                    </p:set>
                                    <p:animEffect transition="in" filter="fade">
                                      <p:cBhvr>
                                        <p:cTn id="32" dur="500"/>
                                        <p:tgtEl>
                                          <p:spTgt spid="20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2">
                                            <p:txEl>
                                              <p:pRg st="7" end="7"/>
                                            </p:txEl>
                                          </p:spTgt>
                                        </p:tgtEl>
                                        <p:attrNameLst>
                                          <p:attrName>style.visibility</p:attrName>
                                        </p:attrNameLst>
                                      </p:cBhvr>
                                      <p:to>
                                        <p:strVal val="visible"/>
                                      </p:to>
                                    </p:set>
                                    <p:animEffect transition="in" filter="fade">
                                      <p:cBhvr>
                                        <p:cTn id="37" dur="500"/>
                                        <p:tgtEl>
                                          <p:spTgt spid="20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02">
                                            <p:txEl>
                                              <p:pRg st="8" end="8"/>
                                            </p:txEl>
                                          </p:spTgt>
                                        </p:tgtEl>
                                        <p:attrNameLst>
                                          <p:attrName>style.visibility</p:attrName>
                                        </p:attrNameLst>
                                      </p:cBhvr>
                                      <p:to>
                                        <p:strVal val="visible"/>
                                      </p:to>
                                    </p:set>
                                    <p:animEffect transition="in" filter="fade">
                                      <p:cBhvr>
                                        <p:cTn id="42" dur="500"/>
                                        <p:tgtEl>
                                          <p:spTgt spid="202">
                                            <p:txEl>
                                              <p:pRg st="8" end="8"/>
                                            </p:txEl>
                                          </p:spTgt>
                                        </p:tgtEl>
                                      </p:cBhvr>
                                    </p:animEffect>
                                  </p:childTnLst>
                                </p:cTn>
                              </p:par>
                            </p:childTnLst>
                          </p:cTn>
                        </p:par>
                        <p:par>
                          <p:cTn id="43" fill="hold">
                            <p:stCondLst>
                              <p:cond delay="500"/>
                            </p:stCondLst>
                            <p:childTnLst>
                              <p:par>
                                <p:cTn id="44" presetID="10" presetClass="entr" presetSubtype="0" fill="hold" nodeType="afterEffect">
                                  <p:stCondLst>
                                    <p:cond delay="0"/>
                                  </p:stCondLst>
                                  <p:childTnLst>
                                    <p:set>
                                      <p:cBhvr>
                                        <p:cTn id="45" dur="1" fill="hold">
                                          <p:stCondLst>
                                            <p:cond delay="0"/>
                                          </p:stCondLst>
                                        </p:cTn>
                                        <p:tgtEl>
                                          <p:spTgt spid="200"/>
                                        </p:tgtEl>
                                        <p:attrNameLst>
                                          <p:attrName>style.visibility</p:attrName>
                                        </p:attrNameLst>
                                      </p:cBhvr>
                                      <p:to>
                                        <p:strVal val="visible"/>
                                      </p:to>
                                    </p:set>
                                    <p:animEffect transition="in" filter="fade">
                                      <p:cBhvr>
                                        <p:cTn id="46" dur="250"/>
                                        <p:tgtEl>
                                          <p:spTgt spid="200"/>
                                        </p:tgtEl>
                                      </p:cBhvr>
                                    </p:animEffect>
                                  </p:childTnLst>
                                </p:cTn>
                              </p:par>
                            </p:childTnLst>
                          </p:cTn>
                        </p:par>
                        <p:par>
                          <p:cTn id="47" fill="hold">
                            <p:stCondLst>
                              <p:cond delay="750"/>
                            </p:stCondLst>
                            <p:childTnLst>
                              <p:par>
                                <p:cTn id="48" presetID="10" presetClass="entr" presetSubtype="0" fill="hold" nodeType="afterEffect">
                                  <p:stCondLst>
                                    <p:cond delay="0"/>
                                  </p:stCondLst>
                                  <p:childTnLst>
                                    <p:set>
                                      <p:cBhvr>
                                        <p:cTn id="49" dur="1" fill="hold">
                                          <p:stCondLst>
                                            <p:cond delay="0"/>
                                          </p:stCondLst>
                                        </p:cTn>
                                        <p:tgtEl>
                                          <p:spTgt spid="209"/>
                                        </p:tgtEl>
                                        <p:attrNameLst>
                                          <p:attrName>style.visibility</p:attrName>
                                        </p:attrNameLst>
                                      </p:cBhvr>
                                      <p:to>
                                        <p:strVal val="visible"/>
                                      </p:to>
                                    </p:set>
                                    <p:animEffect transition="in" filter="fade">
                                      <p:cBhvr>
                                        <p:cTn id="50" dur="250"/>
                                        <p:tgtEl>
                                          <p:spTgt spid="209"/>
                                        </p:tgtEl>
                                      </p:cBhvr>
                                    </p:animEffect>
                                  </p:childTnLst>
                                </p:cTn>
                              </p:par>
                              <p:par>
                                <p:cTn id="51" presetID="10" presetClass="entr" presetSubtype="0" fill="hold" nodeType="withEffect">
                                  <p:stCondLst>
                                    <p:cond delay="0"/>
                                  </p:stCondLst>
                                  <p:childTnLst>
                                    <p:set>
                                      <p:cBhvr>
                                        <p:cTn id="52" dur="1" fill="hold">
                                          <p:stCondLst>
                                            <p:cond delay="0"/>
                                          </p:stCondLst>
                                        </p:cTn>
                                        <p:tgtEl>
                                          <p:spTgt spid="203"/>
                                        </p:tgtEl>
                                        <p:attrNameLst>
                                          <p:attrName>style.visibility</p:attrName>
                                        </p:attrNameLst>
                                      </p:cBhvr>
                                      <p:to>
                                        <p:strVal val="visible"/>
                                      </p:to>
                                    </p:set>
                                    <p:animEffect transition="in" filter="fade">
                                      <p:cBhvr>
                                        <p:cTn id="53" dur="250"/>
                                        <p:tgtEl>
                                          <p:spTgt spid="203"/>
                                        </p:tgtEl>
                                      </p:cBhvr>
                                    </p:animEffect>
                                  </p:childTnLst>
                                </p:cTn>
                              </p:par>
                            </p:childTnLst>
                          </p:cTn>
                        </p:par>
                        <p:par>
                          <p:cTn id="54" fill="hold">
                            <p:stCondLst>
                              <p:cond delay="1000"/>
                            </p:stCondLst>
                            <p:childTnLst>
                              <p:par>
                                <p:cTn id="55" presetID="10" presetClass="entr" presetSubtype="0" fill="hold" nodeType="afterEffect">
                                  <p:stCondLst>
                                    <p:cond delay="0"/>
                                  </p:stCondLst>
                                  <p:childTnLst>
                                    <p:set>
                                      <p:cBhvr>
                                        <p:cTn id="56" dur="1" fill="hold">
                                          <p:stCondLst>
                                            <p:cond delay="0"/>
                                          </p:stCondLst>
                                        </p:cTn>
                                        <p:tgtEl>
                                          <p:spTgt spid="210"/>
                                        </p:tgtEl>
                                        <p:attrNameLst>
                                          <p:attrName>style.visibility</p:attrName>
                                        </p:attrNameLst>
                                      </p:cBhvr>
                                      <p:to>
                                        <p:strVal val="visible"/>
                                      </p:to>
                                    </p:set>
                                    <p:animEffect transition="in" filter="fade">
                                      <p:cBhvr>
                                        <p:cTn id="57" dur="250"/>
                                        <p:tgtEl>
                                          <p:spTgt spid="210"/>
                                        </p:tgtEl>
                                      </p:cBhvr>
                                    </p:animEffect>
                                  </p:childTnLst>
                                </p:cTn>
                              </p:par>
                              <p:par>
                                <p:cTn id="58" presetID="10" presetClass="entr" presetSubtype="0" fill="hold" nodeType="withEffect">
                                  <p:stCondLst>
                                    <p:cond delay="0"/>
                                  </p:stCondLst>
                                  <p:childTnLst>
                                    <p:set>
                                      <p:cBhvr>
                                        <p:cTn id="59" dur="1" fill="hold">
                                          <p:stCondLst>
                                            <p:cond delay="0"/>
                                          </p:stCondLst>
                                        </p:cTn>
                                        <p:tgtEl>
                                          <p:spTgt spid="206"/>
                                        </p:tgtEl>
                                        <p:attrNameLst>
                                          <p:attrName>style.visibility</p:attrName>
                                        </p:attrNameLst>
                                      </p:cBhvr>
                                      <p:to>
                                        <p:strVal val="visible"/>
                                      </p:to>
                                    </p:set>
                                    <p:animEffect transition="in" filter="fade">
                                      <p:cBhvr>
                                        <p:cTn id="60" dur="250"/>
                                        <p:tgtEl>
                                          <p:spTgt spid="206"/>
                                        </p:tgtEl>
                                      </p:cBhvr>
                                    </p:animEffect>
                                  </p:childTnLst>
                                </p:cTn>
                              </p:par>
                            </p:childTnLst>
                          </p:cTn>
                        </p:par>
                        <p:par>
                          <p:cTn id="61" fill="hold">
                            <p:stCondLst>
                              <p:cond delay="1250"/>
                            </p:stCondLst>
                            <p:childTnLst>
                              <p:par>
                                <p:cTn id="62" presetID="10" presetClass="entr" presetSubtype="0" fill="hold" nodeType="afterEffect">
                                  <p:stCondLst>
                                    <p:cond delay="0"/>
                                  </p:stCondLst>
                                  <p:childTnLst>
                                    <p:set>
                                      <p:cBhvr>
                                        <p:cTn id="63" dur="1" fill="hold">
                                          <p:stCondLst>
                                            <p:cond delay="0"/>
                                          </p:stCondLst>
                                        </p:cTn>
                                        <p:tgtEl>
                                          <p:spTgt spid="209"/>
                                        </p:tgtEl>
                                        <p:attrNameLst>
                                          <p:attrName>style.visibility</p:attrName>
                                        </p:attrNameLst>
                                      </p:cBhvr>
                                      <p:to>
                                        <p:strVal val="visible"/>
                                      </p:to>
                                    </p:set>
                                    <p:animEffect transition="in" filter="fade">
                                      <p:cBhvr>
                                        <p:cTn id="64" dur="4033"/>
                                        <p:tgtEl>
                                          <p:spTgt spid="209"/>
                                        </p:tgtEl>
                                      </p:cBhvr>
                                    </p:animEffect>
                                  </p:childTnLst>
                                </p:cTn>
                              </p:par>
                              <p:par>
                                <p:cTn id="65" presetID="10" presetClass="entr" presetSubtype="0" fill="hold" nodeType="withEffect">
                                  <p:stCondLst>
                                    <p:cond delay="0"/>
                                  </p:stCondLst>
                                  <p:childTnLst>
                                    <p:set>
                                      <p:cBhvr>
                                        <p:cTn id="66" dur="1" fill="hold">
                                          <p:stCondLst>
                                            <p:cond delay="0"/>
                                          </p:stCondLst>
                                        </p:cTn>
                                        <p:tgtEl>
                                          <p:spTgt spid="210"/>
                                        </p:tgtEl>
                                        <p:attrNameLst>
                                          <p:attrName>style.visibility</p:attrName>
                                        </p:attrNameLst>
                                      </p:cBhvr>
                                      <p:to>
                                        <p:strVal val="visible"/>
                                      </p:to>
                                    </p:set>
                                    <p:animEffect transition="in" filter="fade">
                                      <p:cBhvr>
                                        <p:cTn id="67" dur="2366"/>
                                        <p:tgtEl>
                                          <p:spTgt spid="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1"/>
          <p:cNvSpPr txBox="1">
            <a:spLocks noGrp="1"/>
          </p:cNvSpPr>
          <p:nvPr>
            <p:ph type="title"/>
          </p:nvPr>
        </p:nvSpPr>
        <p:spPr>
          <a:xfrm>
            <a:off x="609602" y="457200"/>
            <a:ext cx="10769600" cy="99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2800"/>
              <a:buFont typeface="Arial"/>
              <a:buNone/>
            </a:pPr>
            <a:r>
              <a:rPr lang="en-US"/>
              <a:t>Simscape Multibody</a:t>
            </a:r>
            <a:br>
              <a:rPr lang="en-US"/>
            </a:br>
            <a:r>
              <a:rPr lang="en-US" sz="2400">
                <a:solidFill>
                  <a:srgbClr val="595959"/>
                </a:solidFill>
              </a:rPr>
              <a:t>Overview</a:t>
            </a:r>
            <a:endParaRPr>
              <a:solidFill>
                <a:srgbClr val="595959"/>
              </a:solidFill>
            </a:endParaRPr>
          </a:p>
        </p:txBody>
      </p:sp>
      <p:sp>
        <p:nvSpPr>
          <p:cNvPr id="224" name="Google Shape;224;p11"/>
          <p:cNvSpPr txBox="1">
            <a:spLocks noGrp="1"/>
          </p:cNvSpPr>
          <p:nvPr>
            <p:ph type="body" idx="1"/>
          </p:nvPr>
        </p:nvSpPr>
        <p:spPr>
          <a:xfrm>
            <a:off x="609602" y="1600200"/>
            <a:ext cx="10769600" cy="4648200"/>
          </a:xfrm>
          <a:prstGeom prst="rect">
            <a:avLst/>
          </a:prstGeom>
          <a:noFill/>
          <a:ln>
            <a:noFill/>
          </a:ln>
        </p:spPr>
        <p:txBody>
          <a:bodyPr spcFirstLastPara="1" wrap="square" lIns="91425" tIns="45700" rIns="91425" bIns="45700" anchor="t" anchorCtr="0">
            <a:noAutofit/>
          </a:bodyPr>
          <a:lstStyle/>
          <a:p>
            <a:pPr lvl="0" algn="l" rtl="0">
              <a:spcBef>
                <a:spcPts val="0"/>
              </a:spcBef>
              <a:spcAft>
                <a:spcPts val="0"/>
              </a:spcAft>
              <a:buSzPts val="1800"/>
              <a:buFont typeface="Arial" panose="020B0604020202020204" pitchFamily="34" charset="0"/>
              <a:buChar char="•"/>
            </a:pPr>
            <a:r>
              <a:rPr lang="en-US" dirty="0"/>
              <a:t>Enables multibody simulation </a:t>
            </a:r>
            <a:br>
              <a:rPr lang="en-US" dirty="0"/>
            </a:br>
            <a:r>
              <a:rPr lang="en-US" dirty="0"/>
              <a:t>of </a:t>
            </a:r>
            <a:r>
              <a:rPr lang="en-US" b="1" dirty="0"/>
              <a:t>3D mechanical systems</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Assemble bodies and joints</a:t>
            </a:r>
            <a:br>
              <a:rPr lang="en-US" dirty="0"/>
            </a:br>
            <a:r>
              <a:rPr lang="en-US" dirty="0"/>
              <a:t>including import from CAD</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No need to derive and program equations</a:t>
            </a:r>
            <a:endParaRPr dirty="0"/>
          </a:p>
          <a:p>
            <a:pPr marL="1660771" lvl="3" indent="-285750" algn="l" rtl="0">
              <a:lnSpc>
                <a:spcPct val="105000"/>
              </a:lnSpc>
              <a:spcBef>
                <a:spcPts val="321"/>
              </a:spcBef>
              <a:spcAft>
                <a:spcPts val="0"/>
              </a:spcAft>
              <a:buClr>
                <a:schemeClr val="dk1"/>
              </a:buClr>
              <a:buSzPts val="1604"/>
              <a:buFont typeface="Arial" panose="020B0604020202020204" pitchFamily="34" charset="0"/>
              <a:buChar char="•"/>
            </a:pPr>
            <a:endParaRPr dirty="0"/>
          </a:p>
          <a:p>
            <a:pPr lvl="0" algn="l" rtl="0">
              <a:spcBef>
                <a:spcPts val="480"/>
              </a:spcBef>
              <a:spcAft>
                <a:spcPts val="0"/>
              </a:spcAft>
              <a:buSzPts val="1800"/>
              <a:buFont typeface="Arial" panose="020B0604020202020204" pitchFamily="34" charset="0"/>
              <a:buChar char="•"/>
            </a:pPr>
            <a:r>
              <a:rPr lang="en-US" dirty="0"/>
              <a:t>With </a:t>
            </a:r>
            <a:r>
              <a:rPr lang="en-US" b="1" dirty="0" err="1"/>
              <a:t>Simscape</a:t>
            </a:r>
            <a:r>
              <a:rPr lang="en-US" b="1" dirty="0"/>
              <a:t> Multibody </a:t>
            </a:r>
            <a:r>
              <a:rPr lang="en-US" dirty="0"/>
              <a:t>you can:</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Refine requirements for mechanical system</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Discover integration issues early</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Design control algorithms and logic</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Test embedded software</a:t>
            </a:r>
            <a:br>
              <a:rPr lang="en-US" dirty="0"/>
            </a:br>
            <a:r>
              <a:rPr lang="en-US" dirty="0"/>
              <a:t>without hardware prototypes</a:t>
            </a:r>
            <a:endParaRPr dirty="0"/>
          </a:p>
          <a:p>
            <a:pPr marL="744802" lvl="1" indent="-159462" algn="l" rtl="0">
              <a:lnSpc>
                <a:spcPct val="105000"/>
              </a:lnSpc>
              <a:spcBef>
                <a:spcPts val="400"/>
              </a:spcBef>
              <a:spcAft>
                <a:spcPts val="0"/>
              </a:spcAft>
              <a:buSzPts val="2000"/>
              <a:buNone/>
            </a:pPr>
            <a:endParaRPr dirty="0"/>
          </a:p>
        </p:txBody>
      </p:sp>
      <p:pic>
        <p:nvPicPr>
          <p:cNvPr id="225" name="Google Shape;225;p11"/>
          <p:cNvPicPr preferRelativeResize="0"/>
          <p:nvPr/>
        </p:nvPicPr>
        <p:blipFill rotWithShape="1">
          <a:blip r:embed="rId3">
            <a:alphaModFix/>
          </a:blip>
          <a:srcRect/>
          <a:stretch/>
        </p:blipFill>
        <p:spPr>
          <a:xfrm>
            <a:off x="7007931" y="3048093"/>
            <a:ext cx="4981663" cy="3352707"/>
          </a:xfrm>
          <a:prstGeom prst="rect">
            <a:avLst/>
          </a:prstGeom>
          <a:noFill/>
          <a:ln>
            <a:noFill/>
          </a:ln>
        </p:spPr>
      </p:pic>
      <p:pic>
        <p:nvPicPr>
          <p:cNvPr id="226" name="Google Shape;226;p11" descr="Diagram&#10;&#10;Description automatically generated with medium confidence"/>
          <p:cNvPicPr preferRelativeResize="0"/>
          <p:nvPr/>
        </p:nvPicPr>
        <p:blipFill rotWithShape="1">
          <a:blip r:embed="rId4">
            <a:alphaModFix/>
          </a:blip>
          <a:srcRect/>
          <a:stretch/>
        </p:blipFill>
        <p:spPr>
          <a:xfrm>
            <a:off x="7163648" y="440585"/>
            <a:ext cx="4825942" cy="223208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animEffect transition="in" filter="fade">
                                      <p:cBhvr>
                                        <p:cTn id="7" dur="500"/>
                                        <p:tgtEl>
                                          <p:spTgt spid="2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4">
                                            <p:txEl>
                                              <p:pRg st="1" end="1"/>
                                            </p:txEl>
                                          </p:spTgt>
                                        </p:tgtEl>
                                        <p:attrNameLst>
                                          <p:attrName>style.visibility</p:attrName>
                                        </p:attrNameLst>
                                      </p:cBhvr>
                                      <p:to>
                                        <p:strVal val="visible"/>
                                      </p:to>
                                    </p:set>
                                    <p:animEffect transition="in" filter="fade">
                                      <p:cBhvr>
                                        <p:cTn id="12" dur="500"/>
                                        <p:tgtEl>
                                          <p:spTgt spid="2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4">
                                            <p:txEl>
                                              <p:pRg st="2" end="2"/>
                                            </p:txEl>
                                          </p:spTgt>
                                        </p:tgtEl>
                                        <p:attrNameLst>
                                          <p:attrName>style.visibility</p:attrName>
                                        </p:attrNameLst>
                                      </p:cBhvr>
                                      <p:to>
                                        <p:strVal val="visible"/>
                                      </p:to>
                                    </p:set>
                                    <p:animEffect transition="in" filter="fade">
                                      <p:cBhvr>
                                        <p:cTn id="17" dur="500"/>
                                        <p:tgtEl>
                                          <p:spTgt spid="22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4">
                                            <p:txEl>
                                              <p:pRg st="3" end="3"/>
                                            </p:txEl>
                                          </p:spTgt>
                                        </p:tgtEl>
                                        <p:attrNameLst>
                                          <p:attrName>style.visibility</p:attrName>
                                        </p:attrNameLst>
                                      </p:cBhvr>
                                      <p:to>
                                        <p:strVal val="visible"/>
                                      </p:to>
                                    </p:set>
                                    <p:animEffect transition="in" filter="fade">
                                      <p:cBhvr>
                                        <p:cTn id="22" dur="500"/>
                                        <p:tgtEl>
                                          <p:spTgt spid="22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4">
                                            <p:txEl>
                                              <p:pRg st="4" end="4"/>
                                            </p:txEl>
                                          </p:spTgt>
                                        </p:tgtEl>
                                        <p:attrNameLst>
                                          <p:attrName>style.visibility</p:attrName>
                                        </p:attrNameLst>
                                      </p:cBhvr>
                                      <p:to>
                                        <p:strVal val="visible"/>
                                      </p:to>
                                    </p:set>
                                    <p:animEffect transition="in" filter="fade">
                                      <p:cBhvr>
                                        <p:cTn id="27" dur="500"/>
                                        <p:tgtEl>
                                          <p:spTgt spid="22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24">
                                            <p:txEl>
                                              <p:pRg st="5" end="5"/>
                                            </p:txEl>
                                          </p:spTgt>
                                        </p:tgtEl>
                                        <p:attrNameLst>
                                          <p:attrName>style.visibility</p:attrName>
                                        </p:attrNameLst>
                                      </p:cBhvr>
                                      <p:to>
                                        <p:strVal val="visible"/>
                                      </p:to>
                                    </p:set>
                                    <p:animEffect transition="in" filter="fade">
                                      <p:cBhvr>
                                        <p:cTn id="32" dur="500"/>
                                        <p:tgtEl>
                                          <p:spTgt spid="22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4">
                                            <p:txEl>
                                              <p:pRg st="6" end="6"/>
                                            </p:txEl>
                                          </p:spTgt>
                                        </p:tgtEl>
                                        <p:attrNameLst>
                                          <p:attrName>style.visibility</p:attrName>
                                        </p:attrNameLst>
                                      </p:cBhvr>
                                      <p:to>
                                        <p:strVal val="visible"/>
                                      </p:to>
                                    </p:set>
                                    <p:animEffect transition="in" filter="fade">
                                      <p:cBhvr>
                                        <p:cTn id="37" dur="500"/>
                                        <p:tgtEl>
                                          <p:spTgt spid="22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4">
                                            <p:txEl>
                                              <p:pRg st="7" end="7"/>
                                            </p:txEl>
                                          </p:spTgt>
                                        </p:tgtEl>
                                        <p:attrNameLst>
                                          <p:attrName>style.visibility</p:attrName>
                                        </p:attrNameLst>
                                      </p:cBhvr>
                                      <p:to>
                                        <p:strVal val="visible"/>
                                      </p:to>
                                    </p:set>
                                    <p:animEffect transition="in" filter="fade">
                                      <p:cBhvr>
                                        <p:cTn id="42" dur="500"/>
                                        <p:tgtEl>
                                          <p:spTgt spid="22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24">
                                            <p:txEl>
                                              <p:pRg st="8" end="8"/>
                                            </p:txEl>
                                          </p:spTgt>
                                        </p:tgtEl>
                                        <p:attrNameLst>
                                          <p:attrName>style.visibility</p:attrName>
                                        </p:attrNameLst>
                                      </p:cBhvr>
                                      <p:to>
                                        <p:strVal val="visible"/>
                                      </p:to>
                                    </p:set>
                                    <p:animEffect transition="in" filter="fade">
                                      <p:cBhvr>
                                        <p:cTn id="47" dur="500"/>
                                        <p:tgtEl>
                                          <p:spTgt spid="22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24">
                                            <p:txEl>
                                              <p:pRg st="9" end="9"/>
                                            </p:txEl>
                                          </p:spTgt>
                                        </p:tgtEl>
                                        <p:attrNameLst>
                                          <p:attrName>style.visibility</p:attrName>
                                        </p:attrNameLst>
                                      </p:cBhvr>
                                      <p:to>
                                        <p:strVal val="visible"/>
                                      </p:to>
                                    </p:set>
                                    <p:animEffect transition="in" filter="fade">
                                      <p:cBhvr>
                                        <p:cTn id="52" dur="500"/>
                                        <p:tgtEl>
                                          <p:spTgt spid="224">
                                            <p:txEl>
                                              <p:pRg st="9" end="9"/>
                                            </p:txEl>
                                          </p:spTgt>
                                        </p:tgtEl>
                                      </p:cBhvr>
                                    </p:animEffect>
                                  </p:childTnLst>
                                </p:cTn>
                              </p:par>
                            </p:childTnLst>
                          </p:cTn>
                        </p:par>
                        <p:par>
                          <p:cTn id="53" fill="hold">
                            <p:stCondLst>
                              <p:cond delay="500"/>
                            </p:stCondLst>
                            <p:childTnLst>
                              <p:par>
                                <p:cTn id="54" presetID="10" presetClass="entr" presetSubtype="0" fill="hold" nodeType="afterEffect">
                                  <p:stCondLst>
                                    <p:cond delay="0"/>
                                  </p:stCondLst>
                                  <p:childTnLst>
                                    <p:set>
                                      <p:cBhvr>
                                        <p:cTn id="55" dur="1" fill="hold">
                                          <p:stCondLst>
                                            <p:cond delay="0"/>
                                          </p:stCondLst>
                                        </p:cTn>
                                        <p:tgtEl>
                                          <p:spTgt spid="226"/>
                                        </p:tgtEl>
                                        <p:attrNameLst>
                                          <p:attrName>style.visibility</p:attrName>
                                        </p:attrNameLst>
                                      </p:cBhvr>
                                      <p:to>
                                        <p:strVal val="visible"/>
                                      </p:to>
                                    </p:set>
                                    <p:animEffect transition="in" filter="fade">
                                      <p:cBhvr>
                                        <p:cTn id="56" dur="250"/>
                                        <p:tgtEl>
                                          <p:spTgt spid="226"/>
                                        </p:tgtEl>
                                      </p:cBhvr>
                                    </p:animEffect>
                                  </p:childTnLst>
                                </p:cTn>
                              </p:par>
                            </p:childTnLst>
                          </p:cTn>
                        </p:par>
                        <p:par>
                          <p:cTn id="57" fill="hold">
                            <p:stCondLst>
                              <p:cond delay="750"/>
                            </p:stCondLst>
                            <p:childTnLst>
                              <p:par>
                                <p:cTn id="58" presetID="1" presetClass="entr" presetSubtype="0" fill="hold" nodeType="afterEffect">
                                  <p:stCondLst>
                                    <p:cond delay="0"/>
                                  </p:stCondLst>
                                  <p:childTnLst>
                                    <p:set>
                                      <p:cBhvr>
                                        <p:cTn id="59" dur="1" fill="hold">
                                          <p:stCondLst>
                                            <p:cond delay="0"/>
                                          </p:stCondLst>
                                        </p:cTn>
                                        <p:tgtEl>
                                          <p:spTgt spid="225"/>
                                        </p:tgtEl>
                                        <p:attrNameLst>
                                          <p:attrName>style.visibility</p:attrName>
                                        </p:attrNameLst>
                                      </p:cBhvr>
                                      <p:to>
                                        <p:strVal val="visible"/>
                                      </p:to>
                                    </p:set>
                                  </p:childTnLst>
                                </p:cTn>
                              </p:par>
                            </p:childTnLst>
                          </p:cTn>
                        </p:par>
                        <p:par>
                          <p:cTn id="60" fill="hold">
                            <p:stCondLst>
                              <p:cond delay="751"/>
                            </p:stCondLst>
                            <p:childTnLst>
                              <p:par>
                                <p:cTn id="61" presetID="10" presetClass="entr" presetSubtype="0" fill="hold" nodeType="afterEffect">
                                  <p:stCondLst>
                                    <p:cond delay="0"/>
                                  </p:stCondLst>
                                  <p:childTnLst>
                                    <p:set>
                                      <p:cBhvr>
                                        <p:cTn id="62" dur="1" fill="hold">
                                          <p:stCondLst>
                                            <p:cond delay="0"/>
                                          </p:stCondLst>
                                        </p:cTn>
                                        <p:tgtEl>
                                          <p:spTgt spid="225"/>
                                        </p:tgtEl>
                                        <p:attrNameLst>
                                          <p:attrName>style.visibility</p:attrName>
                                        </p:attrNameLst>
                                      </p:cBhvr>
                                      <p:to>
                                        <p:strVal val="visible"/>
                                      </p:to>
                                    </p:set>
                                    <p:animEffect transition="in" filter="fade">
                                      <p:cBhvr>
                                        <p:cTn id="63" dur="5000"/>
                                        <p:tgtEl>
                                          <p:spTgt spid="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39" name="Google Shape;239;p13" descr="Diagram&#10;&#10;Description automatically generated"/>
          <p:cNvPicPr preferRelativeResize="0"/>
          <p:nvPr/>
        </p:nvPicPr>
        <p:blipFill rotWithShape="1">
          <a:blip r:embed="rId3">
            <a:alphaModFix/>
          </a:blip>
          <a:srcRect/>
          <a:stretch/>
        </p:blipFill>
        <p:spPr>
          <a:xfrm>
            <a:off x="7032104" y="431098"/>
            <a:ext cx="4825942" cy="2232089"/>
          </a:xfrm>
          <a:prstGeom prst="rect">
            <a:avLst/>
          </a:prstGeom>
          <a:noFill/>
          <a:ln>
            <a:noFill/>
          </a:ln>
        </p:spPr>
      </p:pic>
      <p:sp>
        <p:nvSpPr>
          <p:cNvPr id="240" name="Google Shape;240;p13"/>
          <p:cNvSpPr txBox="1">
            <a:spLocks noGrp="1"/>
          </p:cNvSpPr>
          <p:nvPr>
            <p:ph type="title"/>
          </p:nvPr>
        </p:nvSpPr>
        <p:spPr>
          <a:xfrm>
            <a:off x="609602" y="457200"/>
            <a:ext cx="10769600" cy="99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2800"/>
              <a:buFont typeface="Arial"/>
              <a:buNone/>
            </a:pPr>
            <a:r>
              <a:rPr lang="en-US" dirty="0" err="1"/>
              <a:t>Simscape</a:t>
            </a:r>
            <a:r>
              <a:rPr lang="en-US" dirty="0"/>
              <a:t> Driveline</a:t>
            </a:r>
            <a:br>
              <a:rPr lang="en-US" dirty="0"/>
            </a:br>
            <a:r>
              <a:rPr lang="en-US" sz="2400" dirty="0">
                <a:solidFill>
                  <a:srgbClr val="595959"/>
                </a:solidFill>
              </a:rPr>
              <a:t>Overview</a:t>
            </a:r>
            <a:endParaRPr dirty="0">
              <a:solidFill>
                <a:srgbClr val="595959"/>
              </a:solidFill>
            </a:endParaRPr>
          </a:p>
        </p:txBody>
      </p:sp>
      <p:sp>
        <p:nvSpPr>
          <p:cNvPr id="241" name="Google Shape;241;p13"/>
          <p:cNvSpPr txBox="1">
            <a:spLocks noGrp="1"/>
          </p:cNvSpPr>
          <p:nvPr>
            <p:ph type="body" idx="1"/>
          </p:nvPr>
        </p:nvSpPr>
        <p:spPr>
          <a:xfrm>
            <a:off x="609602" y="1600200"/>
            <a:ext cx="10769600" cy="4648200"/>
          </a:xfrm>
          <a:prstGeom prst="rect">
            <a:avLst/>
          </a:prstGeom>
          <a:noFill/>
          <a:ln>
            <a:noFill/>
          </a:ln>
        </p:spPr>
        <p:txBody>
          <a:bodyPr spcFirstLastPara="1" wrap="square" lIns="91425" tIns="45700" rIns="91425" bIns="45700" anchor="t" anchorCtr="0">
            <a:noAutofit/>
          </a:bodyPr>
          <a:lstStyle/>
          <a:p>
            <a:pPr lvl="0" algn="l" rtl="0">
              <a:spcBef>
                <a:spcPts val="0"/>
              </a:spcBef>
              <a:spcAft>
                <a:spcPts val="0"/>
              </a:spcAft>
              <a:buSzPts val="1800"/>
              <a:buFont typeface="Arial" panose="020B0604020202020204" pitchFamily="34" charset="0"/>
              <a:buChar char="•"/>
            </a:pPr>
            <a:r>
              <a:rPr lang="en-US" dirty="0"/>
              <a:t>Enables physical modeling</a:t>
            </a:r>
            <a:br>
              <a:rPr lang="en-US" dirty="0"/>
            </a:br>
            <a:r>
              <a:rPr lang="en-US" dirty="0"/>
              <a:t>of </a:t>
            </a:r>
            <a:r>
              <a:rPr lang="en-US" b="1" dirty="0"/>
              <a:t>multidomain powertrain systems</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Rotational and translational systems</a:t>
            </a:r>
            <a:endParaRPr dirty="0"/>
          </a:p>
          <a:p>
            <a:pPr lvl="2" algn="l" rtl="0">
              <a:lnSpc>
                <a:spcPct val="105000"/>
              </a:lnSpc>
              <a:spcBef>
                <a:spcPts val="321"/>
              </a:spcBef>
              <a:spcAft>
                <a:spcPts val="0"/>
              </a:spcAft>
              <a:buSzPts val="1203"/>
              <a:buFont typeface="Arial" panose="020B0604020202020204" pitchFamily="34" charset="0"/>
              <a:buChar char="•"/>
            </a:pPr>
            <a:endParaRPr dirty="0"/>
          </a:p>
          <a:p>
            <a:pPr lvl="0" algn="l" rtl="0">
              <a:spcBef>
                <a:spcPts val="480"/>
              </a:spcBef>
              <a:spcAft>
                <a:spcPts val="0"/>
              </a:spcAft>
              <a:buSzPts val="1800"/>
              <a:buFont typeface="Arial" panose="020B0604020202020204" pitchFamily="34" charset="0"/>
              <a:buChar char="•"/>
            </a:pPr>
            <a:r>
              <a:rPr lang="en-US" dirty="0"/>
              <a:t>With </a:t>
            </a:r>
            <a:r>
              <a:rPr lang="en-US" b="1" dirty="0" err="1"/>
              <a:t>Simscape</a:t>
            </a:r>
            <a:r>
              <a:rPr lang="en-US" b="1" dirty="0"/>
              <a:t> Driveline </a:t>
            </a:r>
            <a:r>
              <a:rPr lang="en-US" dirty="0"/>
              <a:t>you can:</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Refine requirements for</a:t>
            </a:r>
            <a:br>
              <a:rPr lang="en-US" dirty="0"/>
            </a:br>
            <a:r>
              <a:rPr lang="en-US" dirty="0"/>
              <a:t>mechanical transmission systems </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Discover integration issues early</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Design control algorithms and logic</a:t>
            </a:r>
            <a:br>
              <a:rPr lang="en-US" dirty="0"/>
            </a:br>
            <a:r>
              <a:rPr lang="en-US" dirty="0"/>
              <a:t>within the Simulink environment</a:t>
            </a:r>
            <a:endParaRPr dirty="0"/>
          </a:p>
          <a:p>
            <a:pPr lvl="1" algn="l" rtl="0">
              <a:lnSpc>
                <a:spcPct val="105000"/>
              </a:lnSpc>
              <a:spcBef>
                <a:spcPts val="400"/>
              </a:spcBef>
              <a:spcAft>
                <a:spcPts val="0"/>
              </a:spcAft>
              <a:buSzPts val="2000"/>
              <a:buFont typeface="Courier New" panose="02070309020205020404" pitchFamily="49" charset="0"/>
              <a:buChar char="o"/>
            </a:pPr>
            <a:r>
              <a:rPr lang="en-US" dirty="0"/>
              <a:t>Test embedded software</a:t>
            </a:r>
            <a:br>
              <a:rPr lang="en-US" dirty="0"/>
            </a:br>
            <a:r>
              <a:rPr lang="en-US" dirty="0"/>
              <a:t>without hardware prototypes</a:t>
            </a:r>
            <a:endParaRPr dirty="0"/>
          </a:p>
        </p:txBody>
      </p:sp>
      <p:pic>
        <p:nvPicPr>
          <p:cNvPr id="242" name="Google Shape;242;p13"/>
          <p:cNvPicPr preferRelativeResize="0"/>
          <p:nvPr/>
        </p:nvPicPr>
        <p:blipFill rotWithShape="1">
          <a:blip r:embed="rId4">
            <a:alphaModFix/>
          </a:blip>
          <a:srcRect/>
          <a:stretch/>
        </p:blipFill>
        <p:spPr>
          <a:xfrm>
            <a:off x="8832304" y="3045578"/>
            <a:ext cx="3295918" cy="3440048"/>
          </a:xfrm>
          <a:prstGeom prst="rect">
            <a:avLst/>
          </a:prstGeom>
          <a:noFill/>
          <a:ln w="9525" cap="flat" cmpd="sng">
            <a:solidFill>
              <a:srgbClr val="7F7F7F"/>
            </a:solidFill>
            <a:prstDash val="solid"/>
            <a:round/>
            <a:headEnd type="none" w="sm" len="sm"/>
            <a:tailEnd type="none" w="sm" len="sm"/>
          </a:ln>
        </p:spPr>
      </p:pic>
      <p:grpSp>
        <p:nvGrpSpPr>
          <p:cNvPr id="243" name="Google Shape;243;p13"/>
          <p:cNvGrpSpPr/>
          <p:nvPr/>
        </p:nvGrpSpPr>
        <p:grpSpPr>
          <a:xfrm>
            <a:off x="5879976" y="3077480"/>
            <a:ext cx="2801606" cy="3349422"/>
            <a:chOff x="6096000" y="2810615"/>
            <a:chExt cx="3079776" cy="3459600"/>
          </a:xfrm>
        </p:grpSpPr>
        <p:pic>
          <p:nvPicPr>
            <p:cNvPr id="244" name="Google Shape;244;p13"/>
            <p:cNvPicPr preferRelativeResize="0"/>
            <p:nvPr/>
          </p:nvPicPr>
          <p:blipFill rotWithShape="1">
            <a:blip r:embed="rId5">
              <a:alphaModFix/>
            </a:blip>
            <a:srcRect/>
            <a:stretch/>
          </p:blipFill>
          <p:spPr>
            <a:xfrm>
              <a:off x="6096000" y="2810615"/>
              <a:ext cx="3079776" cy="3459600"/>
            </a:xfrm>
            <a:prstGeom prst="rect">
              <a:avLst/>
            </a:prstGeom>
            <a:noFill/>
            <a:ln>
              <a:noFill/>
            </a:ln>
          </p:spPr>
        </p:pic>
        <p:pic>
          <p:nvPicPr>
            <p:cNvPr id="245" name="Google Shape;245;p13"/>
            <p:cNvPicPr preferRelativeResize="0"/>
            <p:nvPr/>
          </p:nvPicPr>
          <p:blipFill rotWithShape="1">
            <a:blip r:embed="rId6">
              <a:alphaModFix/>
            </a:blip>
            <a:srcRect/>
            <a:stretch/>
          </p:blipFill>
          <p:spPr>
            <a:xfrm>
              <a:off x="6309434" y="3286133"/>
              <a:ext cx="2823962" cy="2816684"/>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1">
                                            <p:txEl>
                                              <p:pRg st="0" end="0"/>
                                            </p:txEl>
                                          </p:spTgt>
                                        </p:tgtEl>
                                        <p:attrNameLst>
                                          <p:attrName>style.visibility</p:attrName>
                                        </p:attrNameLst>
                                      </p:cBhvr>
                                      <p:to>
                                        <p:strVal val="visible"/>
                                      </p:to>
                                    </p:set>
                                    <p:animEffect transition="in" filter="fade">
                                      <p:cBhvr>
                                        <p:cTn id="7" dur="500"/>
                                        <p:tgtEl>
                                          <p:spTgt spid="2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1">
                                            <p:txEl>
                                              <p:pRg st="1" end="1"/>
                                            </p:txEl>
                                          </p:spTgt>
                                        </p:tgtEl>
                                        <p:attrNameLst>
                                          <p:attrName>style.visibility</p:attrName>
                                        </p:attrNameLst>
                                      </p:cBhvr>
                                      <p:to>
                                        <p:strVal val="visible"/>
                                      </p:to>
                                    </p:set>
                                    <p:animEffect transition="in" filter="fade">
                                      <p:cBhvr>
                                        <p:cTn id="12" dur="500"/>
                                        <p:tgtEl>
                                          <p:spTgt spid="2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1">
                                            <p:txEl>
                                              <p:pRg st="2" end="2"/>
                                            </p:txEl>
                                          </p:spTgt>
                                        </p:tgtEl>
                                        <p:attrNameLst>
                                          <p:attrName>style.visibility</p:attrName>
                                        </p:attrNameLst>
                                      </p:cBhvr>
                                      <p:to>
                                        <p:strVal val="visible"/>
                                      </p:to>
                                    </p:set>
                                    <p:animEffect transition="in" filter="fade">
                                      <p:cBhvr>
                                        <p:cTn id="17" dur="500"/>
                                        <p:tgtEl>
                                          <p:spTgt spid="24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1">
                                            <p:txEl>
                                              <p:pRg st="3" end="3"/>
                                            </p:txEl>
                                          </p:spTgt>
                                        </p:tgtEl>
                                        <p:attrNameLst>
                                          <p:attrName>style.visibility</p:attrName>
                                        </p:attrNameLst>
                                      </p:cBhvr>
                                      <p:to>
                                        <p:strVal val="visible"/>
                                      </p:to>
                                    </p:set>
                                    <p:animEffect transition="in" filter="fade">
                                      <p:cBhvr>
                                        <p:cTn id="22" dur="500"/>
                                        <p:tgtEl>
                                          <p:spTgt spid="24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1">
                                            <p:txEl>
                                              <p:pRg st="4" end="4"/>
                                            </p:txEl>
                                          </p:spTgt>
                                        </p:tgtEl>
                                        <p:attrNameLst>
                                          <p:attrName>style.visibility</p:attrName>
                                        </p:attrNameLst>
                                      </p:cBhvr>
                                      <p:to>
                                        <p:strVal val="visible"/>
                                      </p:to>
                                    </p:set>
                                    <p:animEffect transition="in" filter="fade">
                                      <p:cBhvr>
                                        <p:cTn id="27" dur="500"/>
                                        <p:tgtEl>
                                          <p:spTgt spid="24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1">
                                            <p:txEl>
                                              <p:pRg st="5" end="5"/>
                                            </p:txEl>
                                          </p:spTgt>
                                        </p:tgtEl>
                                        <p:attrNameLst>
                                          <p:attrName>style.visibility</p:attrName>
                                        </p:attrNameLst>
                                      </p:cBhvr>
                                      <p:to>
                                        <p:strVal val="visible"/>
                                      </p:to>
                                    </p:set>
                                    <p:animEffect transition="in" filter="fade">
                                      <p:cBhvr>
                                        <p:cTn id="32" dur="500"/>
                                        <p:tgtEl>
                                          <p:spTgt spid="24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1">
                                            <p:txEl>
                                              <p:pRg st="6" end="6"/>
                                            </p:txEl>
                                          </p:spTgt>
                                        </p:tgtEl>
                                        <p:attrNameLst>
                                          <p:attrName>style.visibility</p:attrName>
                                        </p:attrNameLst>
                                      </p:cBhvr>
                                      <p:to>
                                        <p:strVal val="visible"/>
                                      </p:to>
                                    </p:set>
                                    <p:animEffect transition="in" filter="fade">
                                      <p:cBhvr>
                                        <p:cTn id="37" dur="500"/>
                                        <p:tgtEl>
                                          <p:spTgt spid="24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1">
                                            <p:txEl>
                                              <p:pRg st="7" end="7"/>
                                            </p:txEl>
                                          </p:spTgt>
                                        </p:tgtEl>
                                        <p:attrNameLst>
                                          <p:attrName>style.visibility</p:attrName>
                                        </p:attrNameLst>
                                      </p:cBhvr>
                                      <p:to>
                                        <p:strVal val="visible"/>
                                      </p:to>
                                    </p:set>
                                    <p:animEffect transition="in" filter="fade">
                                      <p:cBhvr>
                                        <p:cTn id="42" dur="500"/>
                                        <p:tgtEl>
                                          <p:spTgt spid="241">
                                            <p:txEl>
                                              <p:pRg st="7" end="7"/>
                                            </p:txEl>
                                          </p:spTgt>
                                        </p:tgtEl>
                                      </p:cBhvr>
                                    </p:animEffect>
                                  </p:childTnLst>
                                </p:cTn>
                              </p:par>
                            </p:childTnLst>
                          </p:cTn>
                        </p:par>
                        <p:par>
                          <p:cTn id="43" fill="hold">
                            <p:stCondLst>
                              <p:cond delay="500"/>
                            </p:stCondLst>
                            <p:childTnLst>
                              <p:par>
                                <p:cTn id="44" presetID="10" presetClass="entr" presetSubtype="0" fill="hold" nodeType="afterEffect">
                                  <p:stCondLst>
                                    <p:cond delay="0"/>
                                  </p:stCondLst>
                                  <p:childTnLst>
                                    <p:set>
                                      <p:cBhvr>
                                        <p:cTn id="45" dur="1" fill="hold">
                                          <p:stCondLst>
                                            <p:cond delay="0"/>
                                          </p:stCondLst>
                                        </p:cTn>
                                        <p:tgtEl>
                                          <p:spTgt spid="239"/>
                                        </p:tgtEl>
                                        <p:attrNameLst>
                                          <p:attrName>style.visibility</p:attrName>
                                        </p:attrNameLst>
                                      </p:cBhvr>
                                      <p:to>
                                        <p:strVal val="visible"/>
                                      </p:to>
                                    </p:set>
                                    <p:animEffect transition="in" filter="fade">
                                      <p:cBhvr>
                                        <p:cTn id="46" dur="250"/>
                                        <p:tgtEl>
                                          <p:spTgt spid="239"/>
                                        </p:tgtEl>
                                      </p:cBhvr>
                                    </p:animEffect>
                                  </p:childTnLst>
                                </p:cTn>
                              </p:par>
                            </p:childTnLst>
                          </p:cTn>
                        </p:par>
                        <p:par>
                          <p:cTn id="47" fill="hold">
                            <p:stCondLst>
                              <p:cond delay="750"/>
                            </p:stCondLst>
                            <p:childTnLst>
                              <p:par>
                                <p:cTn id="48" presetID="10" presetClass="entr" presetSubtype="0" fill="hold" nodeType="afterEffect">
                                  <p:stCondLst>
                                    <p:cond delay="0"/>
                                  </p:stCondLst>
                                  <p:childTnLst>
                                    <p:set>
                                      <p:cBhvr>
                                        <p:cTn id="49" dur="1" fill="hold">
                                          <p:stCondLst>
                                            <p:cond delay="0"/>
                                          </p:stCondLst>
                                        </p:cTn>
                                        <p:tgtEl>
                                          <p:spTgt spid="243"/>
                                        </p:tgtEl>
                                        <p:attrNameLst>
                                          <p:attrName>style.visibility</p:attrName>
                                        </p:attrNameLst>
                                      </p:cBhvr>
                                      <p:to>
                                        <p:strVal val="visible"/>
                                      </p:to>
                                    </p:set>
                                    <p:animEffect transition="in" filter="fade">
                                      <p:cBhvr>
                                        <p:cTn id="50" dur="250"/>
                                        <p:tgtEl>
                                          <p:spTgt spid="243"/>
                                        </p:tgtEl>
                                      </p:cBhvr>
                                    </p:animEffect>
                                  </p:childTnLst>
                                </p:cTn>
                              </p:par>
                            </p:childTnLst>
                          </p:cTn>
                        </p:par>
                        <p:par>
                          <p:cTn id="51" fill="hold">
                            <p:stCondLst>
                              <p:cond delay="1000"/>
                            </p:stCondLst>
                            <p:childTnLst>
                              <p:par>
                                <p:cTn id="52" presetID="10" presetClass="entr" presetSubtype="0" fill="hold" nodeType="afterEffect">
                                  <p:stCondLst>
                                    <p:cond delay="0"/>
                                  </p:stCondLst>
                                  <p:childTnLst>
                                    <p:set>
                                      <p:cBhvr>
                                        <p:cTn id="53" dur="1" fill="hold">
                                          <p:stCondLst>
                                            <p:cond delay="0"/>
                                          </p:stCondLst>
                                        </p:cTn>
                                        <p:tgtEl>
                                          <p:spTgt spid="242"/>
                                        </p:tgtEl>
                                        <p:attrNameLst>
                                          <p:attrName>style.visibility</p:attrName>
                                        </p:attrNameLst>
                                      </p:cBhvr>
                                      <p:to>
                                        <p:strVal val="visible"/>
                                      </p:to>
                                    </p:set>
                                    <p:animEffect transition="in" filter="fade">
                                      <p:cBhvr>
                                        <p:cTn id="54" dur="250"/>
                                        <p:tgtEl>
                                          <p:spTgt spid="242"/>
                                        </p:tgtEl>
                                      </p:cBhvr>
                                    </p:animEffect>
                                  </p:childTnLst>
                                </p:cTn>
                              </p:par>
                              <p:par>
                                <p:cTn id="55" presetID="10" presetClass="entr" presetSubtype="0" fill="hold" nodeType="withEffect">
                                  <p:stCondLst>
                                    <p:cond delay="0"/>
                                  </p:stCondLst>
                                  <p:childTnLst>
                                    <p:set>
                                      <p:cBhvr>
                                        <p:cTn id="56" dur="1" fill="hold">
                                          <p:stCondLst>
                                            <p:cond delay="0"/>
                                          </p:stCondLst>
                                        </p:cTn>
                                        <p:tgtEl>
                                          <p:spTgt spid="242"/>
                                        </p:tgtEl>
                                        <p:attrNameLst>
                                          <p:attrName>style.visibility</p:attrName>
                                        </p:attrNameLst>
                                      </p:cBhvr>
                                      <p:to>
                                        <p:strVal val="visible"/>
                                      </p:to>
                                    </p:set>
                                    <p:animEffect transition="in" filter="fade">
                                      <p:cBhvr>
                                        <p:cTn id="57" dur="5000"/>
                                        <p:tgtEl>
                                          <p:spTgt spid="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15"/>
          <p:cNvSpPr txBox="1">
            <a:spLocks noGrp="1"/>
          </p:cNvSpPr>
          <p:nvPr>
            <p:ph type="title"/>
          </p:nvPr>
        </p:nvSpPr>
        <p:spPr>
          <a:xfrm>
            <a:off x="914400" y="1914529"/>
            <a:ext cx="10363200" cy="136207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2"/>
              </a:buClr>
              <a:buSzPts val="3200"/>
              <a:buFont typeface="Arial"/>
              <a:buNone/>
            </a:pPr>
            <a:r>
              <a:rPr lang="en-US" dirty="0"/>
              <a:t>Differences between</a:t>
            </a:r>
            <a:br>
              <a:rPr lang="en-US" dirty="0"/>
            </a:br>
            <a:r>
              <a:rPr lang="en-US" b="1" dirty="0"/>
              <a:t>Simulink</a:t>
            </a:r>
            <a:r>
              <a:rPr lang="en-US" dirty="0"/>
              <a:t> and </a:t>
            </a:r>
            <a:r>
              <a:rPr lang="en-US" b="1" dirty="0" err="1"/>
              <a:t>Simscape</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16"/>
          <p:cNvSpPr txBox="1">
            <a:spLocks noGrp="1"/>
          </p:cNvSpPr>
          <p:nvPr>
            <p:ph type="title"/>
          </p:nvPr>
        </p:nvSpPr>
        <p:spPr>
          <a:xfrm>
            <a:off x="609602" y="457200"/>
            <a:ext cx="10769600" cy="99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2800"/>
              <a:buFont typeface="Arial"/>
              <a:buNone/>
            </a:pPr>
            <a:r>
              <a:rPr lang="en-US" dirty="0" err="1"/>
              <a:t>Simscape</a:t>
            </a:r>
            <a:r>
              <a:rPr lang="en-US" dirty="0"/>
              <a:t> vs Simulink</a:t>
            </a:r>
            <a:br>
              <a:rPr lang="en-US" dirty="0"/>
            </a:br>
            <a:r>
              <a:rPr lang="en-US" sz="2400" dirty="0">
                <a:solidFill>
                  <a:srgbClr val="595959"/>
                </a:solidFill>
              </a:rPr>
              <a:t>1. Modelling Approach</a:t>
            </a:r>
            <a:endParaRPr dirty="0">
              <a:solidFill>
                <a:srgbClr val="595959"/>
              </a:solidFill>
            </a:endParaRPr>
          </a:p>
        </p:txBody>
      </p:sp>
      <p:sp>
        <p:nvSpPr>
          <p:cNvPr id="406" name="Google Shape;406;p16"/>
          <p:cNvSpPr txBox="1">
            <a:spLocks noGrp="1"/>
          </p:cNvSpPr>
          <p:nvPr>
            <p:ph type="body" idx="1"/>
          </p:nvPr>
        </p:nvSpPr>
        <p:spPr>
          <a:xfrm>
            <a:off x="573506" y="1981221"/>
            <a:ext cx="5757845" cy="3416279"/>
          </a:xfrm>
          <a:prstGeom prst="rect">
            <a:avLst/>
          </a:prstGeom>
          <a:noFill/>
          <a:ln>
            <a:noFill/>
          </a:ln>
        </p:spPr>
        <p:txBody>
          <a:bodyPr spcFirstLastPara="1" wrap="square" lIns="91425" tIns="45700" rIns="91425" bIns="45700" anchor="ctr" anchorCtr="0">
            <a:spAutoFit/>
          </a:bodyPr>
          <a:lstStyle/>
          <a:p>
            <a:pPr marL="171450" marR="0" lvl="0" indent="-285750" algn="l" rtl="0">
              <a:lnSpc>
                <a:spcPct val="100000"/>
              </a:lnSpc>
              <a:spcBef>
                <a:spcPts val="0"/>
              </a:spcBef>
              <a:spcAft>
                <a:spcPts val="0"/>
              </a:spcAft>
              <a:buClr>
                <a:srgbClr val="176DAD"/>
              </a:buClr>
              <a:buSzPts val="1800"/>
              <a:buFont typeface="Arial" panose="020B0604020202020204" pitchFamily="34" charset="0"/>
              <a:buChar char="•"/>
            </a:pPr>
            <a:r>
              <a:rPr lang="en-US" sz="1800" b="1" i="0" u="none" strike="noStrike" cap="none" dirty="0">
                <a:solidFill>
                  <a:schemeClr val="dk1"/>
                </a:solidFill>
                <a:latin typeface="Arial"/>
                <a:ea typeface="Arial"/>
                <a:cs typeface="Arial"/>
                <a:sym typeface="Arial"/>
              </a:rPr>
              <a:t>Simulink</a:t>
            </a:r>
            <a:r>
              <a:rPr lang="en-US" sz="1800" b="0" i="0" u="none" strike="noStrike" cap="none" dirty="0">
                <a:solidFill>
                  <a:schemeClr val="dk1"/>
                </a:solidFill>
                <a:latin typeface="Arial"/>
                <a:ea typeface="Arial"/>
                <a:cs typeface="Arial"/>
                <a:sym typeface="Arial"/>
              </a:rPr>
              <a:t> uses a </a:t>
            </a:r>
            <a:r>
              <a:rPr lang="en-US" sz="1800" b="1" i="0" u="none" strike="noStrike" cap="none" dirty="0">
                <a:solidFill>
                  <a:schemeClr val="dk1"/>
                </a:solidFill>
                <a:latin typeface="Arial"/>
                <a:ea typeface="Arial"/>
                <a:cs typeface="Arial"/>
                <a:sym typeface="Arial"/>
              </a:rPr>
              <a:t>block-diagram approach</a:t>
            </a:r>
            <a:r>
              <a:rPr lang="en-US" sz="1800" b="0" i="0" u="none" strike="noStrike" cap="none" dirty="0">
                <a:solidFill>
                  <a:schemeClr val="dk1"/>
                </a:solidFill>
                <a:latin typeface="Arial"/>
                <a:ea typeface="Arial"/>
                <a:cs typeface="Arial"/>
                <a:sym typeface="Arial"/>
              </a:rPr>
              <a:t> based on </a:t>
            </a:r>
            <a:r>
              <a:rPr lang="en-US" sz="1800" b="1" i="0" u="none" strike="noStrike" cap="none" dirty="0">
                <a:solidFill>
                  <a:schemeClr val="dk1"/>
                </a:solidFill>
                <a:latin typeface="Arial"/>
                <a:ea typeface="Arial"/>
                <a:cs typeface="Arial"/>
                <a:sym typeface="Arial"/>
              </a:rPr>
              <a:t>signal flow</a:t>
            </a:r>
            <a:r>
              <a:rPr lang="en-US" sz="1800" b="0" i="0" u="none" strike="noStrike" cap="none" dirty="0">
                <a:solidFill>
                  <a:schemeClr val="dk1"/>
                </a:solidFill>
                <a:latin typeface="Arial"/>
                <a:ea typeface="Arial"/>
                <a:cs typeface="Arial"/>
                <a:sym typeface="Arial"/>
              </a:rPr>
              <a:t>. It is ideal for modelling control systems, signal processing, and time-based dynamic systems using a top-down, algorithmic approach.</a:t>
            </a:r>
            <a:endParaRPr dirty="0"/>
          </a:p>
          <a:p>
            <a:pPr marR="0" lvl="0" algn="l" rtl="0">
              <a:lnSpc>
                <a:spcPct val="100000"/>
              </a:lnSpc>
              <a:spcBef>
                <a:spcPts val="0"/>
              </a:spcBef>
              <a:spcAft>
                <a:spcPts val="0"/>
              </a:spcAft>
              <a:buClr>
                <a:srgbClr val="176DAD"/>
              </a:buClr>
              <a:buSzPts val="1800"/>
              <a:buFont typeface="Arial" panose="020B0604020202020204" pitchFamily="34" charset="0"/>
              <a:buChar char="•"/>
            </a:pPr>
            <a:endParaRPr sz="1800" b="0" i="0" u="none" strike="noStrike" cap="none" dirty="0">
              <a:solidFill>
                <a:schemeClr val="dk1"/>
              </a:solidFill>
              <a:latin typeface="Arial"/>
              <a:ea typeface="Arial"/>
              <a:cs typeface="Arial"/>
              <a:sym typeface="Arial"/>
            </a:endParaRPr>
          </a:p>
          <a:p>
            <a:pPr marR="0" lvl="0" algn="l" rtl="0">
              <a:lnSpc>
                <a:spcPct val="100000"/>
              </a:lnSpc>
              <a:spcBef>
                <a:spcPts val="0"/>
              </a:spcBef>
              <a:spcAft>
                <a:spcPts val="0"/>
              </a:spcAft>
              <a:buClr>
                <a:srgbClr val="176DAD"/>
              </a:buClr>
              <a:buSzPts val="1800"/>
              <a:buFont typeface="Arial" panose="020B0604020202020204" pitchFamily="34" charset="0"/>
              <a:buChar char="•"/>
            </a:pPr>
            <a:endParaRPr sz="1800" b="0" i="0" u="none" strike="noStrike" cap="none" dirty="0">
              <a:solidFill>
                <a:schemeClr val="dk1"/>
              </a:solidFill>
              <a:latin typeface="Arial"/>
              <a:ea typeface="Arial"/>
              <a:cs typeface="Arial"/>
              <a:sym typeface="Arial"/>
            </a:endParaRPr>
          </a:p>
          <a:p>
            <a:pPr marL="171450" marR="0" lvl="0" indent="-285750" algn="l" rtl="0">
              <a:lnSpc>
                <a:spcPct val="100000"/>
              </a:lnSpc>
              <a:spcBef>
                <a:spcPts val="0"/>
              </a:spcBef>
              <a:spcAft>
                <a:spcPts val="0"/>
              </a:spcAft>
              <a:buClr>
                <a:srgbClr val="176DAD"/>
              </a:buClr>
              <a:buSzPts val="1800"/>
              <a:buFont typeface="Arial" panose="020B0604020202020204" pitchFamily="34" charset="0"/>
              <a:buChar char="•"/>
            </a:pPr>
            <a:r>
              <a:rPr lang="en-US" sz="1800" b="1" i="0" u="none" strike="noStrike" cap="none" dirty="0" err="1">
                <a:solidFill>
                  <a:schemeClr val="dk1"/>
                </a:solidFill>
                <a:latin typeface="Arial"/>
                <a:ea typeface="Arial"/>
                <a:cs typeface="Arial"/>
                <a:sym typeface="Arial"/>
              </a:rPr>
              <a:t>Simscape</a:t>
            </a:r>
            <a:r>
              <a:rPr lang="en-US" sz="1800" b="0" i="0" u="none" strike="noStrike" cap="none" dirty="0">
                <a:solidFill>
                  <a:schemeClr val="dk1"/>
                </a:solidFill>
                <a:latin typeface="Arial"/>
                <a:ea typeface="Arial"/>
                <a:cs typeface="Arial"/>
                <a:sym typeface="Arial"/>
              </a:rPr>
              <a:t> uses a </a:t>
            </a:r>
            <a:r>
              <a:rPr lang="en-US" sz="1800" b="1" i="0" u="none" strike="noStrike" cap="none" dirty="0">
                <a:solidFill>
                  <a:schemeClr val="dk1"/>
                </a:solidFill>
                <a:latin typeface="Arial"/>
                <a:ea typeface="Arial"/>
                <a:cs typeface="Arial"/>
                <a:sym typeface="Arial"/>
              </a:rPr>
              <a:t>physical modelling approach</a:t>
            </a:r>
            <a:r>
              <a:rPr lang="en-US" sz="1800" b="0" i="0" u="none" strike="noStrike" cap="none" dirty="0">
                <a:solidFill>
                  <a:schemeClr val="dk1"/>
                </a:solidFill>
                <a:latin typeface="Arial"/>
                <a:ea typeface="Arial"/>
                <a:cs typeface="Arial"/>
                <a:sym typeface="Arial"/>
              </a:rPr>
              <a:t> based on </a:t>
            </a:r>
            <a:r>
              <a:rPr lang="en-US" sz="1800" b="1" i="0" u="none" strike="noStrike" cap="none" dirty="0">
                <a:solidFill>
                  <a:schemeClr val="dk1"/>
                </a:solidFill>
                <a:latin typeface="Arial"/>
                <a:ea typeface="Arial"/>
                <a:cs typeface="Arial"/>
                <a:sym typeface="Arial"/>
              </a:rPr>
              <a:t>physical networks</a:t>
            </a:r>
            <a:r>
              <a:rPr lang="en-US" sz="1800" b="0" i="0" u="none" strike="noStrike" cap="none" dirty="0">
                <a:solidFill>
                  <a:schemeClr val="dk1"/>
                </a:solidFill>
                <a:latin typeface="Arial"/>
                <a:ea typeface="Arial"/>
                <a:cs typeface="Arial"/>
                <a:sym typeface="Arial"/>
              </a:rPr>
              <a:t>. It allows you to model systems using physical connections and component-level representations, following the laws of physics directly (e.g., Kirchhoff’s laws, conservation of energy).</a:t>
            </a:r>
            <a:endParaRPr dirty="0"/>
          </a:p>
        </p:txBody>
      </p:sp>
      <p:pic>
        <p:nvPicPr>
          <p:cNvPr id="407" name="Google Shape;407;p16"/>
          <p:cNvPicPr preferRelativeResize="0"/>
          <p:nvPr/>
        </p:nvPicPr>
        <p:blipFill rotWithShape="1">
          <a:blip r:embed="rId3">
            <a:alphaModFix/>
          </a:blip>
          <a:srcRect/>
          <a:stretch/>
        </p:blipFill>
        <p:spPr>
          <a:xfrm>
            <a:off x="7620000" y="3976744"/>
            <a:ext cx="3391127" cy="2373789"/>
          </a:xfrm>
          <a:prstGeom prst="rect">
            <a:avLst/>
          </a:prstGeom>
          <a:noFill/>
          <a:ln>
            <a:noFill/>
          </a:ln>
        </p:spPr>
      </p:pic>
      <p:pic>
        <p:nvPicPr>
          <p:cNvPr id="408" name="Google Shape;408;p16"/>
          <p:cNvPicPr preferRelativeResize="0"/>
          <p:nvPr/>
        </p:nvPicPr>
        <p:blipFill rotWithShape="1">
          <a:blip r:embed="rId4">
            <a:alphaModFix/>
          </a:blip>
          <a:srcRect/>
          <a:stretch/>
        </p:blipFill>
        <p:spPr>
          <a:xfrm>
            <a:off x="7620000" y="1439779"/>
            <a:ext cx="2720576" cy="195851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17"/>
          <p:cNvSpPr txBox="1">
            <a:spLocks noGrp="1"/>
          </p:cNvSpPr>
          <p:nvPr>
            <p:ph type="title"/>
          </p:nvPr>
        </p:nvSpPr>
        <p:spPr>
          <a:xfrm>
            <a:off x="609602" y="457200"/>
            <a:ext cx="10769600" cy="99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2800"/>
              <a:buFont typeface="Arial"/>
              <a:buNone/>
            </a:pPr>
            <a:r>
              <a:rPr lang="en-US" dirty="0" err="1"/>
              <a:t>Simscape</a:t>
            </a:r>
            <a:r>
              <a:rPr lang="en-US" dirty="0"/>
              <a:t> vs Simulink</a:t>
            </a:r>
            <a:br>
              <a:rPr lang="en-US" dirty="0"/>
            </a:br>
            <a:r>
              <a:rPr lang="en-US" sz="2400" dirty="0">
                <a:solidFill>
                  <a:srgbClr val="595959"/>
                </a:solidFill>
              </a:rPr>
              <a:t>2. Signal and Physical Connections</a:t>
            </a:r>
            <a:endParaRPr dirty="0">
              <a:solidFill>
                <a:srgbClr val="595959"/>
              </a:solidFill>
            </a:endParaRPr>
          </a:p>
        </p:txBody>
      </p:sp>
      <p:sp>
        <p:nvSpPr>
          <p:cNvPr id="414" name="Google Shape;414;p17"/>
          <p:cNvSpPr txBox="1">
            <a:spLocks noGrp="1"/>
          </p:cNvSpPr>
          <p:nvPr>
            <p:ph type="body" idx="1"/>
          </p:nvPr>
        </p:nvSpPr>
        <p:spPr>
          <a:xfrm>
            <a:off x="609602" y="2443899"/>
            <a:ext cx="5522912" cy="3139281"/>
          </a:xfrm>
          <a:prstGeom prst="rect">
            <a:avLst/>
          </a:prstGeom>
          <a:noFill/>
          <a:ln>
            <a:noFill/>
          </a:ln>
        </p:spPr>
        <p:txBody>
          <a:bodyPr spcFirstLastPara="1" wrap="square" lIns="91425" tIns="45700" rIns="91425" bIns="45700" anchor="ctr" anchorCtr="0">
            <a:spAutoFit/>
          </a:bodyPr>
          <a:lstStyle/>
          <a:p>
            <a:pPr marL="171450" indent="-285750">
              <a:spcBef>
                <a:spcPts val="0"/>
              </a:spcBef>
              <a:buClr>
                <a:srgbClr val="176DAD"/>
              </a:buClr>
              <a:buSzPts val="1800"/>
              <a:buFont typeface="Arial" panose="020B0604020202020204" pitchFamily="34" charset="0"/>
              <a:buChar char="•"/>
            </a:pPr>
            <a:r>
              <a:rPr lang="en-GB" sz="1800" dirty="0">
                <a:solidFill>
                  <a:schemeClr val="dk1"/>
                </a:solidFill>
                <a:latin typeface="Arial"/>
                <a:cs typeface="Arial"/>
                <a:sym typeface="Arial"/>
              </a:rPr>
              <a:t>In </a:t>
            </a:r>
            <a:r>
              <a:rPr lang="en-GB" sz="1800" b="1" dirty="0">
                <a:solidFill>
                  <a:schemeClr val="dk1"/>
                </a:solidFill>
                <a:latin typeface="Arial"/>
                <a:cs typeface="Arial"/>
                <a:sym typeface="Arial"/>
              </a:rPr>
              <a:t>Simulink</a:t>
            </a:r>
            <a:r>
              <a:rPr lang="en-GB" sz="1800" dirty="0">
                <a:solidFill>
                  <a:schemeClr val="dk1"/>
                </a:solidFill>
                <a:latin typeface="Arial"/>
                <a:cs typeface="Arial"/>
                <a:sym typeface="Arial"/>
              </a:rPr>
              <a:t>, blocks are connected by </a:t>
            </a:r>
            <a:r>
              <a:rPr lang="en-GB" sz="1800" b="1" dirty="0">
                <a:solidFill>
                  <a:schemeClr val="dk1"/>
                </a:solidFill>
                <a:latin typeface="Arial"/>
                <a:cs typeface="Arial"/>
                <a:sym typeface="Arial"/>
              </a:rPr>
              <a:t>unidirectional signals</a:t>
            </a:r>
            <a:r>
              <a:rPr lang="en-GB" sz="1800" dirty="0">
                <a:solidFill>
                  <a:schemeClr val="dk1"/>
                </a:solidFill>
                <a:latin typeface="Arial"/>
                <a:cs typeface="Arial"/>
                <a:sym typeface="Arial"/>
              </a:rPr>
              <a:t>, which represent data or control flow.</a:t>
            </a:r>
            <a:endParaRPr lang="en-GB" sz="1800" dirty="0">
              <a:solidFill>
                <a:schemeClr val="dk1"/>
              </a:solidFill>
              <a:latin typeface="Arial"/>
              <a:cs typeface="Arial"/>
            </a:endParaRPr>
          </a:p>
          <a:p>
            <a:pPr>
              <a:spcBef>
                <a:spcPts val="0"/>
              </a:spcBef>
              <a:buClr>
                <a:srgbClr val="176DAD"/>
              </a:buClr>
              <a:buSzPts val="1800"/>
              <a:buFont typeface="Arial" panose="020B0604020202020204" pitchFamily="34" charset="0"/>
              <a:buChar char="•"/>
            </a:pPr>
            <a:endParaRPr lang="en-GB" sz="1800" dirty="0">
              <a:solidFill>
                <a:schemeClr val="dk1"/>
              </a:solidFill>
              <a:latin typeface="Arial"/>
              <a:cs typeface="Arial"/>
            </a:endParaRPr>
          </a:p>
          <a:p>
            <a:pPr>
              <a:spcBef>
                <a:spcPts val="0"/>
              </a:spcBef>
              <a:buClr>
                <a:srgbClr val="176DAD"/>
              </a:buClr>
              <a:buSzPts val="1800"/>
              <a:buFont typeface="Arial" panose="020B0604020202020204" pitchFamily="34" charset="0"/>
              <a:buChar char="•"/>
            </a:pPr>
            <a:endParaRPr lang="en-GB" sz="1800" dirty="0">
              <a:solidFill>
                <a:schemeClr val="dk1"/>
              </a:solidFill>
              <a:latin typeface="Arial"/>
              <a:cs typeface="Arial"/>
            </a:endParaRPr>
          </a:p>
          <a:p>
            <a:pPr>
              <a:spcBef>
                <a:spcPts val="0"/>
              </a:spcBef>
              <a:buClr>
                <a:srgbClr val="176DAD"/>
              </a:buClr>
              <a:buSzPts val="1800"/>
              <a:buFont typeface="Arial" panose="020B0604020202020204" pitchFamily="34" charset="0"/>
              <a:buChar char="•"/>
            </a:pPr>
            <a:endParaRPr lang="en-GB" sz="1800" dirty="0">
              <a:solidFill>
                <a:schemeClr val="dk1"/>
              </a:solidFill>
              <a:latin typeface="Arial"/>
              <a:cs typeface="Arial"/>
            </a:endParaRPr>
          </a:p>
          <a:p>
            <a:pPr marL="0" indent="0">
              <a:spcBef>
                <a:spcPts val="0"/>
              </a:spcBef>
              <a:buClr>
                <a:srgbClr val="176DAD"/>
              </a:buClr>
              <a:buSzPts val="1800"/>
              <a:buNone/>
            </a:pPr>
            <a:endParaRPr lang="en-GB" sz="1800" dirty="0">
              <a:solidFill>
                <a:schemeClr val="dk1"/>
              </a:solidFill>
              <a:latin typeface="Arial"/>
              <a:cs typeface="Arial"/>
              <a:sym typeface="Arial"/>
            </a:endParaRPr>
          </a:p>
          <a:p>
            <a:pPr marL="171450" indent="-285750">
              <a:spcBef>
                <a:spcPts val="0"/>
              </a:spcBef>
              <a:buClr>
                <a:srgbClr val="176DAD"/>
              </a:buClr>
              <a:buSzPts val="1800"/>
              <a:buFont typeface="Arial" panose="020B0604020202020204" pitchFamily="34" charset="0"/>
              <a:buChar char="•"/>
            </a:pPr>
            <a:r>
              <a:rPr lang="en-GB" sz="1800" dirty="0">
                <a:solidFill>
                  <a:schemeClr val="dk1"/>
                </a:solidFill>
                <a:latin typeface="Arial"/>
                <a:cs typeface="Arial"/>
                <a:sym typeface="Arial"/>
              </a:rPr>
              <a:t>In </a:t>
            </a:r>
            <a:r>
              <a:rPr lang="en-GB" sz="1800" b="1" dirty="0" err="1">
                <a:solidFill>
                  <a:schemeClr val="dk1"/>
                </a:solidFill>
                <a:latin typeface="Arial"/>
                <a:cs typeface="Arial"/>
                <a:sym typeface="Arial"/>
              </a:rPr>
              <a:t>Simscape</a:t>
            </a:r>
            <a:r>
              <a:rPr lang="en-GB" sz="1800" dirty="0">
                <a:solidFill>
                  <a:schemeClr val="dk1"/>
                </a:solidFill>
                <a:latin typeface="Arial"/>
                <a:cs typeface="Arial"/>
                <a:sym typeface="Arial"/>
              </a:rPr>
              <a:t>, components are connected by </a:t>
            </a:r>
            <a:r>
              <a:rPr lang="en-GB" sz="1800" b="1" dirty="0">
                <a:solidFill>
                  <a:schemeClr val="dk1"/>
                </a:solidFill>
                <a:latin typeface="Arial"/>
                <a:cs typeface="Arial"/>
                <a:sym typeface="Arial"/>
              </a:rPr>
              <a:t>bidirectional physical connections </a:t>
            </a:r>
            <a:r>
              <a:rPr lang="en-GB" sz="1800" dirty="0">
                <a:solidFill>
                  <a:schemeClr val="dk1"/>
                </a:solidFill>
                <a:latin typeface="Arial"/>
                <a:cs typeface="Arial"/>
                <a:sym typeface="Arial"/>
              </a:rPr>
              <a:t>(ports), which represent real-world interactions like force, current, voltage, and flow rate.</a:t>
            </a:r>
            <a:endParaRPr lang="en-GB" sz="1800" dirty="0">
              <a:solidFill>
                <a:schemeClr val="dk1"/>
              </a:solidFill>
              <a:latin typeface="Arial"/>
              <a:cs typeface="Arial"/>
            </a:endParaRPr>
          </a:p>
        </p:txBody>
      </p:sp>
      <p:pic>
        <p:nvPicPr>
          <p:cNvPr id="415" name="Google Shape;415;p17" descr="Animation: Moving one block in alignment with another makes a suggested connection appear."/>
          <p:cNvPicPr preferRelativeResize="0"/>
          <p:nvPr/>
        </p:nvPicPr>
        <p:blipFill rotWithShape="1">
          <a:blip r:embed="rId3">
            <a:alphaModFix/>
          </a:blip>
          <a:srcRect/>
          <a:stretch/>
        </p:blipFill>
        <p:spPr>
          <a:xfrm>
            <a:off x="7321443" y="1809750"/>
            <a:ext cx="3810000" cy="1619250"/>
          </a:xfrm>
          <a:prstGeom prst="rect">
            <a:avLst/>
          </a:prstGeom>
          <a:noFill/>
          <a:ln>
            <a:noFill/>
          </a:ln>
        </p:spPr>
      </p:pic>
      <p:pic>
        <p:nvPicPr>
          <p:cNvPr id="416" name="Google Shape;416;p17"/>
          <p:cNvPicPr preferRelativeResize="0"/>
          <p:nvPr/>
        </p:nvPicPr>
        <p:blipFill rotWithShape="1">
          <a:blip r:embed="rId4">
            <a:alphaModFix/>
          </a:blip>
          <a:srcRect/>
          <a:stretch/>
        </p:blipFill>
        <p:spPr>
          <a:xfrm>
            <a:off x="7618483" y="3790950"/>
            <a:ext cx="3215919" cy="255292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18"/>
          <p:cNvSpPr txBox="1">
            <a:spLocks noGrp="1"/>
          </p:cNvSpPr>
          <p:nvPr>
            <p:ph type="title"/>
          </p:nvPr>
        </p:nvSpPr>
        <p:spPr>
          <a:xfrm>
            <a:off x="609602" y="457200"/>
            <a:ext cx="10769600" cy="99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2800"/>
              <a:buFont typeface="Arial"/>
              <a:buNone/>
            </a:pPr>
            <a:r>
              <a:rPr lang="en-US" dirty="0" err="1"/>
              <a:t>Simscape</a:t>
            </a:r>
            <a:r>
              <a:rPr lang="en-US" dirty="0"/>
              <a:t> vs Simulink</a:t>
            </a:r>
            <a:br>
              <a:rPr lang="en-US" dirty="0"/>
            </a:br>
            <a:r>
              <a:rPr lang="en-US" sz="2400" dirty="0">
                <a:solidFill>
                  <a:srgbClr val="595959"/>
                </a:solidFill>
              </a:rPr>
              <a:t>3. Integration</a:t>
            </a:r>
            <a:endParaRPr dirty="0">
              <a:solidFill>
                <a:srgbClr val="595959"/>
              </a:solidFill>
            </a:endParaRPr>
          </a:p>
        </p:txBody>
      </p:sp>
      <p:sp>
        <p:nvSpPr>
          <p:cNvPr id="422" name="Google Shape;422;p18"/>
          <p:cNvSpPr txBox="1">
            <a:spLocks noGrp="1"/>
          </p:cNvSpPr>
          <p:nvPr>
            <p:ph type="body" idx="1"/>
          </p:nvPr>
        </p:nvSpPr>
        <p:spPr>
          <a:xfrm>
            <a:off x="609601" y="1584142"/>
            <a:ext cx="4260957" cy="4524275"/>
          </a:xfrm>
          <a:prstGeom prst="rect">
            <a:avLst/>
          </a:prstGeom>
          <a:noFill/>
          <a:ln>
            <a:noFill/>
          </a:ln>
        </p:spPr>
        <p:txBody>
          <a:bodyPr spcFirstLastPara="1" wrap="square" lIns="91425" tIns="45700" rIns="91425" bIns="45700" anchor="ctr" anchorCtr="0">
            <a:spAutoFit/>
          </a:bodyPr>
          <a:lstStyle/>
          <a:p>
            <a:pPr marL="171450" marR="0" lvl="0" indent="-285750" algn="l" rtl="0">
              <a:lnSpc>
                <a:spcPct val="100000"/>
              </a:lnSpc>
              <a:spcBef>
                <a:spcPts val="0"/>
              </a:spcBef>
              <a:spcAft>
                <a:spcPts val="0"/>
              </a:spcAft>
              <a:buClr>
                <a:srgbClr val="176DAD"/>
              </a:buClr>
              <a:buSzPts val="1800"/>
              <a:buFont typeface="Arial" panose="020B0604020202020204" pitchFamily="34" charset="0"/>
              <a:buChar char="•"/>
            </a:pPr>
            <a:r>
              <a:rPr lang="en-US" sz="1800" b="1" i="0" u="none" strike="noStrike" cap="none" dirty="0" err="1">
                <a:solidFill>
                  <a:schemeClr val="dk1"/>
                </a:solidFill>
                <a:latin typeface="Arial"/>
                <a:ea typeface="Arial"/>
                <a:cs typeface="Arial"/>
                <a:sym typeface="Arial"/>
              </a:rPr>
              <a:t>Simscape</a:t>
            </a:r>
            <a:r>
              <a:rPr lang="en-US" sz="1800" b="0" i="0" u="none" strike="noStrike" cap="none" dirty="0">
                <a:solidFill>
                  <a:schemeClr val="dk1"/>
                </a:solidFill>
                <a:latin typeface="Arial"/>
                <a:ea typeface="Arial"/>
                <a:cs typeface="Arial"/>
                <a:sym typeface="Arial"/>
              </a:rPr>
              <a:t> models can be integrated into </a:t>
            </a:r>
            <a:r>
              <a:rPr lang="en-US" sz="1800" b="1" i="0" u="none" strike="noStrike" cap="none" dirty="0">
                <a:solidFill>
                  <a:schemeClr val="dk1"/>
                </a:solidFill>
                <a:latin typeface="Arial"/>
                <a:ea typeface="Arial"/>
                <a:cs typeface="Arial"/>
                <a:sym typeface="Arial"/>
              </a:rPr>
              <a:t>Simulink</a:t>
            </a:r>
            <a:r>
              <a:rPr lang="en-US" sz="1800" b="0" i="0" u="none" strike="noStrike" cap="none" dirty="0">
                <a:solidFill>
                  <a:schemeClr val="dk1"/>
                </a:solidFill>
                <a:latin typeface="Arial"/>
                <a:ea typeface="Arial"/>
                <a:cs typeface="Arial"/>
                <a:sym typeface="Arial"/>
              </a:rPr>
              <a:t> environments seamlessly. </a:t>
            </a:r>
            <a:r>
              <a:rPr lang="en-US" sz="1800" dirty="0"/>
              <a:t>You can do so using, for example:</a:t>
            </a:r>
            <a:endParaRPr dirty="0"/>
          </a:p>
          <a:p>
            <a:pPr marR="0" lvl="0" algn="l" rtl="0">
              <a:lnSpc>
                <a:spcPct val="100000"/>
              </a:lnSpc>
              <a:spcBef>
                <a:spcPts val="0"/>
              </a:spcBef>
              <a:spcAft>
                <a:spcPts val="0"/>
              </a:spcAft>
              <a:buClr>
                <a:srgbClr val="176DAD"/>
              </a:buClr>
              <a:buSzPts val="1800"/>
              <a:buFont typeface="Courier New" panose="02070309020205020404" pitchFamily="49" charset="0"/>
              <a:buChar char="o"/>
            </a:pPr>
            <a:r>
              <a:rPr lang="en-US" sz="1800" i="1" dirty="0"/>
              <a:t>PS-Simulink Converter</a:t>
            </a:r>
            <a:endParaRPr dirty="0"/>
          </a:p>
          <a:p>
            <a:pPr marR="0" lvl="0" algn="l" rtl="0">
              <a:lnSpc>
                <a:spcPct val="100000"/>
              </a:lnSpc>
              <a:spcBef>
                <a:spcPts val="0"/>
              </a:spcBef>
              <a:spcAft>
                <a:spcPts val="0"/>
              </a:spcAft>
              <a:buClr>
                <a:srgbClr val="176DAD"/>
              </a:buClr>
              <a:buSzPts val="1800"/>
              <a:buFont typeface="Courier New" panose="02070309020205020404" pitchFamily="49" charset="0"/>
              <a:buChar char="o"/>
            </a:pPr>
            <a:r>
              <a:rPr lang="en-US" sz="1800" i="1" dirty="0"/>
              <a:t>Simulink-PS Converter</a:t>
            </a:r>
            <a:endParaRPr sz="1800" dirty="0"/>
          </a:p>
          <a:p>
            <a:pPr marR="0" lvl="0" algn="l" rtl="0">
              <a:lnSpc>
                <a:spcPct val="100000"/>
              </a:lnSpc>
              <a:spcBef>
                <a:spcPts val="0"/>
              </a:spcBef>
              <a:spcAft>
                <a:spcPts val="0"/>
              </a:spcAft>
              <a:buClr>
                <a:srgbClr val="176DAD"/>
              </a:buClr>
              <a:buSzPts val="1800"/>
              <a:buFont typeface="Arial" panose="020B0604020202020204" pitchFamily="34" charset="0"/>
              <a:buChar char="•"/>
            </a:pPr>
            <a:endParaRPr sz="1800" dirty="0"/>
          </a:p>
          <a:p>
            <a:pPr marR="0" lvl="0" algn="l" rtl="0">
              <a:lnSpc>
                <a:spcPct val="100000"/>
              </a:lnSpc>
              <a:spcBef>
                <a:spcPts val="0"/>
              </a:spcBef>
              <a:spcAft>
                <a:spcPts val="0"/>
              </a:spcAft>
              <a:buClr>
                <a:srgbClr val="176DAD"/>
              </a:buClr>
              <a:buSzPts val="1800"/>
              <a:buFont typeface="Arial" panose="020B0604020202020204" pitchFamily="34" charset="0"/>
              <a:buChar char="•"/>
            </a:pPr>
            <a:endParaRPr sz="1800" dirty="0"/>
          </a:p>
          <a:p>
            <a:pPr marR="0" lvl="0" algn="l" rtl="0">
              <a:lnSpc>
                <a:spcPct val="100000"/>
              </a:lnSpc>
              <a:spcBef>
                <a:spcPts val="0"/>
              </a:spcBef>
              <a:spcAft>
                <a:spcPts val="0"/>
              </a:spcAft>
              <a:buClr>
                <a:srgbClr val="176DAD"/>
              </a:buClr>
              <a:buSzPts val="1800"/>
              <a:buFont typeface="Arial" panose="020B0604020202020204" pitchFamily="34" charset="0"/>
              <a:buChar char="•"/>
            </a:pPr>
            <a:endParaRPr sz="1800" dirty="0"/>
          </a:p>
          <a:p>
            <a:pPr marR="0" lvl="0" algn="l" rtl="0">
              <a:lnSpc>
                <a:spcPct val="100000"/>
              </a:lnSpc>
              <a:spcBef>
                <a:spcPts val="0"/>
              </a:spcBef>
              <a:spcAft>
                <a:spcPts val="0"/>
              </a:spcAft>
              <a:buClr>
                <a:srgbClr val="176DAD"/>
              </a:buClr>
              <a:buSzPts val="1800"/>
              <a:buFont typeface="Arial" panose="020B0604020202020204" pitchFamily="34" charset="0"/>
              <a:buChar char="•"/>
            </a:pPr>
            <a:endParaRPr sz="1800" dirty="0"/>
          </a:p>
          <a:p>
            <a:pPr marL="171450" lvl="0" indent="-285750" algn="l" rtl="0">
              <a:spcBef>
                <a:spcPts val="0"/>
              </a:spcBef>
              <a:spcAft>
                <a:spcPts val="0"/>
              </a:spcAft>
              <a:buClr>
                <a:srgbClr val="176DAD"/>
              </a:buClr>
              <a:buSzPts val="1800"/>
              <a:buFont typeface="Arial" panose="020B0604020202020204" pitchFamily="34" charset="0"/>
              <a:buChar char="•"/>
            </a:pPr>
            <a:r>
              <a:rPr lang="en-US" sz="1800" b="0" i="0" u="none" strike="noStrike" cap="none" dirty="0">
                <a:solidFill>
                  <a:schemeClr val="dk1"/>
                </a:solidFill>
                <a:latin typeface="Arial"/>
                <a:ea typeface="Arial"/>
                <a:cs typeface="Arial"/>
                <a:sym typeface="Arial"/>
              </a:rPr>
              <a:t>As </a:t>
            </a:r>
            <a:r>
              <a:rPr lang="en-US" sz="1800" b="1" i="0" u="none" strike="noStrike" cap="none" dirty="0">
                <a:solidFill>
                  <a:schemeClr val="dk1"/>
                </a:solidFill>
                <a:latin typeface="Arial"/>
                <a:ea typeface="Arial"/>
                <a:cs typeface="Arial"/>
                <a:sym typeface="Arial"/>
              </a:rPr>
              <a:t>Simulink, </a:t>
            </a:r>
            <a:r>
              <a:rPr lang="en-US" sz="1800" i="0" u="none" strike="noStrike" cap="none" dirty="0" err="1">
                <a:solidFill>
                  <a:schemeClr val="dk1"/>
                </a:solidFill>
                <a:latin typeface="Arial"/>
                <a:ea typeface="Arial"/>
                <a:cs typeface="Arial"/>
                <a:sym typeface="Arial"/>
              </a:rPr>
              <a:t>Simscape</a:t>
            </a:r>
            <a:r>
              <a:rPr lang="en-US" sz="1800" i="0" u="none" strike="noStrike" cap="none" dirty="0">
                <a:solidFill>
                  <a:schemeClr val="dk1"/>
                </a:solidFill>
                <a:latin typeface="Arial"/>
                <a:ea typeface="Arial"/>
                <a:cs typeface="Arial"/>
                <a:sym typeface="Arial"/>
              </a:rPr>
              <a:t> can also</a:t>
            </a:r>
            <a:r>
              <a:rPr lang="en-US" sz="1800" dirty="0"/>
              <a:t> be integrated into MATLAB to work with the results you get</a:t>
            </a:r>
            <a:r>
              <a:rPr lang="en-US" sz="1800" b="0" i="0" u="none" strike="noStrike" cap="none" dirty="0">
                <a:solidFill>
                  <a:schemeClr val="dk1"/>
                </a:solidFill>
                <a:latin typeface="Arial"/>
                <a:ea typeface="Arial"/>
                <a:cs typeface="Arial"/>
                <a:sym typeface="Arial"/>
              </a:rPr>
              <a:t>. </a:t>
            </a:r>
            <a:r>
              <a:rPr lang="en-US" sz="1800" dirty="0"/>
              <a:t>Workspace variables are seen by Simulink and </a:t>
            </a:r>
            <a:r>
              <a:rPr lang="en-US" sz="1800" dirty="0" err="1"/>
              <a:t>Simscape</a:t>
            </a:r>
            <a:endParaRPr sz="18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dirty="0"/>
          </a:p>
        </p:txBody>
      </p:sp>
      <p:pic>
        <p:nvPicPr>
          <p:cNvPr id="423" name="Google Shape;423;p18"/>
          <p:cNvPicPr preferRelativeResize="0"/>
          <p:nvPr/>
        </p:nvPicPr>
        <p:blipFill rotWithShape="1">
          <a:blip r:embed="rId3">
            <a:alphaModFix/>
          </a:blip>
          <a:srcRect/>
          <a:stretch/>
        </p:blipFill>
        <p:spPr>
          <a:xfrm>
            <a:off x="4114800" y="3244581"/>
            <a:ext cx="1272650" cy="853514"/>
          </a:xfrm>
          <a:prstGeom prst="rect">
            <a:avLst/>
          </a:prstGeom>
          <a:noFill/>
          <a:ln>
            <a:noFill/>
          </a:ln>
        </p:spPr>
      </p:pic>
      <p:pic>
        <p:nvPicPr>
          <p:cNvPr id="424" name="Google Shape;424;p18"/>
          <p:cNvPicPr preferRelativeResize="0"/>
          <p:nvPr/>
        </p:nvPicPr>
        <p:blipFill rotWithShape="1">
          <a:blip r:embed="rId4">
            <a:alphaModFix/>
          </a:blip>
          <a:srcRect/>
          <a:stretch/>
        </p:blipFill>
        <p:spPr>
          <a:xfrm>
            <a:off x="7806185" y="1905000"/>
            <a:ext cx="3638766" cy="2247196"/>
          </a:xfrm>
          <a:prstGeom prst="rect">
            <a:avLst/>
          </a:prstGeom>
          <a:noFill/>
          <a:ln>
            <a:noFill/>
          </a:ln>
        </p:spPr>
      </p:pic>
      <p:pic>
        <p:nvPicPr>
          <p:cNvPr id="425" name="Google Shape;425;p18"/>
          <p:cNvPicPr preferRelativeResize="0"/>
          <p:nvPr/>
        </p:nvPicPr>
        <p:blipFill rotWithShape="1">
          <a:blip r:embed="rId5">
            <a:alphaModFix/>
          </a:blip>
          <a:srcRect/>
          <a:stretch/>
        </p:blipFill>
        <p:spPr>
          <a:xfrm>
            <a:off x="6553200" y="414586"/>
            <a:ext cx="3072368" cy="2153442"/>
          </a:xfrm>
          <a:prstGeom prst="rect">
            <a:avLst/>
          </a:prstGeom>
          <a:noFill/>
          <a:ln>
            <a:noFill/>
          </a:ln>
        </p:spPr>
      </p:pic>
      <p:pic>
        <p:nvPicPr>
          <p:cNvPr id="426" name="Google Shape;426;p18"/>
          <p:cNvPicPr preferRelativeResize="0"/>
          <p:nvPr/>
        </p:nvPicPr>
        <p:blipFill rotWithShape="1">
          <a:blip r:embed="rId6">
            <a:alphaModFix/>
          </a:blip>
          <a:srcRect/>
          <a:stretch/>
        </p:blipFill>
        <p:spPr>
          <a:xfrm>
            <a:off x="5791200" y="4609396"/>
            <a:ext cx="4805689" cy="168682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19"/>
          <p:cNvSpPr txBox="1">
            <a:spLocks noGrp="1"/>
          </p:cNvSpPr>
          <p:nvPr>
            <p:ph type="title"/>
          </p:nvPr>
        </p:nvSpPr>
        <p:spPr>
          <a:xfrm>
            <a:off x="609602" y="457200"/>
            <a:ext cx="10769600" cy="99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2800"/>
              <a:buFont typeface="Arial"/>
              <a:buNone/>
            </a:pPr>
            <a:r>
              <a:rPr lang="en-US" dirty="0" err="1"/>
              <a:t>Simscape</a:t>
            </a:r>
            <a:r>
              <a:rPr lang="en-US" dirty="0"/>
              <a:t> vs Simulink</a:t>
            </a:r>
            <a:br>
              <a:rPr lang="en-US" dirty="0"/>
            </a:br>
            <a:r>
              <a:rPr lang="en-US" sz="2400" dirty="0">
                <a:solidFill>
                  <a:srgbClr val="595959"/>
                </a:solidFill>
              </a:rPr>
              <a:t>4. Solver Configuration</a:t>
            </a:r>
            <a:endParaRPr dirty="0">
              <a:solidFill>
                <a:srgbClr val="595959"/>
              </a:solidFill>
            </a:endParaRPr>
          </a:p>
        </p:txBody>
      </p:sp>
      <p:sp>
        <p:nvSpPr>
          <p:cNvPr id="432" name="Google Shape;432;p19"/>
          <p:cNvSpPr txBox="1">
            <a:spLocks noGrp="1"/>
          </p:cNvSpPr>
          <p:nvPr>
            <p:ph type="body" idx="1"/>
          </p:nvPr>
        </p:nvSpPr>
        <p:spPr>
          <a:xfrm>
            <a:off x="584081" y="1734154"/>
            <a:ext cx="5410198" cy="4247276"/>
          </a:xfrm>
          <a:prstGeom prst="rect">
            <a:avLst/>
          </a:prstGeom>
          <a:noFill/>
          <a:ln>
            <a:noFill/>
          </a:ln>
        </p:spPr>
        <p:txBody>
          <a:bodyPr spcFirstLastPara="1" wrap="square" lIns="91425" tIns="45700" rIns="91425" bIns="45700" anchor="ctr" anchorCtr="0">
            <a:spAutoFit/>
          </a:bodyPr>
          <a:lstStyle/>
          <a:p>
            <a:pPr marL="171450" marR="0" lvl="0" indent="-285750" algn="l" rtl="0">
              <a:lnSpc>
                <a:spcPct val="100000"/>
              </a:lnSpc>
              <a:spcBef>
                <a:spcPts val="0"/>
              </a:spcBef>
              <a:spcAft>
                <a:spcPts val="0"/>
              </a:spcAft>
              <a:buClr>
                <a:srgbClr val="176DAD"/>
              </a:buClr>
              <a:buSzPts val="1800"/>
              <a:buFont typeface="Arial" panose="020B0604020202020204" pitchFamily="34" charset="0"/>
              <a:buChar char="•"/>
            </a:pPr>
            <a:r>
              <a:rPr lang="en-US" sz="1800" b="1" i="0" u="none" strike="noStrike" cap="none" dirty="0">
                <a:solidFill>
                  <a:schemeClr val="dk1"/>
                </a:solidFill>
                <a:latin typeface="Arial"/>
                <a:ea typeface="Arial"/>
                <a:cs typeface="Arial"/>
                <a:sym typeface="Arial"/>
              </a:rPr>
              <a:t>Simulink</a:t>
            </a:r>
            <a:r>
              <a:rPr lang="en-US" sz="1800" b="0" i="0" u="none" strike="noStrike" cap="none" dirty="0">
                <a:solidFill>
                  <a:schemeClr val="dk1"/>
                </a:solidFill>
                <a:latin typeface="Arial"/>
                <a:ea typeface="Arial"/>
                <a:cs typeface="Arial"/>
                <a:sym typeface="Arial"/>
              </a:rPr>
              <a:t> models typically use the </a:t>
            </a:r>
            <a:r>
              <a:rPr lang="en-US" sz="1800" b="1" i="0" u="none" strike="noStrike" cap="none" dirty="0">
                <a:solidFill>
                  <a:schemeClr val="dk1"/>
                </a:solidFill>
                <a:latin typeface="Arial"/>
                <a:ea typeface="Arial"/>
                <a:cs typeface="Arial"/>
                <a:sym typeface="Arial"/>
              </a:rPr>
              <a:t>default solver settings</a:t>
            </a:r>
            <a:r>
              <a:rPr lang="en-US" sz="1800" b="0" i="0" u="none" strike="noStrike" cap="none" dirty="0">
                <a:solidFill>
                  <a:schemeClr val="dk1"/>
                </a:solidFill>
                <a:latin typeface="Arial"/>
                <a:ea typeface="Arial"/>
                <a:cs typeface="Arial"/>
                <a:sym typeface="Arial"/>
              </a:rPr>
              <a:t> specified in the model configuration. The solver is applied globally and automatically handles the numerical integration of signals.</a:t>
            </a:r>
            <a:endParaRPr dirty="0"/>
          </a:p>
          <a:p>
            <a:pPr>
              <a:spcBef>
                <a:spcPts val="0"/>
              </a:spcBef>
              <a:buClr>
                <a:srgbClr val="176DAD"/>
              </a:buClr>
              <a:buSzPts val="1800"/>
              <a:buFont typeface="Arial" panose="020B0604020202020204" pitchFamily="34" charset="0"/>
              <a:buChar char="•"/>
            </a:pPr>
            <a:endParaRPr sz="1800" dirty="0"/>
          </a:p>
          <a:p>
            <a:pPr>
              <a:spcBef>
                <a:spcPts val="0"/>
              </a:spcBef>
              <a:buClr>
                <a:srgbClr val="176DAD"/>
              </a:buClr>
              <a:buSzPts val="1800"/>
              <a:buFont typeface="Arial" panose="020B0604020202020204" pitchFamily="34" charset="0"/>
              <a:buChar char="•"/>
            </a:pPr>
            <a:endParaRPr sz="1800" b="0" i="0" u="none" strike="noStrike" cap="none" dirty="0">
              <a:solidFill>
                <a:schemeClr val="dk1"/>
              </a:solidFill>
              <a:latin typeface="Arial"/>
              <a:ea typeface="Arial"/>
              <a:cs typeface="Arial"/>
              <a:sym typeface="Arial"/>
            </a:endParaRPr>
          </a:p>
          <a:p>
            <a:pPr>
              <a:spcBef>
                <a:spcPts val="0"/>
              </a:spcBef>
              <a:buClr>
                <a:srgbClr val="176DAD"/>
              </a:buClr>
              <a:buSzPts val="1800"/>
              <a:buFont typeface="Arial" panose="020B0604020202020204" pitchFamily="34" charset="0"/>
              <a:buChar char="•"/>
            </a:pPr>
            <a:endParaRPr sz="1800" dirty="0"/>
          </a:p>
          <a:p>
            <a:pPr>
              <a:spcBef>
                <a:spcPts val="0"/>
              </a:spcBef>
              <a:buClr>
                <a:srgbClr val="176DAD"/>
              </a:buClr>
              <a:buSzPts val="1800"/>
              <a:buFont typeface="Arial" panose="020B0604020202020204" pitchFamily="34" charset="0"/>
              <a:buChar char="•"/>
            </a:pPr>
            <a:endParaRPr sz="1800" b="0" i="0" u="none" strike="noStrike" cap="none" dirty="0">
              <a:solidFill>
                <a:schemeClr val="dk1"/>
              </a:solidFill>
              <a:latin typeface="Arial"/>
              <a:ea typeface="Arial"/>
              <a:cs typeface="Arial"/>
              <a:sym typeface="Arial"/>
            </a:endParaRPr>
          </a:p>
          <a:p>
            <a:pPr marL="171450" marR="0" lvl="0" indent="-285750" algn="l" rtl="0">
              <a:lnSpc>
                <a:spcPct val="100000"/>
              </a:lnSpc>
              <a:spcBef>
                <a:spcPts val="0"/>
              </a:spcBef>
              <a:spcAft>
                <a:spcPts val="0"/>
              </a:spcAft>
              <a:buClr>
                <a:srgbClr val="176DAD"/>
              </a:buClr>
              <a:buSzPts val="1800"/>
              <a:buFont typeface="Arial" panose="020B0604020202020204" pitchFamily="34" charset="0"/>
              <a:buChar char="•"/>
            </a:pPr>
            <a:r>
              <a:rPr lang="en-US" sz="1800" b="1" i="0" u="none" strike="noStrike" cap="none" dirty="0" err="1">
                <a:solidFill>
                  <a:schemeClr val="dk1"/>
                </a:solidFill>
                <a:latin typeface="Arial"/>
                <a:ea typeface="Arial"/>
                <a:cs typeface="Arial"/>
                <a:sym typeface="Arial"/>
              </a:rPr>
              <a:t>Simscape</a:t>
            </a:r>
            <a:r>
              <a:rPr lang="en-US" sz="1800" b="0" i="0" u="none" strike="noStrike" cap="none" dirty="0">
                <a:solidFill>
                  <a:schemeClr val="dk1"/>
                </a:solidFill>
                <a:latin typeface="Arial"/>
                <a:ea typeface="Arial"/>
                <a:cs typeface="Arial"/>
                <a:sym typeface="Arial"/>
              </a:rPr>
              <a:t> models require a dedicated </a:t>
            </a:r>
            <a:r>
              <a:rPr lang="en-US" sz="1800" b="1" i="1" u="none" strike="noStrike" cap="none" dirty="0">
                <a:solidFill>
                  <a:schemeClr val="dk1"/>
                </a:solidFill>
                <a:latin typeface="Arial"/>
                <a:ea typeface="Arial"/>
                <a:cs typeface="Arial"/>
                <a:sym typeface="Arial"/>
              </a:rPr>
              <a:t>Solver Configuration</a:t>
            </a:r>
            <a:r>
              <a:rPr lang="en-US" sz="1800" b="1" i="0" u="none" strike="noStrike" cap="none" dirty="0">
                <a:solidFill>
                  <a:schemeClr val="dk1"/>
                </a:solidFill>
                <a:latin typeface="Arial"/>
                <a:ea typeface="Arial"/>
                <a:cs typeface="Arial"/>
                <a:sym typeface="Arial"/>
              </a:rPr>
              <a:t> block</a:t>
            </a:r>
            <a:r>
              <a:rPr lang="en-US" sz="1800" b="0" i="0" u="none" strike="noStrike" cap="none" dirty="0">
                <a:solidFill>
                  <a:schemeClr val="dk1"/>
                </a:solidFill>
                <a:latin typeface="Arial"/>
                <a:ea typeface="Arial"/>
                <a:cs typeface="Arial"/>
                <a:sym typeface="Arial"/>
              </a:rPr>
              <a:t> to define solver parameters for the physical network. This block is essential to initialize and simulate the physical system correctly, especially when working with stiff systems or when initialization needs are complex.</a:t>
            </a:r>
            <a:endParaRPr dirty="0"/>
          </a:p>
        </p:txBody>
      </p:sp>
      <p:grpSp>
        <p:nvGrpSpPr>
          <p:cNvPr id="433" name="Google Shape;433;p19"/>
          <p:cNvGrpSpPr/>
          <p:nvPr/>
        </p:nvGrpSpPr>
        <p:grpSpPr>
          <a:xfrm>
            <a:off x="6445132" y="1040962"/>
            <a:ext cx="4934070" cy="3301412"/>
            <a:chOff x="5200530" y="2649416"/>
            <a:chExt cx="6603095" cy="3699996"/>
          </a:xfrm>
        </p:grpSpPr>
        <p:grpSp>
          <p:nvGrpSpPr>
            <p:cNvPr id="434" name="Google Shape;434;p19"/>
            <p:cNvGrpSpPr/>
            <p:nvPr/>
          </p:nvGrpSpPr>
          <p:grpSpPr>
            <a:xfrm>
              <a:off x="5200530" y="2649416"/>
              <a:ext cx="6551476" cy="3473854"/>
              <a:chOff x="5200530" y="2649416"/>
              <a:chExt cx="6551476" cy="3473854"/>
            </a:xfrm>
          </p:grpSpPr>
          <p:pic>
            <p:nvPicPr>
              <p:cNvPr id="435" name="Google Shape;435;p19"/>
              <p:cNvPicPr preferRelativeResize="0"/>
              <p:nvPr/>
            </p:nvPicPr>
            <p:blipFill rotWithShape="1">
              <a:blip r:embed="rId3">
                <a:alphaModFix/>
              </a:blip>
              <a:srcRect/>
              <a:stretch/>
            </p:blipFill>
            <p:spPr>
              <a:xfrm>
                <a:off x="5200530" y="2649416"/>
                <a:ext cx="6551476" cy="3473854"/>
              </a:xfrm>
              <a:prstGeom prst="rect">
                <a:avLst/>
              </a:prstGeom>
              <a:noFill/>
              <a:ln>
                <a:noFill/>
              </a:ln>
            </p:spPr>
          </p:pic>
          <p:sp>
            <p:nvSpPr>
              <p:cNvPr id="436" name="Google Shape;436;p19"/>
              <p:cNvSpPr/>
              <p:nvPr/>
            </p:nvSpPr>
            <p:spPr>
              <a:xfrm>
                <a:off x="6629400" y="4038600"/>
                <a:ext cx="4343400" cy="152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rial"/>
                  <a:ea typeface="Arial"/>
                  <a:cs typeface="Arial"/>
                  <a:sym typeface="Arial"/>
                </a:endParaRPr>
              </a:p>
            </p:txBody>
          </p:sp>
        </p:grpSp>
        <p:sp>
          <p:nvSpPr>
            <p:cNvPr id="437" name="Google Shape;437;p19"/>
            <p:cNvSpPr/>
            <p:nvPr/>
          </p:nvSpPr>
          <p:spPr>
            <a:xfrm>
              <a:off x="11234089" y="5806326"/>
              <a:ext cx="569536" cy="543086"/>
            </a:xfrm>
            <a:custGeom>
              <a:avLst/>
              <a:gdLst/>
              <a:ahLst/>
              <a:cxnLst/>
              <a:rect l="l" t="t" r="r" b="b"/>
              <a:pathLst>
                <a:path w="569536" h="543086" extrusionOk="0">
                  <a:moveTo>
                    <a:pt x="0" y="271543"/>
                  </a:moveTo>
                  <a:cubicBezTo>
                    <a:pt x="4732" y="85979"/>
                    <a:pt x="133332" y="4702"/>
                    <a:pt x="284768" y="0"/>
                  </a:cubicBezTo>
                  <a:cubicBezTo>
                    <a:pt x="428814" y="-5001"/>
                    <a:pt x="577039" y="95265"/>
                    <a:pt x="569536" y="271543"/>
                  </a:cubicBezTo>
                  <a:cubicBezTo>
                    <a:pt x="575198" y="417769"/>
                    <a:pt x="430929" y="571401"/>
                    <a:pt x="284768" y="543086"/>
                  </a:cubicBezTo>
                  <a:cubicBezTo>
                    <a:pt x="120547" y="565903"/>
                    <a:pt x="15555" y="407830"/>
                    <a:pt x="0" y="271543"/>
                  </a:cubicBezTo>
                  <a:close/>
                </a:path>
              </a:pathLst>
            </a:cu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rial"/>
                <a:ea typeface="Arial"/>
                <a:cs typeface="Arial"/>
                <a:sym typeface="Arial"/>
              </a:endParaRPr>
            </a:p>
          </p:txBody>
        </p:sp>
      </p:grpSp>
      <p:pic>
        <p:nvPicPr>
          <p:cNvPr id="438" name="Google Shape;438;p19"/>
          <p:cNvPicPr preferRelativeResize="0"/>
          <p:nvPr/>
        </p:nvPicPr>
        <p:blipFill rotWithShape="1">
          <a:blip r:embed="rId4">
            <a:alphaModFix/>
          </a:blip>
          <a:srcRect/>
          <a:stretch/>
        </p:blipFill>
        <p:spPr>
          <a:xfrm>
            <a:off x="7391400" y="4876800"/>
            <a:ext cx="1333616" cy="135647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20"/>
          <p:cNvSpPr txBox="1">
            <a:spLocks noGrp="1"/>
          </p:cNvSpPr>
          <p:nvPr>
            <p:ph type="title"/>
          </p:nvPr>
        </p:nvSpPr>
        <p:spPr>
          <a:xfrm>
            <a:off x="914400" y="1914529"/>
            <a:ext cx="10363200" cy="136207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2"/>
              </a:buClr>
              <a:buSzPts val="3200"/>
              <a:buFont typeface="Arial"/>
              <a:buNone/>
            </a:pPr>
            <a:r>
              <a:rPr lang="en-US" dirty="0"/>
              <a:t>How can </a:t>
            </a:r>
            <a:r>
              <a:rPr lang="en-US" dirty="0" err="1"/>
              <a:t>Simscape</a:t>
            </a:r>
            <a:r>
              <a:rPr lang="en-US" dirty="0"/>
              <a:t> be used in the real world?</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21"/>
          <p:cNvSpPr txBox="1">
            <a:spLocks noGrp="1"/>
          </p:cNvSpPr>
          <p:nvPr>
            <p:ph type="title" idx="4294967295"/>
          </p:nvPr>
        </p:nvSpPr>
        <p:spPr>
          <a:xfrm>
            <a:off x="349957" y="482600"/>
            <a:ext cx="10282767" cy="99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315784"/>
              </a:buClr>
              <a:buSzPts val="2667"/>
              <a:buFont typeface="Arial"/>
              <a:buNone/>
            </a:pPr>
            <a:r>
              <a:rPr lang="en-US" sz="2667">
                <a:solidFill>
                  <a:srgbClr val="315784"/>
                </a:solidFill>
              </a:rPr>
              <a:t>Volvo Construction Equipment Streamlines Product Development with a Real-Time, Human-in-the-Loop Simulator</a:t>
            </a:r>
            <a:br>
              <a:rPr lang="en-US" sz="2667">
                <a:solidFill>
                  <a:srgbClr val="315784"/>
                </a:solidFill>
              </a:rPr>
            </a:br>
            <a:br>
              <a:rPr lang="en-US" sz="2667">
                <a:solidFill>
                  <a:schemeClr val="dk1"/>
                </a:solidFill>
              </a:rPr>
            </a:br>
            <a:br>
              <a:rPr lang="en-US" sz="2667">
                <a:solidFill>
                  <a:schemeClr val="dk1"/>
                </a:solidFill>
              </a:rPr>
            </a:br>
            <a:br>
              <a:rPr lang="en-US" sz="2667">
                <a:solidFill>
                  <a:schemeClr val="dk1"/>
                </a:solidFill>
              </a:rPr>
            </a:br>
            <a:endParaRPr sz="2667">
              <a:solidFill>
                <a:schemeClr val="dk1"/>
              </a:solidFill>
            </a:endParaRPr>
          </a:p>
        </p:txBody>
      </p:sp>
      <p:sp>
        <p:nvSpPr>
          <p:cNvPr id="450" name="Google Shape;450;p21"/>
          <p:cNvSpPr txBox="1">
            <a:spLocks noGrp="1"/>
          </p:cNvSpPr>
          <p:nvPr>
            <p:ph type="body" idx="4294967295"/>
          </p:nvPr>
        </p:nvSpPr>
        <p:spPr>
          <a:xfrm>
            <a:off x="349956" y="1587500"/>
            <a:ext cx="5791200" cy="512445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125687"/>
              </a:buClr>
              <a:buSzPts val="2133"/>
              <a:buNone/>
            </a:pPr>
            <a:r>
              <a:rPr lang="en-US" sz="2133" b="1">
                <a:solidFill>
                  <a:srgbClr val="125687"/>
                </a:solidFill>
                <a:latin typeface="Arial"/>
                <a:ea typeface="Arial"/>
                <a:cs typeface="Arial"/>
                <a:sym typeface="Arial"/>
              </a:rPr>
              <a:t>Challenge</a:t>
            </a:r>
            <a:endParaRPr/>
          </a:p>
          <a:p>
            <a:pPr marL="0" lvl="0" indent="0" algn="l" rtl="0">
              <a:spcBef>
                <a:spcPts val="240"/>
              </a:spcBef>
              <a:spcAft>
                <a:spcPts val="0"/>
              </a:spcAft>
              <a:buClr>
                <a:srgbClr val="215083"/>
              </a:buClr>
              <a:buSzPts val="1867"/>
              <a:buNone/>
            </a:pPr>
            <a:r>
              <a:rPr lang="en-US" sz="1867"/>
              <a:t>Evaluate design concepts and parameter values for construction equipment before building physical prototypes</a:t>
            </a:r>
            <a:endParaRPr sz="1867">
              <a:solidFill>
                <a:srgbClr val="000000"/>
              </a:solidFill>
              <a:latin typeface="Arial"/>
              <a:ea typeface="Arial"/>
              <a:cs typeface="Arial"/>
              <a:sym typeface="Arial"/>
            </a:endParaRPr>
          </a:p>
          <a:p>
            <a:pPr marL="0" lvl="0" indent="0" algn="l" rtl="0">
              <a:spcBef>
                <a:spcPts val="864"/>
              </a:spcBef>
              <a:spcAft>
                <a:spcPts val="0"/>
              </a:spcAft>
              <a:buClr>
                <a:srgbClr val="215083"/>
              </a:buClr>
              <a:buSzPts val="2133"/>
              <a:buNone/>
            </a:pPr>
            <a:r>
              <a:rPr lang="en-US" sz="2133" b="1">
                <a:solidFill>
                  <a:srgbClr val="125687"/>
                </a:solidFill>
                <a:latin typeface="Arial"/>
                <a:ea typeface="Arial"/>
                <a:cs typeface="Arial"/>
                <a:sym typeface="Arial"/>
              </a:rPr>
              <a:t>Solution</a:t>
            </a:r>
            <a:endParaRPr/>
          </a:p>
          <a:p>
            <a:pPr marL="0" lvl="0" indent="0" algn="l" rtl="0">
              <a:spcBef>
                <a:spcPts val="240"/>
              </a:spcBef>
              <a:spcAft>
                <a:spcPts val="0"/>
              </a:spcAft>
              <a:buClr>
                <a:schemeClr val="dk1"/>
              </a:buClr>
              <a:buSzPts val="1867"/>
              <a:buNone/>
            </a:pPr>
            <a:r>
              <a:rPr lang="en-US" sz="1867"/>
              <a:t>Use Simulink, Simscape, and Simulink Real-Time to model hydraulic, mechanical, and engine systems and perform real-time, operator-in-the-loop simulations</a:t>
            </a:r>
            <a:endParaRPr sz="1867">
              <a:solidFill>
                <a:srgbClr val="000000"/>
              </a:solidFill>
              <a:latin typeface="Arial"/>
              <a:ea typeface="Arial"/>
              <a:cs typeface="Arial"/>
              <a:sym typeface="Arial"/>
            </a:endParaRPr>
          </a:p>
          <a:p>
            <a:pPr marL="0" lvl="0" indent="0" algn="l" rtl="0">
              <a:spcBef>
                <a:spcPts val="864"/>
              </a:spcBef>
              <a:spcAft>
                <a:spcPts val="0"/>
              </a:spcAft>
              <a:buClr>
                <a:srgbClr val="215083"/>
              </a:buClr>
              <a:buSzPts val="2133"/>
              <a:buNone/>
            </a:pPr>
            <a:r>
              <a:rPr lang="en-US" sz="2133" b="1">
                <a:solidFill>
                  <a:srgbClr val="125687"/>
                </a:solidFill>
                <a:latin typeface="Arial"/>
                <a:ea typeface="Arial"/>
                <a:cs typeface="Arial"/>
                <a:sym typeface="Arial"/>
              </a:rPr>
              <a:t>Results</a:t>
            </a:r>
            <a:endParaRPr/>
          </a:p>
          <a:p>
            <a:pPr marL="339717" lvl="1" indent="-225420" algn="l" rtl="0">
              <a:spcBef>
                <a:spcPts val="187"/>
              </a:spcBef>
              <a:spcAft>
                <a:spcPts val="0"/>
              </a:spcAft>
              <a:buClr>
                <a:srgbClr val="215083"/>
              </a:buClr>
              <a:buSzPts val="1867"/>
              <a:buFont typeface="Noto Sans Symbols"/>
              <a:buChar char="▪"/>
            </a:pPr>
            <a:r>
              <a:rPr lang="en-US" sz="1867"/>
              <a:t>Number of prototypes reduced</a:t>
            </a:r>
            <a:endParaRPr/>
          </a:p>
          <a:p>
            <a:pPr marL="339717" lvl="1" indent="-225420" algn="l" rtl="0">
              <a:spcBef>
                <a:spcPts val="187"/>
              </a:spcBef>
              <a:spcAft>
                <a:spcPts val="0"/>
              </a:spcAft>
              <a:buClr>
                <a:srgbClr val="215083"/>
              </a:buClr>
              <a:buSzPts val="1867"/>
              <a:buFont typeface="Noto Sans Symbols"/>
              <a:buChar char="▪"/>
            </a:pPr>
            <a:r>
              <a:rPr lang="en-US" sz="1867"/>
              <a:t>Issues in the field resolved faster</a:t>
            </a:r>
            <a:endParaRPr/>
          </a:p>
          <a:p>
            <a:pPr marL="339717" lvl="1" indent="-225420" algn="l" rtl="0">
              <a:spcBef>
                <a:spcPts val="187"/>
              </a:spcBef>
              <a:spcAft>
                <a:spcPts val="0"/>
              </a:spcAft>
              <a:buClr>
                <a:srgbClr val="215083"/>
              </a:buClr>
              <a:buSzPts val="1867"/>
              <a:buFont typeface="Noto Sans Symbols"/>
              <a:buChar char="▪"/>
            </a:pPr>
            <a:r>
              <a:rPr lang="en-US" sz="1867"/>
              <a:t>Controller tuned in simulation</a:t>
            </a:r>
            <a:endParaRPr/>
          </a:p>
          <a:p>
            <a:pPr marL="452955" lvl="1" indent="-182004" algn="l" rtl="0">
              <a:spcBef>
                <a:spcPts val="240"/>
              </a:spcBef>
              <a:spcAft>
                <a:spcPts val="0"/>
              </a:spcAft>
              <a:buClr>
                <a:srgbClr val="125687"/>
              </a:buClr>
              <a:buSzPts val="1867"/>
              <a:buFont typeface="Noto Sans Symbols"/>
              <a:buNone/>
            </a:pPr>
            <a:endParaRPr sz="1867"/>
          </a:p>
          <a:p>
            <a:pPr marL="452955" lvl="1" indent="-182004" algn="l" rtl="0">
              <a:spcBef>
                <a:spcPts val="240"/>
              </a:spcBef>
              <a:spcAft>
                <a:spcPts val="0"/>
              </a:spcAft>
              <a:buClr>
                <a:srgbClr val="125687"/>
              </a:buClr>
              <a:buSzPts val="1867"/>
              <a:buFont typeface="Noto Sans Symbols"/>
              <a:buNone/>
            </a:pPr>
            <a:endParaRPr sz="1867"/>
          </a:p>
          <a:p>
            <a:pPr marL="452955" lvl="1" indent="-182004" algn="l" rtl="0">
              <a:spcBef>
                <a:spcPts val="240"/>
              </a:spcBef>
              <a:spcAft>
                <a:spcPts val="0"/>
              </a:spcAft>
              <a:buClr>
                <a:srgbClr val="125687"/>
              </a:buClr>
              <a:buSzPts val="1867"/>
              <a:buFont typeface="Noto Sans Symbols"/>
              <a:buNone/>
            </a:pPr>
            <a:endParaRPr sz="1867"/>
          </a:p>
          <a:p>
            <a:pPr marL="452955" lvl="1" indent="-182004" algn="l" rtl="0">
              <a:spcBef>
                <a:spcPts val="240"/>
              </a:spcBef>
              <a:spcAft>
                <a:spcPts val="0"/>
              </a:spcAft>
              <a:buClr>
                <a:srgbClr val="125687"/>
              </a:buClr>
              <a:buSzPts val="1867"/>
              <a:buFont typeface="Noto Sans Symbols"/>
              <a:buNone/>
            </a:pPr>
            <a:endParaRPr sz="1867">
              <a:solidFill>
                <a:srgbClr val="000000"/>
              </a:solidFill>
              <a:latin typeface="Arial"/>
              <a:ea typeface="Arial"/>
              <a:cs typeface="Arial"/>
              <a:sym typeface="Arial"/>
            </a:endParaRPr>
          </a:p>
          <a:p>
            <a:pPr marL="343755" lvl="0" indent="-229455" algn="l" rtl="0">
              <a:spcBef>
                <a:spcPts val="480"/>
              </a:spcBef>
              <a:spcAft>
                <a:spcPts val="0"/>
              </a:spcAft>
              <a:buSzPts val="1800"/>
              <a:buNone/>
            </a:pPr>
            <a:endParaRPr/>
          </a:p>
        </p:txBody>
      </p:sp>
      <p:sp>
        <p:nvSpPr>
          <p:cNvPr id="451" name="Google Shape;451;p21"/>
          <p:cNvSpPr/>
          <p:nvPr/>
        </p:nvSpPr>
        <p:spPr>
          <a:xfrm>
            <a:off x="6400801" y="4359454"/>
            <a:ext cx="5535759" cy="1798698"/>
          </a:xfrm>
          <a:prstGeom prst="rect">
            <a:avLst/>
          </a:prstGeom>
          <a:solidFill>
            <a:srgbClr val="D8D8D8"/>
          </a:solid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467" i="1">
                <a:solidFill>
                  <a:schemeClr val="dk2"/>
                </a:solidFill>
                <a:latin typeface="Arial"/>
                <a:ea typeface="Arial"/>
                <a:cs typeface="Arial"/>
                <a:sym typeface="Arial"/>
              </a:rPr>
              <a:t>“</a:t>
            </a:r>
            <a:r>
              <a:rPr lang="en-US" sz="1467" i="1">
                <a:solidFill>
                  <a:srgbClr val="315784"/>
                </a:solidFill>
                <a:latin typeface="Arial"/>
                <a:ea typeface="Arial"/>
                <a:cs typeface="Arial"/>
                <a:sym typeface="Arial"/>
              </a:rPr>
              <a:t>It was technically impossible for us to build a full-scale hydraulic system model to run in real time without Simulink, Simscape, and Simulink Real-Time. Our simulator enables us to test new concepts for construction equipment, tune parameters, reduce lead times, and minimize issues in the field.</a:t>
            </a:r>
            <a:r>
              <a:rPr lang="en-US" sz="1467" i="1">
                <a:solidFill>
                  <a:schemeClr val="dk2"/>
                </a:solidFill>
                <a:latin typeface="Arial"/>
                <a:ea typeface="Arial"/>
                <a:cs typeface="Arial"/>
                <a:sym typeface="Arial"/>
              </a:rPr>
              <a:t>”</a:t>
            </a:r>
            <a:endParaRPr/>
          </a:p>
          <a:p>
            <a:pPr marL="0" marR="0" lvl="0" indent="0" algn="l" rtl="0">
              <a:lnSpc>
                <a:spcPct val="130000"/>
              </a:lnSpc>
              <a:spcBef>
                <a:spcPts val="0"/>
              </a:spcBef>
              <a:spcAft>
                <a:spcPts val="0"/>
              </a:spcAft>
              <a:buNone/>
            </a:pPr>
            <a:r>
              <a:rPr lang="en-US" sz="1333" i="1">
                <a:solidFill>
                  <a:srgbClr val="125687"/>
                </a:solidFill>
                <a:latin typeface="Arial"/>
                <a:ea typeface="Arial"/>
                <a:cs typeface="Arial"/>
                <a:sym typeface="Arial"/>
              </a:rPr>
              <a:t>- Jay Yong Lee, Volvo Construction Equipment</a:t>
            </a:r>
            <a:endParaRPr sz="1333" i="1">
              <a:solidFill>
                <a:srgbClr val="125687"/>
              </a:solidFill>
              <a:latin typeface="Arial"/>
              <a:ea typeface="Arial"/>
              <a:cs typeface="Arial"/>
              <a:sym typeface="Arial"/>
            </a:endParaRPr>
          </a:p>
        </p:txBody>
      </p:sp>
      <p:sp>
        <p:nvSpPr>
          <p:cNvPr id="452" name="Google Shape;452;p21"/>
          <p:cNvSpPr txBox="1"/>
          <p:nvPr/>
        </p:nvSpPr>
        <p:spPr>
          <a:xfrm>
            <a:off x="7721600" y="3530600"/>
            <a:ext cx="3759200" cy="328231"/>
          </a:xfrm>
          <a:prstGeom prst="rect">
            <a:avLst/>
          </a:prstGeom>
          <a:solidFill>
            <a:schemeClr val="lt1"/>
          </a:solidFill>
          <a:ln>
            <a:noFill/>
          </a:ln>
        </p:spPr>
        <p:txBody>
          <a:bodyPr spcFirstLastPara="1" wrap="square" lIns="0" tIns="121900" rIns="0" bIns="0" anchor="t" anchorCtr="0">
            <a:spAutoFit/>
          </a:bodyPr>
          <a:lstStyle/>
          <a:p>
            <a:pPr marL="0" marR="0" lvl="0" indent="0" algn="l" rtl="0">
              <a:spcBef>
                <a:spcPts val="0"/>
              </a:spcBef>
              <a:spcAft>
                <a:spcPts val="0"/>
              </a:spcAft>
              <a:buNone/>
            </a:pPr>
            <a:endParaRPr sz="1333" b="1">
              <a:solidFill>
                <a:srgbClr val="125687"/>
              </a:solidFill>
              <a:latin typeface="Arial"/>
              <a:ea typeface="Arial"/>
              <a:cs typeface="Arial"/>
              <a:sym typeface="Arial"/>
            </a:endParaRPr>
          </a:p>
        </p:txBody>
      </p:sp>
      <p:sp>
        <p:nvSpPr>
          <p:cNvPr id="453" name="Google Shape;453;p21"/>
          <p:cNvSpPr txBox="1"/>
          <p:nvPr/>
        </p:nvSpPr>
        <p:spPr>
          <a:xfrm>
            <a:off x="8298484" y="3848281"/>
            <a:ext cx="3597561" cy="492443"/>
          </a:xfrm>
          <a:prstGeom prst="rect">
            <a:avLst/>
          </a:prstGeom>
          <a:solidFill>
            <a:schemeClr val="lt1"/>
          </a:solidFill>
          <a:ln>
            <a:noFill/>
          </a:ln>
        </p:spPr>
        <p:txBody>
          <a:bodyPr spcFirstLastPara="1" wrap="square" lIns="0" tIns="121900" rIns="0" bIns="0" anchor="t" anchorCtr="0">
            <a:spAutoFit/>
          </a:bodyPr>
          <a:lstStyle/>
          <a:p>
            <a:pPr marL="0" marR="0" lvl="0" indent="0" algn="l" rtl="0">
              <a:spcBef>
                <a:spcPts val="0"/>
              </a:spcBef>
              <a:spcAft>
                <a:spcPts val="0"/>
              </a:spcAft>
              <a:buNone/>
            </a:pPr>
            <a:r>
              <a:rPr lang="en-US" sz="1200" b="1">
                <a:solidFill>
                  <a:srgbClr val="315784"/>
                </a:solidFill>
                <a:latin typeface="Arial"/>
                <a:ea typeface="Arial"/>
                <a:cs typeface="Arial"/>
                <a:sym typeface="Arial"/>
              </a:rPr>
              <a:t>Volvo Construction Equipment’s real-time, human-in-the-loop simulator.</a:t>
            </a:r>
            <a:endParaRPr/>
          </a:p>
        </p:txBody>
      </p:sp>
      <p:sp>
        <p:nvSpPr>
          <p:cNvPr id="455" name="Google Shape;455;p21"/>
          <p:cNvSpPr/>
          <p:nvPr/>
        </p:nvSpPr>
        <p:spPr>
          <a:xfrm>
            <a:off x="4309534" y="-33813"/>
            <a:ext cx="65" cy="474028"/>
          </a:xfrm>
          <a:prstGeom prst="rect">
            <a:avLst/>
          </a:prstGeom>
          <a:solidFill>
            <a:srgbClr val="FFFFFF"/>
          </a:solidFill>
          <a:ln>
            <a:noFill/>
          </a:ln>
        </p:spPr>
        <p:txBody>
          <a:bodyPr spcFirstLastPara="1" wrap="square" lIns="0" tIns="0" rIns="0" bIns="103675" anchor="ctr" anchorCtr="0">
            <a:sp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pic>
        <p:nvPicPr>
          <p:cNvPr id="457" name="Google Shape;457;p21"/>
          <p:cNvPicPr preferRelativeResize="0"/>
          <p:nvPr/>
        </p:nvPicPr>
        <p:blipFill rotWithShape="1">
          <a:blip r:embed="rId3">
            <a:alphaModFix/>
          </a:blip>
          <a:srcRect/>
          <a:stretch/>
        </p:blipFill>
        <p:spPr>
          <a:xfrm>
            <a:off x="8298484" y="1544785"/>
            <a:ext cx="3597561" cy="231097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F75982B-CE60-4047-BFE8-2D40099E7FE1}"/>
              </a:ext>
            </a:extLst>
          </p:cNvPr>
          <p:cNvPicPr>
            <a:picLocks noChangeAspect="1"/>
          </p:cNvPicPr>
          <p:nvPr/>
        </p:nvPicPr>
        <p:blipFill>
          <a:blip r:embed="rId3"/>
          <a:stretch>
            <a:fillRect/>
          </a:stretch>
        </p:blipFill>
        <p:spPr>
          <a:xfrm>
            <a:off x="609602" y="1096292"/>
            <a:ext cx="8051347" cy="5576331"/>
          </a:xfrm>
          <a:prstGeom prst="rect">
            <a:avLst/>
          </a:prstGeom>
        </p:spPr>
      </p:pic>
      <p:sp>
        <p:nvSpPr>
          <p:cNvPr id="20" name="TextBox 19">
            <a:extLst>
              <a:ext uri="{FF2B5EF4-FFF2-40B4-BE49-F238E27FC236}">
                <a16:creationId xmlns:a16="http://schemas.microsoft.com/office/drawing/2014/main" id="{6EEF1712-3AAD-445D-8250-320E31EFAB4A}"/>
              </a:ext>
            </a:extLst>
          </p:cNvPr>
          <p:cNvSpPr txBox="1"/>
          <p:nvPr/>
        </p:nvSpPr>
        <p:spPr>
          <a:xfrm>
            <a:off x="9528048" y="2628781"/>
            <a:ext cx="2494219" cy="1600438"/>
          </a:xfrm>
          <a:prstGeom prst="rect">
            <a:avLst/>
          </a:prstGeom>
          <a:noFill/>
        </p:spPr>
        <p:txBody>
          <a:bodyPr wrap="square" rtlCol="0">
            <a:spAutoFit/>
          </a:bodyPr>
          <a:lstStyle/>
          <a:p>
            <a:r>
              <a:rPr lang="en-US" sz="1400" b="1" dirty="0">
                <a:solidFill>
                  <a:schemeClr val="tx1">
                    <a:lumMod val="75000"/>
                    <a:lumOff val="25000"/>
                  </a:schemeClr>
                </a:solidFill>
                <a:latin typeface="Segoe UI Light" panose="020B0502040204020203" pitchFamily="34" charset="0"/>
                <a:cs typeface="Segoe UI Light" panose="020B0502040204020203" pitchFamily="34" charset="0"/>
              </a:rPr>
              <a:t>“The interactive MATLAB tutorials were perfect for engaging students and getting them up to speed quickly.” </a:t>
            </a:r>
          </a:p>
          <a:p>
            <a:pPr algn="r"/>
            <a:endParaRPr lang="en-US" sz="1400" b="1" dirty="0">
              <a:solidFill>
                <a:schemeClr val="tx1">
                  <a:lumMod val="75000"/>
                  <a:lumOff val="25000"/>
                </a:schemeClr>
              </a:solidFill>
              <a:latin typeface="Segoe UI Light" panose="020B0502040204020203" pitchFamily="34" charset="0"/>
              <a:cs typeface="Segoe UI Light" panose="020B0502040204020203" pitchFamily="34" charset="0"/>
            </a:endParaRPr>
          </a:p>
          <a:p>
            <a:pPr algn="r"/>
            <a:r>
              <a:rPr lang="en-US" sz="1400" b="1" dirty="0">
                <a:solidFill>
                  <a:schemeClr val="tx1">
                    <a:lumMod val="75000"/>
                    <a:lumOff val="25000"/>
                  </a:schemeClr>
                </a:solidFill>
                <a:latin typeface="Segoe UI Light" panose="020B0502040204020203" pitchFamily="34" charset="0"/>
                <a:cs typeface="Segoe UI Light" panose="020B0502040204020203" pitchFamily="34" charset="0"/>
              </a:rPr>
              <a:t>–Dr. Yu-li Wang, Carnegie Mellon University </a:t>
            </a:r>
          </a:p>
        </p:txBody>
      </p:sp>
      <p:sp>
        <p:nvSpPr>
          <p:cNvPr id="2" name="Title 1">
            <a:extLst>
              <a:ext uri="{FF2B5EF4-FFF2-40B4-BE49-F238E27FC236}">
                <a16:creationId xmlns:a16="http://schemas.microsoft.com/office/drawing/2014/main" id="{452BCDE7-1588-6F4E-3262-DA9BBFC4D4D7}"/>
              </a:ext>
            </a:extLst>
          </p:cNvPr>
          <p:cNvSpPr>
            <a:spLocks noGrp="1"/>
          </p:cNvSpPr>
          <p:nvPr>
            <p:ph type="title"/>
          </p:nvPr>
        </p:nvSpPr>
        <p:spPr>
          <a:xfrm>
            <a:off x="609602" y="457200"/>
            <a:ext cx="10769600" cy="990600"/>
          </a:xfrm>
        </p:spPr>
        <p:txBody>
          <a:bodyPr/>
          <a:lstStyle/>
          <a:p>
            <a:r>
              <a:rPr lang="en-US" b="0" dirty="0">
                <a:latin typeface="Arial" pitchFamily="34" charset="0"/>
                <a:cs typeface="Arial" pitchFamily="34" charset="0"/>
              </a:rPr>
              <a:t>Self-paced Online Courses</a:t>
            </a:r>
            <a:endParaRPr lang="en-GB" b="0" dirty="0">
              <a:latin typeface="Arial" pitchFamily="34" charset="0"/>
              <a:cs typeface="Arial" pitchFamily="34" charset="0"/>
            </a:endParaRPr>
          </a:p>
        </p:txBody>
      </p:sp>
    </p:spTree>
    <p:extLst>
      <p:ext uri="{BB962C8B-B14F-4D97-AF65-F5344CB8AC3E}">
        <p14:creationId xmlns:p14="http://schemas.microsoft.com/office/powerpoint/2010/main" val="427716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Resources</a:t>
            </a:r>
          </a:p>
        </p:txBody>
      </p:sp>
      <p:sp>
        <p:nvSpPr>
          <p:cNvPr id="7" name="Content Placeholder 6"/>
          <p:cNvSpPr>
            <a:spLocks noGrp="1"/>
          </p:cNvSpPr>
          <p:nvPr>
            <p:ph idx="1"/>
          </p:nvPr>
        </p:nvSpPr>
        <p:spPr>
          <a:xfrm>
            <a:off x="228600" y="1371600"/>
            <a:ext cx="6172200" cy="5029200"/>
          </a:xfrm>
        </p:spPr>
        <p:txBody>
          <a:bodyPr/>
          <a:lstStyle/>
          <a:p>
            <a:pPr>
              <a:spcBef>
                <a:spcPts val="600"/>
              </a:spcBef>
              <a:spcAft>
                <a:spcPts val="1200"/>
              </a:spcAft>
            </a:pPr>
            <a:r>
              <a:rPr lang="en-US" sz="2800" dirty="0">
                <a:ea typeface="Malgun Gothic" panose="020B0503020000020004" pitchFamily="34" charset="-127"/>
                <a:hlinkClick r:id="rId3"/>
              </a:rPr>
              <a:t>Overview</a:t>
            </a:r>
            <a:endParaRPr lang="en-US" sz="2800" dirty="0">
              <a:ea typeface="Malgun Gothic" panose="020B0503020000020004" pitchFamily="34" charset="-127"/>
            </a:endParaRPr>
          </a:p>
          <a:p>
            <a:pPr>
              <a:spcBef>
                <a:spcPts val="600"/>
              </a:spcBef>
              <a:spcAft>
                <a:spcPts val="1200"/>
              </a:spcAft>
            </a:pPr>
            <a:r>
              <a:rPr lang="en-US" sz="2800" dirty="0">
                <a:solidFill>
                  <a:srgbClr val="C00000"/>
                </a:solidFill>
                <a:ea typeface="Malgun Gothic" panose="020B0503020000020004" pitchFamily="34" charset="-127"/>
                <a:hlinkClick r:id="rId4"/>
              </a:rPr>
              <a:t>Cheat sheet</a:t>
            </a:r>
            <a:endParaRPr lang="en-US" sz="2800" dirty="0">
              <a:solidFill>
                <a:srgbClr val="C00000"/>
              </a:solidFill>
              <a:ea typeface="Malgun Gothic" panose="020B0503020000020004" pitchFamily="34" charset="-127"/>
            </a:endParaRPr>
          </a:p>
          <a:p>
            <a:pPr>
              <a:spcBef>
                <a:spcPts val="600"/>
              </a:spcBef>
              <a:spcAft>
                <a:spcPts val="1200"/>
              </a:spcAft>
            </a:pPr>
            <a:r>
              <a:rPr lang="en-US" sz="2800" dirty="0">
                <a:hlinkClick r:id="rId5"/>
              </a:rPr>
              <a:t>Introductory eBook</a:t>
            </a:r>
            <a:r>
              <a:rPr lang="en-US" sz="2800" dirty="0"/>
              <a:t> </a:t>
            </a:r>
          </a:p>
          <a:p>
            <a:pPr>
              <a:spcBef>
                <a:spcPts val="600"/>
              </a:spcBef>
              <a:spcAft>
                <a:spcPts val="1200"/>
              </a:spcAft>
            </a:pPr>
            <a:r>
              <a:rPr lang="en-US" sz="2800" dirty="0">
                <a:hlinkClick r:id="rId6"/>
              </a:rPr>
              <a:t>Mastering Machine Learning eBook</a:t>
            </a:r>
            <a:endParaRPr lang="en-US" sz="2800" dirty="0"/>
          </a:p>
          <a:p>
            <a:pPr>
              <a:spcBef>
                <a:spcPts val="600"/>
              </a:spcBef>
              <a:spcAft>
                <a:spcPts val="1200"/>
              </a:spcAft>
            </a:pPr>
            <a:r>
              <a:rPr lang="en-US" sz="2800" dirty="0">
                <a:hlinkClick r:id="rId7"/>
              </a:rPr>
              <a:t>Machine Learning Tech Talks</a:t>
            </a:r>
            <a:r>
              <a:rPr lang="en-US" sz="2800" dirty="0"/>
              <a:t> </a:t>
            </a:r>
          </a:p>
          <a:p>
            <a:pPr>
              <a:spcBef>
                <a:spcPts val="600"/>
              </a:spcBef>
              <a:spcAft>
                <a:spcPts val="1200"/>
              </a:spcAft>
            </a:pPr>
            <a:r>
              <a:rPr lang="en-US" sz="2800" dirty="0">
                <a:ea typeface="Malgun Gothic" panose="020B0503020000020004" pitchFamily="34" charset="-127"/>
                <a:hlinkClick r:id="rId8"/>
              </a:rPr>
              <a:t>Classification Learner App in your browser </a:t>
            </a:r>
            <a:endParaRPr lang="en-US" sz="3200" dirty="0">
              <a:ea typeface="Malgun Gothic" panose="020B0503020000020004" pitchFamily="34" charset="-127"/>
            </a:endParaRPr>
          </a:p>
          <a:p>
            <a:pPr>
              <a:spcBef>
                <a:spcPts val="600"/>
              </a:spcBef>
              <a:spcAft>
                <a:spcPts val="1200"/>
              </a:spcAft>
            </a:pPr>
            <a:endParaRPr lang="en-US" sz="2800" dirty="0"/>
          </a:p>
          <a:p>
            <a:pPr>
              <a:spcBef>
                <a:spcPts val="600"/>
              </a:spcBef>
              <a:spcAft>
                <a:spcPts val="1200"/>
              </a:spcAft>
            </a:pPr>
            <a:endParaRPr lang="en-US" sz="2800" dirty="0">
              <a:latin typeface="+mn-lt"/>
              <a:ea typeface="Malgun Gothic" panose="020B0503020000020004" pitchFamily="34" charset="-127"/>
            </a:endParaRPr>
          </a:p>
        </p:txBody>
      </p:sp>
      <p:pic>
        <p:nvPicPr>
          <p:cNvPr id="3" name="Picture 2">
            <a:extLst>
              <a:ext uri="{FF2B5EF4-FFF2-40B4-BE49-F238E27FC236}">
                <a16:creationId xmlns:a16="http://schemas.microsoft.com/office/drawing/2014/main" id="{3033DCFB-FDAF-4926-8C12-5E56C0895D63}"/>
              </a:ext>
            </a:extLst>
          </p:cNvPr>
          <p:cNvPicPr>
            <a:picLocks noChangeAspect="1"/>
          </p:cNvPicPr>
          <p:nvPr/>
        </p:nvPicPr>
        <p:blipFill rotWithShape="1">
          <a:blip r:embed="rId9"/>
          <a:srcRect r="2830"/>
          <a:stretch/>
        </p:blipFill>
        <p:spPr>
          <a:xfrm>
            <a:off x="6324600" y="990600"/>
            <a:ext cx="5714999" cy="4703802"/>
          </a:xfrm>
          <a:prstGeom prst="rect">
            <a:avLst/>
          </a:prstGeom>
        </p:spPr>
      </p:pic>
    </p:spTree>
    <p:extLst>
      <p:ext uri="{BB962C8B-B14F-4D97-AF65-F5344CB8AC3E}">
        <p14:creationId xmlns:p14="http://schemas.microsoft.com/office/powerpoint/2010/main" val="3163632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22"/>
          <p:cNvSpPr txBox="1">
            <a:spLocks noGrp="1"/>
          </p:cNvSpPr>
          <p:nvPr>
            <p:ph type="title"/>
          </p:nvPr>
        </p:nvSpPr>
        <p:spPr>
          <a:xfrm>
            <a:off x="609602" y="457200"/>
            <a:ext cx="10769600" cy="99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2800"/>
              <a:buFont typeface="Arial"/>
              <a:buNone/>
            </a:pPr>
            <a:r>
              <a:rPr lang="en-US"/>
              <a:t>TO DO</a:t>
            </a:r>
            <a:endParaRPr/>
          </a:p>
        </p:txBody>
      </p:sp>
      <p:sp>
        <p:nvSpPr>
          <p:cNvPr id="463" name="Google Shape;463;p22"/>
          <p:cNvSpPr txBox="1">
            <a:spLocks noGrp="1"/>
          </p:cNvSpPr>
          <p:nvPr>
            <p:ph type="body" idx="1"/>
          </p:nvPr>
        </p:nvSpPr>
        <p:spPr>
          <a:xfrm>
            <a:off x="685800" y="1371600"/>
            <a:ext cx="7467600" cy="4648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dirty="0"/>
              <a:t>Have you created the MATLAB account with the POLIMI credentials?</a:t>
            </a:r>
            <a:endParaRPr dirty="0"/>
          </a:p>
          <a:p>
            <a:pPr marL="0" lvl="0" indent="0" algn="l" rtl="0">
              <a:spcBef>
                <a:spcPts val="480"/>
              </a:spcBef>
              <a:spcAft>
                <a:spcPts val="0"/>
              </a:spcAft>
              <a:buSzPts val="1800"/>
              <a:buNone/>
            </a:pPr>
            <a:r>
              <a:rPr lang="en-US" u="sng" dirty="0">
                <a:solidFill>
                  <a:schemeClr val="hlink"/>
                </a:solidFill>
                <a:hlinkClick r:id="rId3"/>
              </a:rPr>
              <a:t>https://www.software.test.polimi.it/mathworks-matlab/</a:t>
            </a:r>
            <a:endParaRPr dirty="0"/>
          </a:p>
          <a:p>
            <a:pPr marL="0" lvl="0" indent="0" algn="l" rtl="0">
              <a:spcBef>
                <a:spcPts val="480"/>
              </a:spcBef>
              <a:spcAft>
                <a:spcPts val="0"/>
              </a:spcAft>
              <a:buSzPts val="1800"/>
              <a:buNone/>
            </a:pPr>
            <a:endParaRPr dirty="0"/>
          </a:p>
          <a:p>
            <a:pPr lvl="0" algn="l" rtl="0">
              <a:spcBef>
                <a:spcPts val="480"/>
              </a:spcBef>
              <a:spcAft>
                <a:spcPts val="0"/>
              </a:spcAft>
              <a:buSzPct val="120000"/>
              <a:buFont typeface="Arial" panose="020B0604020202020204" pitchFamily="34" charset="0"/>
              <a:buChar char="•"/>
            </a:pPr>
            <a:r>
              <a:rPr lang="en-US" dirty="0"/>
              <a:t>Open MATLAB</a:t>
            </a:r>
            <a:endParaRPr dirty="0"/>
          </a:p>
          <a:p>
            <a:pPr marL="870948" lvl="1" indent="-342900" algn="l" rtl="0">
              <a:lnSpc>
                <a:spcPct val="105000"/>
              </a:lnSpc>
              <a:spcBef>
                <a:spcPts val="400"/>
              </a:spcBef>
              <a:spcAft>
                <a:spcPts val="0"/>
              </a:spcAft>
              <a:buSzPct val="120000"/>
              <a:buFont typeface="Arial" panose="020B0604020202020204" pitchFamily="34" charset="0"/>
              <a:buChar char="•"/>
            </a:pPr>
            <a:endParaRPr dirty="0"/>
          </a:p>
          <a:p>
            <a:pPr lvl="0" algn="l" rtl="0">
              <a:spcBef>
                <a:spcPts val="480"/>
              </a:spcBef>
              <a:spcAft>
                <a:spcPts val="0"/>
              </a:spcAft>
              <a:buSzPct val="120000"/>
              <a:buFont typeface="Arial" panose="020B0604020202020204" pitchFamily="34" charset="0"/>
              <a:buChar char="•"/>
            </a:pPr>
            <a:r>
              <a:rPr lang="en-US" dirty="0"/>
              <a:t>Open Simulink from the Home tab</a:t>
            </a:r>
            <a:endParaRPr dirty="0"/>
          </a:p>
          <a:p>
            <a:pPr marL="0" lvl="0" indent="0" algn="l" rtl="0">
              <a:spcBef>
                <a:spcPts val="480"/>
              </a:spcBef>
              <a:spcAft>
                <a:spcPts val="0"/>
              </a:spcAft>
              <a:buSzPts val="1800"/>
              <a:buNone/>
            </a:pPr>
            <a:endParaRPr dirty="0"/>
          </a:p>
          <a:p>
            <a:pPr marL="401047" lvl="1" indent="0" algn="l" rtl="0">
              <a:lnSpc>
                <a:spcPct val="105000"/>
              </a:lnSpc>
              <a:spcBef>
                <a:spcPts val="400"/>
              </a:spcBef>
              <a:spcAft>
                <a:spcPts val="0"/>
              </a:spcAft>
              <a:buSzPts val="2000"/>
              <a:buNone/>
            </a:pPr>
            <a:endParaRPr dirty="0"/>
          </a:p>
        </p:txBody>
      </p:sp>
      <p:pic>
        <p:nvPicPr>
          <p:cNvPr id="464" name="Google Shape;464;p22"/>
          <p:cNvPicPr preferRelativeResize="0"/>
          <p:nvPr/>
        </p:nvPicPr>
        <p:blipFill rotWithShape="1">
          <a:blip r:embed="rId4">
            <a:alphaModFix/>
          </a:blip>
          <a:srcRect l="1" t="4216" r="40060"/>
          <a:stretch/>
        </p:blipFill>
        <p:spPr>
          <a:xfrm>
            <a:off x="6400800" y="2743200"/>
            <a:ext cx="4812632" cy="3124200"/>
          </a:xfrm>
          <a:prstGeom prst="rect">
            <a:avLst/>
          </a:prstGeom>
          <a:noFill/>
          <a:ln>
            <a:noFill/>
          </a:ln>
        </p:spPr>
      </p:pic>
      <p:sp>
        <p:nvSpPr>
          <p:cNvPr id="465" name="Google Shape;465;p22"/>
          <p:cNvSpPr/>
          <p:nvPr/>
        </p:nvSpPr>
        <p:spPr>
          <a:xfrm>
            <a:off x="9906000" y="2590800"/>
            <a:ext cx="914400" cy="914400"/>
          </a:xfrm>
          <a:prstGeom prst="ellipse">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23"/>
          <p:cNvSpPr txBox="1">
            <a:spLocks noGrp="1"/>
          </p:cNvSpPr>
          <p:nvPr>
            <p:ph type="title"/>
          </p:nvPr>
        </p:nvSpPr>
        <p:spPr>
          <a:xfrm>
            <a:off x="609602" y="457200"/>
            <a:ext cx="10769600" cy="99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2"/>
              </a:buClr>
              <a:buSzPts val="2800"/>
              <a:buFont typeface="Arial"/>
              <a:buNone/>
            </a:pPr>
            <a:r>
              <a:rPr lang="en-US"/>
              <a:t>Let’s start coding!</a:t>
            </a:r>
            <a:endParaRPr/>
          </a:p>
        </p:txBody>
      </p:sp>
      <p:sp>
        <p:nvSpPr>
          <p:cNvPr id="471" name="Google Shape;471;p23"/>
          <p:cNvSpPr txBox="1">
            <a:spLocks noGrp="1"/>
          </p:cNvSpPr>
          <p:nvPr>
            <p:ph type="body" idx="1"/>
          </p:nvPr>
        </p:nvSpPr>
        <p:spPr>
          <a:xfrm>
            <a:off x="609602" y="1600200"/>
            <a:ext cx="10769600" cy="464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r>
              <a:rPr lang="en-US" dirty="0"/>
              <a:t>Visit this link to download the initial code:</a:t>
            </a:r>
          </a:p>
          <a:p>
            <a:pPr marL="0" lvl="0" indent="0" algn="l" rtl="0">
              <a:lnSpc>
                <a:spcPct val="100000"/>
              </a:lnSpc>
              <a:spcBef>
                <a:spcPts val="0"/>
              </a:spcBef>
              <a:spcAft>
                <a:spcPts val="0"/>
              </a:spcAft>
              <a:buSzPts val="1800"/>
              <a:buNone/>
            </a:pPr>
            <a:r>
              <a:rPr lang="en-US" dirty="0">
                <a:hlinkClick r:id="rId3"/>
              </a:rPr>
              <a:t>https://github.com/simoomonte/Simscape-Onramp</a:t>
            </a:r>
            <a:endParaRPr lang="en-US" dirty="0"/>
          </a:p>
          <a:p>
            <a:pPr marL="0" lvl="0" indent="0" algn="l" rtl="0">
              <a:lnSpc>
                <a:spcPct val="100000"/>
              </a:lnSpc>
              <a:spcBef>
                <a:spcPts val="0"/>
              </a:spcBef>
              <a:spcAft>
                <a:spcPts val="0"/>
              </a:spcAft>
              <a:buSzPts val="1800"/>
              <a:buNone/>
            </a:pPr>
            <a:endParaRPr lang="it-IT" dirty="0"/>
          </a:p>
          <a:p>
            <a:pPr marL="0" lvl="0" indent="0" algn="l" rtl="0">
              <a:lnSpc>
                <a:spcPct val="100000"/>
              </a:lnSpc>
              <a:spcBef>
                <a:spcPts val="0"/>
              </a:spcBef>
              <a:spcAft>
                <a:spcPts val="0"/>
              </a:spcAft>
              <a:buSzPts val="1800"/>
              <a:buNone/>
            </a:pPr>
            <a:endParaRPr dirty="0"/>
          </a:p>
          <a:p>
            <a:pPr marL="0" lvl="0" indent="0" algn="l" rtl="0">
              <a:lnSpc>
                <a:spcPct val="100000"/>
              </a:lnSpc>
              <a:spcBef>
                <a:spcPts val="0"/>
              </a:spcBef>
              <a:spcAft>
                <a:spcPts val="0"/>
              </a:spcAft>
              <a:buSzPts val="1800"/>
              <a:buNone/>
            </a:pPr>
            <a:r>
              <a:rPr lang="en-US" dirty="0"/>
              <a:t>Or scan the QR/code:</a:t>
            </a:r>
          </a:p>
          <a:p>
            <a:pPr marL="0" lvl="0" indent="0" algn="l" rtl="0">
              <a:lnSpc>
                <a:spcPct val="100000"/>
              </a:lnSpc>
              <a:spcBef>
                <a:spcPts val="0"/>
              </a:spcBef>
              <a:spcAft>
                <a:spcPts val="0"/>
              </a:spcAft>
              <a:buSzPts val="1800"/>
              <a:buNone/>
            </a:pPr>
            <a:endParaRPr dirty="0"/>
          </a:p>
          <a:p>
            <a:pPr marL="0" lvl="0" indent="0" algn="l" rtl="0">
              <a:lnSpc>
                <a:spcPct val="100000"/>
              </a:lnSpc>
              <a:spcBef>
                <a:spcPts val="1680"/>
              </a:spcBef>
              <a:spcAft>
                <a:spcPts val="0"/>
              </a:spcAft>
              <a:buSzPts val="1800"/>
              <a:buNone/>
            </a:pPr>
            <a:endParaRPr dirty="0"/>
          </a:p>
        </p:txBody>
      </p:sp>
      <p:pic>
        <p:nvPicPr>
          <p:cNvPr id="3" name="Immagine 2">
            <a:extLst>
              <a:ext uri="{FF2B5EF4-FFF2-40B4-BE49-F238E27FC236}">
                <a16:creationId xmlns:a16="http://schemas.microsoft.com/office/drawing/2014/main" id="{D29B4A6C-C64D-F2D0-0896-79F7A3AF88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58136" y="2446599"/>
            <a:ext cx="4121875" cy="41218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31E5C-335D-C0B0-B155-28E755A21A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DD258-5C32-71BD-84E7-13FF1B7BE0B4}"/>
              </a:ext>
            </a:extLst>
          </p:cNvPr>
          <p:cNvSpPr>
            <a:spLocks noGrp="1"/>
          </p:cNvSpPr>
          <p:nvPr>
            <p:ph type="title"/>
          </p:nvPr>
        </p:nvSpPr>
        <p:spPr/>
        <p:txBody>
          <a:bodyPr/>
          <a:lstStyle/>
          <a:p>
            <a:r>
              <a:rPr lang="en-GB" dirty="0"/>
              <a:t>Before the quiz…</a:t>
            </a:r>
          </a:p>
        </p:txBody>
      </p:sp>
      <p:sp>
        <p:nvSpPr>
          <p:cNvPr id="3" name="Content Placeholder 2">
            <a:extLst>
              <a:ext uri="{FF2B5EF4-FFF2-40B4-BE49-F238E27FC236}">
                <a16:creationId xmlns:a16="http://schemas.microsoft.com/office/drawing/2014/main" id="{70C80EE2-42AD-7618-52A5-87D0D1B67EE8}"/>
              </a:ext>
            </a:extLst>
          </p:cNvPr>
          <p:cNvSpPr>
            <a:spLocks noGrp="1"/>
          </p:cNvSpPr>
          <p:nvPr>
            <p:ph idx="1"/>
          </p:nvPr>
        </p:nvSpPr>
        <p:spPr>
          <a:xfrm>
            <a:off x="476250" y="1976437"/>
            <a:ext cx="11239499" cy="2905125"/>
          </a:xfrm>
        </p:spPr>
        <p:txBody>
          <a:bodyPr/>
          <a:lstStyle/>
          <a:p>
            <a:pPr marL="0" indent="0" algn="ctr">
              <a:buSzPct val="100000"/>
              <a:buNone/>
            </a:pPr>
            <a:r>
              <a:rPr lang="it-IT" sz="9600" b="1" dirty="0">
                <a:solidFill>
                  <a:srgbClr val="176DAD"/>
                </a:solidFill>
              </a:rPr>
              <a:t>SPOLIER ALERT!</a:t>
            </a:r>
          </a:p>
          <a:p>
            <a:pPr marL="0" indent="0" algn="ctr">
              <a:buSzPct val="100000"/>
              <a:buNone/>
            </a:pPr>
            <a:r>
              <a:rPr lang="en-GB" sz="9600" dirty="0"/>
              <a:t>⚠️⚠️⚠️</a:t>
            </a:r>
            <a:endParaRPr lang="en-GB" sz="9600" b="1" dirty="0">
              <a:solidFill>
                <a:srgbClr val="176DAD"/>
              </a:solidFill>
            </a:endParaRPr>
          </a:p>
        </p:txBody>
      </p:sp>
    </p:spTree>
    <p:extLst>
      <p:ext uri="{BB962C8B-B14F-4D97-AF65-F5344CB8AC3E}">
        <p14:creationId xmlns:p14="http://schemas.microsoft.com/office/powerpoint/2010/main" val="2679541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2EEC1-05FA-AE1E-87F2-FDDD004E2F38}"/>
            </a:ext>
          </a:extLst>
        </p:cNvPr>
        <p:cNvGrpSpPr/>
        <p:nvPr/>
      </p:nvGrpSpPr>
      <p:grpSpPr>
        <a:xfrm>
          <a:off x="0" y="0"/>
          <a:ext cx="0" cy="0"/>
          <a:chOff x="0" y="0"/>
          <a:chExt cx="0" cy="0"/>
        </a:xfrm>
      </p:grpSpPr>
      <p:pic>
        <p:nvPicPr>
          <p:cNvPr id="5" name="Immagine 4">
            <a:extLst>
              <a:ext uri="{FF2B5EF4-FFF2-40B4-BE49-F238E27FC236}">
                <a16:creationId xmlns:a16="http://schemas.microsoft.com/office/drawing/2014/main" id="{0DE0A477-DD3F-1F1C-D498-0F3F9B4F6533}"/>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3352800"/>
            <a:ext cx="12192000" cy="12192000"/>
          </a:xfrm>
          <a:prstGeom prst="rect">
            <a:avLst/>
          </a:prstGeom>
        </p:spPr>
      </p:pic>
      <p:sp>
        <p:nvSpPr>
          <p:cNvPr id="2" name="Title 1">
            <a:extLst>
              <a:ext uri="{FF2B5EF4-FFF2-40B4-BE49-F238E27FC236}">
                <a16:creationId xmlns:a16="http://schemas.microsoft.com/office/drawing/2014/main" id="{64759F02-A4CB-6043-9046-51AF6E42006F}"/>
              </a:ext>
            </a:extLst>
          </p:cNvPr>
          <p:cNvSpPr>
            <a:spLocks noGrp="1"/>
          </p:cNvSpPr>
          <p:nvPr>
            <p:ph type="title"/>
          </p:nvPr>
        </p:nvSpPr>
        <p:spPr>
          <a:xfrm>
            <a:off x="609602" y="457200"/>
            <a:ext cx="11182348" cy="990600"/>
          </a:xfrm>
        </p:spPr>
        <p:txBody>
          <a:bodyPr/>
          <a:lstStyle/>
          <a:p>
            <a:pPr fontAlgn="base"/>
            <a:r>
              <a:rPr lang="en-GB" sz="4800" b="1" dirty="0"/>
              <a:t>Hack the Drone - MATLAB Hackathon</a:t>
            </a:r>
          </a:p>
        </p:txBody>
      </p:sp>
      <p:sp>
        <p:nvSpPr>
          <p:cNvPr id="3" name="Content Placeholder 2">
            <a:extLst>
              <a:ext uri="{FF2B5EF4-FFF2-40B4-BE49-F238E27FC236}">
                <a16:creationId xmlns:a16="http://schemas.microsoft.com/office/drawing/2014/main" id="{CB0660DF-B383-C6FD-E1A5-CEFB99D88FFE}"/>
              </a:ext>
            </a:extLst>
          </p:cNvPr>
          <p:cNvSpPr>
            <a:spLocks noGrp="1"/>
          </p:cNvSpPr>
          <p:nvPr>
            <p:ph idx="1"/>
          </p:nvPr>
        </p:nvSpPr>
        <p:spPr>
          <a:xfrm>
            <a:off x="409576" y="1600200"/>
            <a:ext cx="6651623" cy="4648200"/>
          </a:xfrm>
        </p:spPr>
        <p:txBody>
          <a:bodyPr/>
          <a:lstStyle/>
          <a:p>
            <a:pPr marL="0" indent="0">
              <a:buSzPct val="100000"/>
              <a:buNone/>
            </a:pPr>
            <a:r>
              <a:rPr lang="it-IT" b="1" dirty="0"/>
              <a:t>HACK THE DRONE – MATLAB HACKATHON</a:t>
            </a:r>
          </a:p>
          <a:p>
            <a:pPr marL="0" indent="0">
              <a:buSzPct val="100000"/>
              <a:buNone/>
            </a:pPr>
            <a:endParaRPr lang="it-IT" dirty="0"/>
          </a:p>
          <a:p>
            <a:pPr marL="0" indent="0">
              <a:buSzPct val="100000"/>
              <a:buNone/>
            </a:pPr>
            <a:r>
              <a:rPr lang="en-GB" dirty="0"/>
              <a:t>📆</a:t>
            </a:r>
            <a:r>
              <a:rPr lang="it-IT" dirty="0"/>
              <a:t>Friday, 29 May 2026 </a:t>
            </a:r>
          </a:p>
          <a:p>
            <a:pPr marL="0" indent="0">
              <a:buSzPct val="100000"/>
              <a:buNone/>
            </a:pPr>
            <a:endParaRPr lang="it-IT" dirty="0"/>
          </a:p>
          <a:p>
            <a:pPr marL="0" indent="0">
              <a:buSzPct val="100000"/>
              <a:buNone/>
            </a:pPr>
            <a:r>
              <a:rPr lang="en-GB" dirty="0"/>
              <a:t>🕐</a:t>
            </a:r>
            <a:r>
              <a:rPr lang="it-IT" dirty="0"/>
              <a:t>13:00 – 18:00</a:t>
            </a:r>
          </a:p>
          <a:p>
            <a:pPr marL="0" indent="0">
              <a:buSzPct val="100000"/>
              <a:buNone/>
            </a:pPr>
            <a:endParaRPr lang="it-IT" dirty="0"/>
          </a:p>
          <a:p>
            <a:pPr marL="0" indent="0">
              <a:buSzPct val="100000"/>
              <a:buNone/>
            </a:pPr>
            <a:r>
              <a:rPr lang="it-IT" b="1" dirty="0"/>
              <a:t>Teams up to 4 </a:t>
            </a:r>
            <a:r>
              <a:rPr lang="it-IT" b="1" dirty="0" err="1"/>
              <a:t>participants</a:t>
            </a:r>
            <a:endParaRPr lang="it-IT" b="1" dirty="0"/>
          </a:p>
          <a:p>
            <a:pPr marL="0" indent="0">
              <a:buSzPct val="100000"/>
              <a:buNone/>
            </a:pPr>
            <a:endParaRPr lang="it-IT" b="1" dirty="0"/>
          </a:p>
          <a:p>
            <a:pPr marL="0" indent="0">
              <a:buSzPct val="100000"/>
              <a:buNone/>
            </a:pPr>
            <a:r>
              <a:rPr lang="en-GB" dirty="0"/>
              <a:t>💸💸💸</a:t>
            </a:r>
            <a:r>
              <a:rPr lang="it-IT" dirty="0"/>
              <a:t>Cash </a:t>
            </a:r>
            <a:r>
              <a:rPr lang="it-IT" dirty="0" err="1"/>
              <a:t>prize</a:t>
            </a:r>
            <a:r>
              <a:rPr lang="it-IT" dirty="0"/>
              <a:t> for the winners </a:t>
            </a:r>
          </a:p>
          <a:p>
            <a:pPr marL="0" indent="0">
              <a:buSzPct val="100000"/>
              <a:buNone/>
            </a:pPr>
            <a:r>
              <a:rPr lang="it-IT" dirty="0"/>
              <a:t>Gadgets for </a:t>
            </a:r>
            <a:r>
              <a:rPr lang="it-IT" dirty="0" err="1"/>
              <a:t>all</a:t>
            </a:r>
            <a:r>
              <a:rPr lang="it-IT" dirty="0"/>
              <a:t> </a:t>
            </a:r>
            <a:r>
              <a:rPr lang="it-IT" dirty="0" err="1"/>
              <a:t>participants</a:t>
            </a:r>
            <a:endParaRPr lang="it-IT" dirty="0"/>
          </a:p>
          <a:p>
            <a:pPr marL="0" indent="0">
              <a:buSzPct val="100000"/>
              <a:buNone/>
            </a:pPr>
            <a:endParaRPr lang="it-IT" dirty="0"/>
          </a:p>
          <a:p>
            <a:pPr marL="0" indent="0">
              <a:buSzPct val="100000"/>
              <a:buNone/>
            </a:pPr>
            <a:endParaRPr lang="en-GB" dirty="0"/>
          </a:p>
        </p:txBody>
      </p:sp>
      <p:sp>
        <p:nvSpPr>
          <p:cNvPr id="7" name="Content Placeholder 2">
            <a:extLst>
              <a:ext uri="{FF2B5EF4-FFF2-40B4-BE49-F238E27FC236}">
                <a16:creationId xmlns:a16="http://schemas.microsoft.com/office/drawing/2014/main" id="{298B1A51-B6F7-8D73-75B2-F7D9B43C7AC3}"/>
              </a:ext>
            </a:extLst>
          </p:cNvPr>
          <p:cNvSpPr txBox="1">
            <a:spLocks/>
          </p:cNvSpPr>
          <p:nvPr/>
        </p:nvSpPr>
        <p:spPr>
          <a:xfrm>
            <a:off x="7832726" y="1447800"/>
            <a:ext cx="3749672" cy="1397000"/>
          </a:xfrm>
          <a:prstGeom prst="rect">
            <a:avLst/>
          </a:prstGeom>
        </p:spPr>
        <p:txBody>
          <a:bodyPr vert="horz" lIns="91440" tIns="45720" rIns="91440" bIns="45720" rtlCol="0">
            <a:noAutofit/>
          </a:bodyPr>
          <a:lst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lnSpc>
                <a:spcPct val="105000"/>
              </a:lnSpc>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lnSpc>
                <a:spcPct val="105000"/>
              </a:lnSpc>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lnSpc>
                <a:spcPct val="105000"/>
              </a:lnSpc>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lnSpc>
                <a:spcPct val="105000"/>
              </a:lnSpc>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a:lstStyle>
          <a:p>
            <a:pPr marL="0" indent="0" algn="ctr">
              <a:buSzPct val="100000"/>
              <a:buNone/>
            </a:pPr>
            <a:r>
              <a:rPr lang="it-IT" b="1" dirty="0"/>
              <a:t>REGISTER HERE</a:t>
            </a:r>
            <a:r>
              <a:rPr lang="en-GB" b="1" dirty="0"/>
              <a:t>⤵️</a:t>
            </a:r>
          </a:p>
          <a:p>
            <a:pPr marL="0" indent="0" algn="ctr">
              <a:buSzPct val="100000"/>
              <a:buNone/>
            </a:pPr>
            <a:r>
              <a:rPr lang="en-GB" b="1" dirty="0">
                <a:hlinkClick r:id="rId3"/>
              </a:rPr>
              <a:t>https://matlab-hack-the-drone.devpost.com/</a:t>
            </a:r>
            <a:endParaRPr lang="en-GB" b="1" dirty="0"/>
          </a:p>
        </p:txBody>
      </p:sp>
      <p:pic>
        <p:nvPicPr>
          <p:cNvPr id="9" name="Immagine 8">
            <a:extLst>
              <a:ext uri="{FF2B5EF4-FFF2-40B4-BE49-F238E27FC236}">
                <a16:creationId xmlns:a16="http://schemas.microsoft.com/office/drawing/2014/main" id="{AEACCD06-1AF1-16FE-B8F3-91948EC8120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30276" y="2997200"/>
            <a:ext cx="2954572" cy="3759200"/>
          </a:xfrm>
          <a:prstGeom prst="rect">
            <a:avLst/>
          </a:prstGeom>
        </p:spPr>
      </p:pic>
      <p:sp>
        <p:nvSpPr>
          <p:cNvPr id="4" name="Content Placeholder 2">
            <a:extLst>
              <a:ext uri="{FF2B5EF4-FFF2-40B4-BE49-F238E27FC236}">
                <a16:creationId xmlns:a16="http://schemas.microsoft.com/office/drawing/2014/main" id="{F8BE4D77-AE2C-A8FA-905E-A2A2B8D53855}"/>
              </a:ext>
            </a:extLst>
          </p:cNvPr>
          <p:cNvSpPr txBox="1">
            <a:spLocks/>
          </p:cNvSpPr>
          <p:nvPr/>
        </p:nvSpPr>
        <p:spPr>
          <a:xfrm>
            <a:off x="4325366" y="2851150"/>
            <a:ext cx="3239409" cy="1174750"/>
          </a:xfrm>
          <a:prstGeom prst="rect">
            <a:avLst/>
          </a:prstGeom>
          <a:ln w="28575">
            <a:solidFill>
              <a:schemeClr val="tx1"/>
            </a:solidFill>
          </a:ln>
        </p:spPr>
        <p:txBody>
          <a:bodyPr vert="horz" lIns="91440" tIns="45720" rIns="91440" bIns="45720" rtlCol="0">
            <a:noAutofit/>
          </a:bodyPr>
          <a:lst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lnSpc>
                <a:spcPct val="105000"/>
              </a:lnSpc>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lnSpc>
                <a:spcPct val="105000"/>
              </a:lnSpc>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lnSpc>
                <a:spcPct val="105000"/>
              </a:lnSpc>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lnSpc>
                <a:spcPct val="105000"/>
              </a:lnSpc>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a:lstStyle>
          <a:p>
            <a:pPr marL="0" indent="0" algn="ctr">
              <a:buSzPct val="100000"/>
              <a:buNone/>
            </a:pPr>
            <a:r>
              <a:rPr lang="it-IT" b="1" dirty="0"/>
              <a:t>The </a:t>
            </a:r>
            <a:r>
              <a:rPr lang="it-IT" b="1" dirty="0" err="1"/>
              <a:t>competition</a:t>
            </a:r>
            <a:r>
              <a:rPr lang="it-IT" b="1" dirty="0"/>
              <a:t> </a:t>
            </a:r>
            <a:r>
              <a:rPr lang="it-IT" b="1" dirty="0" err="1"/>
              <a:t>is</a:t>
            </a:r>
            <a:r>
              <a:rPr lang="it-IT" b="1" dirty="0"/>
              <a:t> in </a:t>
            </a:r>
            <a:r>
              <a:rPr lang="it-IT" b="1" dirty="0" err="1"/>
              <a:t>parallel</a:t>
            </a:r>
            <a:r>
              <a:rPr lang="it-IT" b="1" dirty="0"/>
              <a:t> with </a:t>
            </a:r>
            <a:r>
              <a:rPr lang="it-IT" b="1" dirty="0" err="1"/>
              <a:t>UniBo</a:t>
            </a:r>
            <a:r>
              <a:rPr lang="it-IT" b="1" dirty="0"/>
              <a:t>, </a:t>
            </a:r>
            <a:r>
              <a:rPr lang="it-IT" b="1" dirty="0" err="1"/>
              <a:t>UniGe</a:t>
            </a:r>
            <a:r>
              <a:rPr lang="it-IT" b="1" dirty="0"/>
              <a:t> and </a:t>
            </a:r>
            <a:r>
              <a:rPr lang="it-IT" b="1" dirty="0" err="1"/>
              <a:t>UniPd</a:t>
            </a:r>
            <a:endParaRPr lang="en-GB" b="1" dirty="0"/>
          </a:p>
        </p:txBody>
      </p:sp>
    </p:spTree>
    <p:extLst>
      <p:ext uri="{BB962C8B-B14F-4D97-AF65-F5344CB8AC3E}">
        <p14:creationId xmlns:p14="http://schemas.microsoft.com/office/powerpoint/2010/main" val="412225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A44CE-E67C-0F0F-473D-12B9AB369B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CD6154-4936-5B26-6713-E761B66005F1}"/>
              </a:ext>
            </a:extLst>
          </p:cNvPr>
          <p:cNvSpPr>
            <a:spLocks noGrp="1"/>
          </p:cNvSpPr>
          <p:nvPr>
            <p:ph type="title"/>
          </p:nvPr>
        </p:nvSpPr>
        <p:spPr/>
        <p:txBody>
          <a:bodyPr/>
          <a:lstStyle/>
          <a:p>
            <a:r>
              <a:rPr lang="en-GB" dirty="0"/>
              <a:t>Feedback form…</a:t>
            </a:r>
          </a:p>
        </p:txBody>
      </p:sp>
      <p:sp>
        <p:nvSpPr>
          <p:cNvPr id="3" name="Content Placeholder 2">
            <a:extLst>
              <a:ext uri="{FF2B5EF4-FFF2-40B4-BE49-F238E27FC236}">
                <a16:creationId xmlns:a16="http://schemas.microsoft.com/office/drawing/2014/main" id="{F7F783D7-7C84-F570-C3EA-CD301D8DA8FF}"/>
              </a:ext>
            </a:extLst>
          </p:cNvPr>
          <p:cNvSpPr>
            <a:spLocks noGrp="1"/>
          </p:cNvSpPr>
          <p:nvPr>
            <p:ph idx="1"/>
          </p:nvPr>
        </p:nvSpPr>
        <p:spPr>
          <a:xfrm>
            <a:off x="609602" y="1600200"/>
            <a:ext cx="4541132" cy="4648200"/>
          </a:xfrm>
        </p:spPr>
        <p:txBody>
          <a:bodyPr/>
          <a:lstStyle/>
          <a:p>
            <a:pPr marL="0" indent="0">
              <a:buSzPct val="100000"/>
              <a:buNone/>
            </a:pPr>
            <a:r>
              <a:rPr lang="en-GB" b="1" dirty="0"/>
              <a:t>SCAN THE QR CODE TO FILL THE FEEDBACK FORM</a:t>
            </a:r>
          </a:p>
          <a:p>
            <a:pPr marL="0" indent="0">
              <a:buSzPct val="100000"/>
              <a:buNone/>
            </a:pPr>
            <a:endParaRPr lang="en-GB" b="1" dirty="0"/>
          </a:p>
          <a:p>
            <a:pPr marL="0" indent="0">
              <a:buSzPct val="100000"/>
              <a:buNone/>
            </a:pPr>
            <a:endParaRPr lang="en-GB" b="1" dirty="0"/>
          </a:p>
          <a:p>
            <a:pPr marL="0" indent="0">
              <a:buSzPct val="100000"/>
              <a:buNone/>
            </a:pPr>
            <a:endParaRPr lang="en-GB" b="1" dirty="0"/>
          </a:p>
          <a:p>
            <a:pPr marL="0" indent="0">
              <a:buSzPct val="100000"/>
              <a:buNone/>
            </a:pPr>
            <a:endParaRPr lang="en-GB" b="1" dirty="0"/>
          </a:p>
          <a:p>
            <a:pPr marL="0" indent="0">
              <a:buSzPct val="100000"/>
              <a:buNone/>
            </a:pPr>
            <a:endParaRPr lang="en-GB" b="1" dirty="0"/>
          </a:p>
          <a:p>
            <a:pPr marL="0" indent="0">
              <a:buSzPct val="100000"/>
              <a:buNone/>
            </a:pPr>
            <a:endParaRPr lang="en-GB" b="1" dirty="0"/>
          </a:p>
          <a:p>
            <a:pPr marL="0" indent="0">
              <a:buSzPct val="100000"/>
              <a:buNone/>
            </a:pPr>
            <a:r>
              <a:rPr lang="en-GB" dirty="0"/>
              <a:t>and then you can have access to the quiz!</a:t>
            </a:r>
          </a:p>
          <a:p>
            <a:endParaRPr lang="en-GB" dirty="0"/>
          </a:p>
        </p:txBody>
      </p:sp>
      <p:sp>
        <p:nvSpPr>
          <p:cNvPr id="4" name="Arrow: Bent-Up 3">
            <a:extLst>
              <a:ext uri="{FF2B5EF4-FFF2-40B4-BE49-F238E27FC236}">
                <a16:creationId xmlns:a16="http://schemas.microsoft.com/office/drawing/2014/main" id="{1859EA76-B439-C930-EB71-79BE335BBD03}"/>
              </a:ext>
            </a:extLst>
          </p:cNvPr>
          <p:cNvSpPr/>
          <p:nvPr/>
        </p:nvSpPr>
        <p:spPr>
          <a:xfrm rot="5400000">
            <a:off x="3184504" y="1438154"/>
            <a:ext cx="1841301" cy="3981691"/>
          </a:xfrm>
          <a:prstGeom prst="bentUpArrow">
            <a:avLst>
              <a:gd name="adj1" fmla="val 10621"/>
              <a:gd name="adj2" fmla="val 14542"/>
              <a:gd name="adj3" fmla="val 2647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latin typeface="Arial" pitchFamily="34" charset="0"/>
              <a:cs typeface="Arial" pitchFamily="34" charset="0"/>
            </a:endParaRPr>
          </a:p>
        </p:txBody>
      </p:sp>
      <p:pic>
        <p:nvPicPr>
          <p:cNvPr id="6" name="Immagine 5">
            <a:extLst>
              <a:ext uri="{FF2B5EF4-FFF2-40B4-BE49-F238E27FC236}">
                <a16:creationId xmlns:a16="http://schemas.microsoft.com/office/drawing/2014/main" id="{393CB549-1316-EC68-5552-30C6DF998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8598" y="652279"/>
            <a:ext cx="5553439" cy="5553439"/>
          </a:xfrm>
          <a:prstGeom prst="rect">
            <a:avLst/>
          </a:prstGeom>
        </p:spPr>
      </p:pic>
    </p:spTree>
    <p:extLst>
      <p:ext uri="{BB962C8B-B14F-4D97-AF65-F5344CB8AC3E}">
        <p14:creationId xmlns:p14="http://schemas.microsoft.com/office/powerpoint/2010/main" val="293297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62747-EDAA-3C73-DB27-3DC5D3258C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1019D7-CB77-3A93-8597-3A3112AE4803}"/>
              </a:ext>
            </a:extLst>
          </p:cNvPr>
          <p:cNvSpPr>
            <a:spLocks noGrp="1"/>
          </p:cNvSpPr>
          <p:nvPr>
            <p:ph type="title"/>
          </p:nvPr>
        </p:nvSpPr>
        <p:spPr/>
        <p:txBody>
          <a:bodyPr/>
          <a:lstStyle/>
          <a:p>
            <a:r>
              <a:rPr lang="en-GB" dirty="0"/>
              <a:t>…and now</a:t>
            </a:r>
          </a:p>
        </p:txBody>
      </p:sp>
      <p:pic>
        <p:nvPicPr>
          <p:cNvPr id="4" name="Immagine 3">
            <a:extLst>
              <a:ext uri="{FF2B5EF4-FFF2-40B4-BE49-F238E27FC236}">
                <a16:creationId xmlns:a16="http://schemas.microsoft.com/office/drawing/2014/main" id="{4E9CDC63-2725-42BF-1D4C-48A22C95790C}"/>
              </a:ext>
            </a:extLst>
          </p:cNvPr>
          <p:cNvPicPr>
            <a:picLocks noChangeAspect="1"/>
          </p:cNvPicPr>
          <p:nvPr/>
        </p:nvPicPr>
        <p:blipFill>
          <a:blip r:embed="rId2"/>
          <a:srcRect l="8756" t="5009" r="8626" b="3935"/>
          <a:stretch>
            <a:fillRect/>
          </a:stretch>
        </p:blipFill>
        <p:spPr>
          <a:xfrm>
            <a:off x="1383506" y="952501"/>
            <a:ext cx="9424987" cy="5670590"/>
          </a:xfrm>
          <a:prstGeom prst="rect">
            <a:avLst/>
          </a:prstGeom>
        </p:spPr>
      </p:pic>
    </p:spTree>
    <p:extLst>
      <p:ext uri="{BB962C8B-B14F-4D97-AF65-F5344CB8AC3E}">
        <p14:creationId xmlns:p14="http://schemas.microsoft.com/office/powerpoint/2010/main" val="3131495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CF6D5-BDAA-78A5-FA4E-B85F690F8F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43932B-64A4-787E-32C4-6500D1867573}"/>
              </a:ext>
            </a:extLst>
          </p:cNvPr>
          <p:cNvSpPr>
            <a:spLocks noGrp="1"/>
          </p:cNvSpPr>
          <p:nvPr>
            <p:ph type="title"/>
          </p:nvPr>
        </p:nvSpPr>
        <p:spPr/>
        <p:txBody>
          <a:bodyPr/>
          <a:lstStyle/>
          <a:p>
            <a:r>
              <a:rPr lang="en-GB" dirty="0" err="1"/>
              <a:t>Wooclap</a:t>
            </a:r>
            <a:r>
              <a:rPr lang="en-GB" dirty="0"/>
              <a:t> quiz</a:t>
            </a:r>
          </a:p>
        </p:txBody>
      </p:sp>
      <p:sp>
        <p:nvSpPr>
          <p:cNvPr id="3" name="Content Placeholder 2">
            <a:extLst>
              <a:ext uri="{FF2B5EF4-FFF2-40B4-BE49-F238E27FC236}">
                <a16:creationId xmlns:a16="http://schemas.microsoft.com/office/drawing/2014/main" id="{CCEAD0A4-D985-C092-8CF0-8F2AAAF3A315}"/>
              </a:ext>
            </a:extLst>
          </p:cNvPr>
          <p:cNvSpPr>
            <a:spLocks noGrp="1"/>
          </p:cNvSpPr>
          <p:nvPr>
            <p:ph idx="1"/>
          </p:nvPr>
        </p:nvSpPr>
        <p:spPr/>
        <p:txBody>
          <a:bodyPr/>
          <a:lstStyle/>
          <a:p>
            <a:pPr>
              <a:buSzPct val="100000"/>
              <a:buFont typeface="Arial" panose="020B0604020202020204" pitchFamily="34" charset="0"/>
              <a:buChar char="•"/>
            </a:pPr>
            <a:r>
              <a:rPr lang="en-GB" dirty="0"/>
              <a:t>Go to </a:t>
            </a:r>
            <a:r>
              <a:rPr lang="en-GB" b="1" dirty="0"/>
              <a:t>wooclap.com</a:t>
            </a:r>
          </a:p>
          <a:p>
            <a:pPr>
              <a:buSzPct val="100000"/>
              <a:buFont typeface="Arial" panose="020B0604020202020204" pitchFamily="34" charset="0"/>
              <a:buChar char="•"/>
            </a:pPr>
            <a:endParaRPr lang="en-GB" b="1" dirty="0"/>
          </a:p>
          <a:p>
            <a:pPr>
              <a:buSzPct val="100000"/>
              <a:buFont typeface="Arial" panose="020B0604020202020204" pitchFamily="34" charset="0"/>
              <a:buChar char="•"/>
            </a:pPr>
            <a:r>
              <a:rPr lang="en-GB" dirty="0"/>
              <a:t>Enter the code: </a:t>
            </a:r>
            <a:r>
              <a:rPr lang="en-GB" b="1" dirty="0"/>
              <a:t>DOJDUN</a:t>
            </a:r>
          </a:p>
          <a:p>
            <a:pPr>
              <a:buSzPct val="100000"/>
              <a:buFont typeface="Arial" panose="020B0604020202020204" pitchFamily="34" charset="0"/>
              <a:buChar char="•"/>
            </a:pPr>
            <a:endParaRPr lang="en-GB" b="1" dirty="0"/>
          </a:p>
          <a:p>
            <a:pPr marL="0" indent="0">
              <a:buSzPct val="100000"/>
              <a:buNone/>
            </a:pPr>
            <a:endParaRPr lang="en-GB" b="1" dirty="0"/>
          </a:p>
          <a:p>
            <a:pPr marL="0" indent="0">
              <a:buSzPct val="100000"/>
              <a:buNone/>
            </a:pPr>
            <a:endParaRPr lang="en-GB" b="1" dirty="0"/>
          </a:p>
          <a:p>
            <a:pPr marL="0" indent="0">
              <a:buSzPct val="100000"/>
              <a:buNone/>
            </a:pPr>
            <a:endParaRPr lang="en-GB" b="1" dirty="0"/>
          </a:p>
          <a:p>
            <a:pPr marL="0" indent="0">
              <a:buSzPct val="100000"/>
              <a:buNone/>
            </a:pPr>
            <a:r>
              <a:rPr lang="en-GB" dirty="0"/>
              <a:t>Or scan this QR CODE:</a:t>
            </a:r>
          </a:p>
        </p:txBody>
      </p:sp>
      <p:pic>
        <p:nvPicPr>
          <p:cNvPr id="6" name="Immagine 5">
            <a:extLst>
              <a:ext uri="{FF2B5EF4-FFF2-40B4-BE49-F238E27FC236}">
                <a16:creationId xmlns:a16="http://schemas.microsoft.com/office/drawing/2014/main" id="{51B355A7-0DCE-6C17-B06A-807E9CDEE848}"/>
              </a:ext>
            </a:extLst>
          </p:cNvPr>
          <p:cNvPicPr>
            <a:picLocks noChangeAspect="1"/>
          </p:cNvPicPr>
          <p:nvPr/>
        </p:nvPicPr>
        <p:blipFill>
          <a:blip r:embed="rId2"/>
          <a:stretch>
            <a:fillRect/>
          </a:stretch>
        </p:blipFill>
        <p:spPr>
          <a:xfrm>
            <a:off x="6234897" y="915333"/>
            <a:ext cx="5015696" cy="5027333"/>
          </a:xfrm>
          <a:prstGeom prst="rect">
            <a:avLst/>
          </a:prstGeom>
        </p:spPr>
      </p:pic>
    </p:spTree>
    <p:extLst>
      <p:ext uri="{BB962C8B-B14F-4D97-AF65-F5344CB8AC3E}">
        <p14:creationId xmlns:p14="http://schemas.microsoft.com/office/powerpoint/2010/main" val="24127522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1C7A2-39F4-31B8-F814-832F106AF889}"/>
              </a:ext>
            </a:extLst>
          </p:cNvPr>
          <p:cNvSpPr>
            <a:spLocks noGrp="1"/>
          </p:cNvSpPr>
          <p:nvPr>
            <p:ph type="ctrTitle"/>
          </p:nvPr>
        </p:nvSpPr>
        <p:spPr/>
        <p:txBody>
          <a:bodyPr/>
          <a:lstStyle/>
          <a:p>
            <a:r>
              <a:rPr lang="en-US" dirty="0"/>
              <a:t>Thank you for your attention!</a:t>
            </a:r>
            <a:br>
              <a:rPr lang="en-US" dirty="0"/>
            </a:br>
            <a:br>
              <a:rPr lang="en-US" dirty="0"/>
            </a:br>
            <a:r>
              <a:rPr lang="en-US" dirty="0"/>
              <a:t>Questions?</a:t>
            </a:r>
          </a:p>
        </p:txBody>
      </p:sp>
      <p:sp>
        <p:nvSpPr>
          <p:cNvPr id="3" name="Subtitle 2">
            <a:extLst>
              <a:ext uri="{FF2B5EF4-FFF2-40B4-BE49-F238E27FC236}">
                <a16:creationId xmlns:a16="http://schemas.microsoft.com/office/drawing/2014/main" id="{1C9F7674-DBA4-F7B9-2E06-2663FED4493F}"/>
              </a:ext>
            </a:extLst>
          </p:cNvPr>
          <p:cNvSpPr>
            <a:spLocks noGrp="1"/>
          </p:cNvSpPr>
          <p:nvPr>
            <p:ph type="subTitle" idx="1"/>
          </p:nvPr>
        </p:nvSpPr>
        <p:spPr>
          <a:xfrm>
            <a:off x="914400" y="3071963"/>
            <a:ext cx="10363200" cy="987425"/>
          </a:xfrm>
        </p:spPr>
        <p:txBody>
          <a:bodyPr/>
          <a:lstStyle/>
          <a:p>
            <a:r>
              <a:rPr lang="en-US" dirty="0"/>
              <a:t>A special thanks to</a:t>
            </a:r>
          </a:p>
        </p:txBody>
      </p:sp>
      <p:pic>
        <p:nvPicPr>
          <p:cNvPr id="4" name="Picture 6">
            <a:extLst>
              <a:ext uri="{FF2B5EF4-FFF2-40B4-BE49-F238E27FC236}">
                <a16:creationId xmlns:a16="http://schemas.microsoft.com/office/drawing/2014/main" id="{BC907ABB-D594-0B71-AE62-33AA5737CBB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925" t="23736" r="23900" b="44756"/>
          <a:stretch>
            <a:fillRect/>
          </a:stretch>
        </p:blipFill>
        <p:spPr bwMode="auto">
          <a:xfrm>
            <a:off x="914400" y="4569504"/>
            <a:ext cx="2176272" cy="2190405"/>
          </a:xfrm>
          <a:prstGeom prst="rect">
            <a:avLst/>
          </a:prstGeom>
          <a:noFill/>
          <a:ln w="101600">
            <a:solidFill>
              <a:schemeClr val="accent1"/>
            </a:solidFill>
            <a:prstDash val="solid"/>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8749ACB-86C9-F54B-718F-427C7C5D425A}"/>
              </a:ext>
            </a:extLst>
          </p:cNvPr>
          <p:cNvSpPr txBox="1"/>
          <p:nvPr/>
        </p:nvSpPr>
        <p:spPr>
          <a:xfrm>
            <a:off x="5955030" y="5002985"/>
            <a:ext cx="3344418" cy="1323439"/>
          </a:xfrm>
          <a:prstGeom prst="rect">
            <a:avLst/>
          </a:prstGeom>
          <a:noFill/>
        </p:spPr>
        <p:txBody>
          <a:bodyPr wrap="square">
            <a:spAutoFit/>
          </a:bodyPr>
          <a:lstStyle/>
          <a:p>
            <a:pPr algn="ctr"/>
            <a:r>
              <a:rPr lang="en-GB" sz="4000" b="1" dirty="0">
                <a:solidFill>
                  <a:schemeClr val="bg1"/>
                </a:solidFill>
                <a:latin typeface="Arial" pitchFamily="34" charset="0"/>
                <a:cs typeface="Arial" pitchFamily="34" charset="0"/>
              </a:rPr>
              <a:t>STAY UPDATED!</a:t>
            </a:r>
          </a:p>
        </p:txBody>
      </p:sp>
      <p:sp>
        <p:nvSpPr>
          <p:cNvPr id="7" name="Arrow: Right 6">
            <a:extLst>
              <a:ext uri="{FF2B5EF4-FFF2-40B4-BE49-F238E27FC236}">
                <a16:creationId xmlns:a16="http://schemas.microsoft.com/office/drawing/2014/main" id="{DDB20D93-51A7-05F3-3145-58E727BEBC8C}"/>
              </a:ext>
            </a:extLst>
          </p:cNvPr>
          <p:cNvSpPr/>
          <p:nvPr/>
        </p:nvSpPr>
        <p:spPr>
          <a:xfrm rot="10800000">
            <a:off x="3742182" y="5440676"/>
            <a:ext cx="2212848" cy="448056"/>
          </a:xfrm>
          <a:prstGeom prst="rightArrow">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ln>
                <a:solidFill>
                  <a:schemeClr val="bg2"/>
                </a:solidFill>
              </a:ln>
              <a:solidFill>
                <a:schemeClr val="bg2"/>
              </a:solidFill>
              <a:latin typeface="Arial" pitchFamily="34" charset="0"/>
              <a:cs typeface="Arial" pitchFamily="34" charset="0"/>
            </a:endParaRPr>
          </a:p>
        </p:txBody>
      </p:sp>
      <p:pic>
        <p:nvPicPr>
          <p:cNvPr id="8" name="Picture 2" descr="AIM - Associazione degli Ingegneri Matematici | LinkedIn">
            <a:extLst>
              <a:ext uri="{FF2B5EF4-FFF2-40B4-BE49-F238E27FC236}">
                <a16:creationId xmlns:a16="http://schemas.microsoft.com/office/drawing/2014/main" id="{D37C994E-A7CA-64D7-127E-BCA05B63FAF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6129" b="24957"/>
          <a:stretch>
            <a:fillRect/>
          </a:stretch>
        </p:blipFill>
        <p:spPr bwMode="auto">
          <a:xfrm>
            <a:off x="8439355" y="2531496"/>
            <a:ext cx="2994523" cy="146472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hi siamo - Fondazione Politecnico">
            <a:extLst>
              <a:ext uri="{FF2B5EF4-FFF2-40B4-BE49-F238E27FC236}">
                <a16:creationId xmlns:a16="http://schemas.microsoft.com/office/drawing/2014/main" id="{B0232E6C-AE6C-89B0-F7BD-2A80A7B787E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79986" y="2658393"/>
            <a:ext cx="3750088" cy="121093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AF4C66F-89A8-74E7-5DDE-22266026EF30}"/>
              </a:ext>
            </a:extLst>
          </p:cNvPr>
          <p:cNvSpPr txBox="1"/>
          <p:nvPr/>
        </p:nvSpPr>
        <p:spPr>
          <a:xfrm>
            <a:off x="8398901" y="3784521"/>
            <a:ext cx="3075432" cy="523220"/>
          </a:xfrm>
          <a:prstGeom prst="rect">
            <a:avLst/>
          </a:prstGeom>
          <a:noFill/>
        </p:spPr>
        <p:txBody>
          <a:bodyPr wrap="square" rtlCol="0">
            <a:spAutoFit/>
          </a:bodyPr>
          <a:lstStyle/>
          <a:p>
            <a:pPr algn="ctr"/>
            <a:r>
              <a:rPr lang="it-IT" sz="1400" b="1" dirty="0"/>
              <a:t>Associazione degli Ingegneri Matematici (AIM)</a:t>
            </a:r>
            <a:endParaRPr lang="en-GB" sz="1400" dirty="0">
              <a:latin typeface="Arial" pitchFamily="34" charset="0"/>
              <a:cs typeface="Arial" pitchFamily="34" charset="0"/>
            </a:endParaRPr>
          </a:p>
        </p:txBody>
      </p:sp>
    </p:spTree>
    <p:extLst>
      <p:ext uri="{BB962C8B-B14F-4D97-AF65-F5344CB8AC3E}">
        <p14:creationId xmlns:p14="http://schemas.microsoft.com/office/powerpoint/2010/main" val="1168876253"/>
      </p:ext>
    </p:extLst>
  </p:cSld>
  <p:clrMapOvr>
    <a:masterClrMapping/>
  </p:clrMapOvr>
</p:sld>
</file>

<file path=ppt/theme/theme1.xml><?xml version="1.0" encoding="utf-8"?>
<a:theme xmlns:a="http://schemas.openxmlformats.org/drawingml/2006/main" name="MW_Public_widescreen">
  <a:themeElements>
    <a:clrScheme name="MW">
      <a:dk1>
        <a:srgbClr val="000000"/>
      </a:dk1>
      <a:lt1>
        <a:srgbClr val="FFFFFF"/>
      </a:lt1>
      <a:dk2>
        <a:srgbClr val="0076A8"/>
      </a:dk2>
      <a:lt2>
        <a:srgbClr val="ECF5F8"/>
      </a:lt2>
      <a:accent1>
        <a:srgbClr val="D78824"/>
      </a:accent1>
      <a:accent2>
        <a:srgbClr val="004B87"/>
      </a:accent2>
      <a:accent3>
        <a:srgbClr val="00A9E0"/>
      </a:accent3>
      <a:accent4>
        <a:srgbClr val="F2A900"/>
      </a:accent4>
      <a:accent5>
        <a:srgbClr val="B7302C"/>
      </a:accent5>
      <a:accent6>
        <a:srgbClr val="48A23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w_public.potx" id="{77614DB2-AEEA-4C6F-B978-696DC4DCAD1E}" vid="{BAA8EA8E-6A7A-48B5-92CD-28D182738C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webextension1.xml><?xml version="1.0" encoding="utf-8"?>
<we:webextension xmlns:we="http://schemas.microsoft.com/office/webextensions/webextension/2010/11" id="{A760BC19-7E26-4AEA-80D7-AC551DEB6527}">
  <we:reference id="71a1a0ed-6cd0-4a6e-ad2d-015b8a8b43cb" version="1.0.0.10" store="EXCatalog" storeType="EXCatalog"/>
  <we:alternateReferences>
    <we:reference id="WA104381682" version="1.0.0.10" store="en-US" storeType="OMEX"/>
  </we:alternateReferences>
  <we:properties>
    <we:property name="TLIEZP:69a82e0accc3c315a1e1c656:SlideId" value="4609"/>
    <we:property name="selectedQuestionId" value="&quot;69f070f16da962e80b8f15ee&quot;"/>
    <we:property name="selectedSlug" value="&quot;FPDICY&quot;"/>
    <we:property name="FPDICY:69f070f16da962e80b8f15ee:SlideId" value="4609"/>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CED2B3B9BAE8849942648134EEE717D" ma:contentTypeVersion="25" ma:contentTypeDescription="Create a new document." ma:contentTypeScope="" ma:versionID="88c8bfbb03fe96df05a979615f5cc19f">
  <xsd:schema xmlns:xsd="http://www.w3.org/2001/XMLSchema" xmlns:xs="http://www.w3.org/2001/XMLSchema" xmlns:p="http://schemas.microsoft.com/office/2006/metadata/properties" xmlns:ns1="http://schemas.microsoft.com/sharepoint/v3" xmlns:ns2="b7b985a6-5614-4791-8283-b6a0b2c6681f" xmlns:ns3="bbb466d9-fd0a-40ba-89cb-77eb15c2a30a" targetNamespace="http://schemas.microsoft.com/office/2006/metadata/properties" ma:root="true" ma:fieldsID="74d55843248754136a17156085ffb18b" ns1:_="" ns2:_="" ns3:_="">
    <xsd:import namespace="http://schemas.microsoft.com/sharepoint/v3"/>
    <xsd:import namespace="b7b985a6-5614-4791-8283-b6a0b2c6681f"/>
    <xsd:import namespace="bbb466d9-fd0a-40ba-89cb-77eb15c2a30a"/>
    <xsd:element name="properties">
      <xsd:complexType>
        <xsd:sequence>
          <xsd:element name="documentManagement">
            <xsd:complexType>
              <xsd:all>
                <xsd:element ref="ns2:Number" minOccurs="0"/>
                <xsd:element ref="ns3:SharedWithUsers" minOccurs="0"/>
                <xsd:element ref="ns3:SharedWithDetails" minOccurs="0"/>
                <xsd:element ref="ns3:LastSharedByUser" minOccurs="0"/>
                <xsd:element ref="ns3:LastSharedByTime" minOccurs="0"/>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element ref="ns2:Length"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b985a6-5614-4791-8283-b6a0b2c6681f" elementFormDefault="qualified">
    <xsd:import namespace="http://schemas.microsoft.com/office/2006/documentManagement/types"/>
    <xsd:import namespace="http://schemas.microsoft.com/office/infopath/2007/PartnerControls"/>
    <xsd:element name="Number" ma:index="8" nillable="true" ma:displayName="Number" ma:internalName="Number">
      <xsd:simpleType>
        <xsd:restriction base="dms:Number"/>
      </xsd:simpleType>
    </xsd:element>
    <xsd:element name="MediaServiceMetadata" ma:index="13" nillable="true" ma:displayName="MediaServiceMetadata" ma:description="" ma:hidden="true" ma:internalName="MediaServiceMetadata" ma:readOnly="true">
      <xsd:simpleType>
        <xsd:restriction base="dms:Note"/>
      </xsd:simpleType>
    </xsd:element>
    <xsd:element name="MediaServiceFastMetadata" ma:index="14" nillable="true" ma:displayName="MediaServiceFastMetadata" ma:description="" ma:hidden="true" ma:internalName="MediaServiceFastMetadata" ma:readOnly="true">
      <xsd:simpleType>
        <xsd:restriction base="dms:Note"/>
      </xsd:simpleType>
    </xsd:element>
    <xsd:element name="MediaServiceDateTaken" ma:index="15" nillable="true" ma:displayName="MediaServiceDateTaken" ma:description="" ma:hidden="true" ma:internalName="MediaServiceDateTaken" ma:readOnly="true">
      <xsd:simpleType>
        <xsd:restriction base="dms:Text"/>
      </xsd:simpleType>
    </xsd:element>
    <xsd:element name="MediaServiceAutoTags" ma:index="16" nillable="true" ma:displayName="MediaServiceAutoTags" ma:description="" ma:internalName="MediaServiceAutoTags" ma:readOnly="true">
      <xsd:simpleType>
        <xsd:restriction base="dms:Text"/>
      </xsd:simpleType>
    </xsd:element>
    <xsd:element name="MediaServiceOCR" ma:index="17" nillable="true" ma:displayName="MediaServiceOCR" ma:internalName="MediaServiceOCR" ma:readOnly="true">
      <xsd:simpleType>
        <xsd:restriction base="dms:Note">
          <xsd:maxLength value="255"/>
        </xsd:restriction>
      </xsd:simpleType>
    </xsd:element>
    <xsd:element name="MediaServiceLocation" ma:index="18" nillable="true" ma:displayName="MediaServiceLocation" ma:internalName="MediaServiceLocation"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dc2fbcc8-9673-4dab-87c4-578ccfafc19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9"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0" nillable="true" ma:displayName="MediaServiceSearchProperties" ma:hidden="true" ma:internalName="MediaServiceSearchProperties" ma:readOnly="true">
      <xsd:simpleType>
        <xsd:restriction base="dms:Note"/>
      </xsd:simpleType>
    </xsd:element>
    <xsd:element name="Length" ma:index="31" nillable="true" ma:displayName="Length" ma:format="Dropdown" ma:internalName="Length">
      <xsd:simpleType>
        <xsd:restriction base="dms:Text">
          <xsd:maxLength value="255"/>
        </xsd:restriction>
      </xsd:simpleType>
    </xsd:element>
    <xsd:element name="MediaServiceBillingMetadata" ma:index="3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bb466d9-fd0a-40ba-89cb-77eb15c2a30a" elementFormDefault="qualified">
    <xsd:import namespace="http://schemas.microsoft.com/office/2006/documentManagement/types"/>
    <xsd:import namespace="http://schemas.microsoft.com/office/infopath/2007/PartnerControls"/>
    <xsd:element name="SharedWithUsers" ma:index="9"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description="" ma:internalName="SharedWithDetails" ma:readOnly="true">
      <xsd:simpleType>
        <xsd:restriction base="dms:Note">
          <xsd:maxLength value="255"/>
        </xsd:restriction>
      </xsd:simpleType>
    </xsd:element>
    <xsd:element name="LastSharedByUser" ma:index="11" nillable="true" ma:displayName="Last Shared By User" ma:description="" ma:internalName="LastSharedByUser" ma:readOnly="true">
      <xsd:simpleType>
        <xsd:restriction base="dms:Note">
          <xsd:maxLength value="255"/>
        </xsd:restriction>
      </xsd:simpleType>
    </xsd:element>
    <xsd:element name="LastSharedByTime" ma:index="12" nillable="true" ma:displayName="Last Shared By Time" ma:description="" ma:internalName="LastSharedByTime" ma:readOnly="true">
      <xsd:simpleType>
        <xsd:restriction base="dms:DateTime"/>
      </xsd:simpleType>
    </xsd:element>
    <xsd:element name="TaxCatchAll" ma:index="26" nillable="true" ma:displayName="Taxonomy Catch All Column" ma:hidden="true" ma:list="{f023a373-7af4-4bfd-83ce-25f1d0f63536}" ma:internalName="TaxCatchAll" ma:showField="CatchAllData" ma:web="bbb466d9-fd0a-40ba-89cb-77eb15c2a3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b7b985a6-5614-4791-8283-b6a0b2c6681f">
      <Terms xmlns="http://schemas.microsoft.com/office/infopath/2007/PartnerControls"/>
    </lcf76f155ced4ddcb4097134ff3c332f>
    <TaxCatchAll xmlns="bbb466d9-fd0a-40ba-89cb-77eb15c2a30a" xsi:nil="true"/>
    <Number xmlns="b7b985a6-5614-4791-8283-b6a0b2c6681f" xsi:nil="true"/>
    <Length xmlns="b7b985a6-5614-4791-8283-b6a0b2c6681f" xsi:nil="true"/>
  </documentManagement>
</p:properties>
</file>

<file path=customXml/itemProps1.xml><?xml version="1.0" encoding="utf-8"?>
<ds:datastoreItem xmlns:ds="http://schemas.openxmlformats.org/officeDocument/2006/customXml" ds:itemID="{3B61DF2E-245C-45DF-A9A5-EABECEA4295F}">
  <ds:schemaRefs>
    <ds:schemaRef ds:uri="http://schemas.microsoft.com/sharepoint/v3/contenttype/forms"/>
  </ds:schemaRefs>
</ds:datastoreItem>
</file>

<file path=customXml/itemProps2.xml><?xml version="1.0" encoding="utf-8"?>
<ds:datastoreItem xmlns:ds="http://schemas.openxmlformats.org/officeDocument/2006/customXml" ds:itemID="{63B7F479-798D-4133-9CDA-BD9721CF91DA}">
  <ds:schemaRefs>
    <ds:schemaRef ds:uri="b7b985a6-5614-4791-8283-b6a0b2c6681f"/>
    <ds:schemaRef ds:uri="bbb466d9-fd0a-40ba-89cb-77eb15c2a30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3B851B7-D313-4E85-A1E0-5976CFE11EC3}">
  <ds:schemaRefs>
    <ds:schemaRef ds:uri="19f94994-4311-4823-a682-47492cb9e3e3"/>
    <ds:schemaRef ds:uri="a70944c9-f5be-4b0f-89c7-00caf47c665c"/>
    <ds:schemaRef ds:uri="b7b985a6-5614-4791-8283-b6a0b2c6681f"/>
    <ds:schemaRef ds:uri="bbb466d9-fd0a-40ba-89cb-77eb15c2a30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blank</Template>
  <TotalTime>656</TotalTime>
  <Words>2824</Words>
  <Application>Microsoft Office PowerPoint</Application>
  <PresentationFormat>Widescreen</PresentationFormat>
  <Paragraphs>274</Paragraphs>
  <Slides>27</Slides>
  <Notes>21</Notes>
  <HiddenSlides>0</HiddenSlides>
  <MMClips>0</MMClips>
  <ScaleCrop>false</ScaleCrop>
  <HeadingPairs>
    <vt:vector size="6" baseType="variant">
      <vt:variant>
        <vt:lpstr>Caratteri utilizzati</vt:lpstr>
      </vt:variant>
      <vt:variant>
        <vt:i4>9</vt:i4>
      </vt:variant>
      <vt:variant>
        <vt:lpstr>Tema</vt:lpstr>
      </vt:variant>
      <vt:variant>
        <vt:i4>1</vt:i4>
      </vt:variant>
      <vt:variant>
        <vt:lpstr>Titoli diapositive</vt:lpstr>
      </vt:variant>
      <vt:variant>
        <vt:i4>27</vt:i4>
      </vt:variant>
    </vt:vector>
  </HeadingPairs>
  <TitlesOfParts>
    <vt:vector size="37" baseType="lpstr">
      <vt:lpstr>Malgun Gothic</vt:lpstr>
      <vt:lpstr>Arial</vt:lpstr>
      <vt:lpstr>Calibri</vt:lpstr>
      <vt:lpstr>Courier New</vt:lpstr>
      <vt:lpstr>Noto Sans Symbols</vt:lpstr>
      <vt:lpstr>Roboto</vt:lpstr>
      <vt:lpstr>Segoe UI Light</vt:lpstr>
      <vt:lpstr>Verdana</vt:lpstr>
      <vt:lpstr>Wingdings</vt:lpstr>
      <vt:lpstr>MW_Public_widescreen</vt:lpstr>
      <vt:lpstr>Simscape Onramp</vt:lpstr>
      <vt:lpstr>Contacts</vt:lpstr>
      <vt:lpstr>Agenda</vt:lpstr>
      <vt:lpstr>What is Simscape?</vt:lpstr>
      <vt:lpstr>Why use Simscape? </vt:lpstr>
      <vt:lpstr>Simscape Electrical Overview</vt:lpstr>
      <vt:lpstr>Simscape Battery              Overview</vt:lpstr>
      <vt:lpstr>Simscape Fluids Overview</vt:lpstr>
      <vt:lpstr>Simscape Multibody Overview</vt:lpstr>
      <vt:lpstr>Simscape Driveline Overview</vt:lpstr>
      <vt:lpstr>Differences between Simulink and Simscape</vt:lpstr>
      <vt:lpstr>Simscape vs Simulink 1. Modelling Approach</vt:lpstr>
      <vt:lpstr>Simscape vs Simulink 2. Signal and Physical Connections</vt:lpstr>
      <vt:lpstr>Simscape vs Simulink 3. Integration</vt:lpstr>
      <vt:lpstr>Simscape vs Simulink 4. Solver Configuration</vt:lpstr>
      <vt:lpstr>How can Simscape be used in the real world?</vt:lpstr>
      <vt:lpstr>Volvo Construction Equipment Streamlines Product Development with a Real-Time, Human-in-the-Loop Simulator    </vt:lpstr>
      <vt:lpstr>Self-paced Online Courses</vt:lpstr>
      <vt:lpstr>Resources</vt:lpstr>
      <vt:lpstr>TO DO</vt:lpstr>
      <vt:lpstr>Let’s start coding!</vt:lpstr>
      <vt:lpstr>Before the quiz…</vt:lpstr>
      <vt:lpstr>Hack the Drone - MATLAB Hackathon</vt:lpstr>
      <vt:lpstr>Feedback form…</vt:lpstr>
      <vt:lpstr>…and now</vt:lpstr>
      <vt:lpstr>Wooclap quiz</vt:lpstr>
      <vt:lpstr>Thank you for your attention!  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Simone Montepiani</dc:creator>
  <cp:keywords>Version 23.0</cp:keywords>
  <dc:description/>
  <cp:lastModifiedBy>Simone Montepiani</cp:lastModifiedBy>
  <cp:revision>20</cp:revision>
  <dcterms:created xsi:type="dcterms:W3CDTF">2025-04-09T22:45:14Z</dcterms:created>
  <dcterms:modified xsi:type="dcterms:W3CDTF">2026-04-29T11:07:20Z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441712758</vt:i4>
  </property>
  <property fmtid="{D5CDD505-2E9C-101B-9397-08002B2CF9AE}" pid="3" name="_NewReviewCycle">
    <vt:lpwstr/>
  </property>
  <property fmtid="{D5CDD505-2E9C-101B-9397-08002B2CF9AE}" pid="4" name="_EmailSubject">
    <vt:lpwstr>Quick PPT question</vt:lpwstr>
  </property>
  <property fmtid="{D5CDD505-2E9C-101B-9397-08002B2CF9AE}" pid="5" name="_AuthorEmail">
    <vt:lpwstr>Julie.Cornell@mathworks.com</vt:lpwstr>
  </property>
  <property fmtid="{D5CDD505-2E9C-101B-9397-08002B2CF9AE}" pid="6" name="_AuthorEmailDisplayName">
    <vt:lpwstr>Julie Cornell</vt:lpwstr>
  </property>
  <property fmtid="{D5CDD505-2E9C-101B-9397-08002B2CF9AE}" pid="7" name="ContentTypeId">
    <vt:lpwstr>0x0101005CED2B3B9BAE8849942648134EEE717D</vt:lpwstr>
  </property>
  <property fmtid="{D5CDD505-2E9C-101B-9397-08002B2CF9AE}" pid="8" name="Order">
    <vt:r8>47491500</vt:r8>
  </property>
  <property fmtid="{D5CDD505-2E9C-101B-9397-08002B2CF9AE}" pid="9" name="xd_Signature">
    <vt:bool>false</vt:bool>
  </property>
  <property fmtid="{D5CDD505-2E9C-101B-9397-08002B2CF9AE}" pid="10" name="xd_ProgID">
    <vt:lpwstr/>
  </property>
  <property fmtid="{D5CDD505-2E9C-101B-9397-08002B2CF9AE}" pid="11" name="ComplianceAssetId">
    <vt:lpwstr/>
  </property>
  <property fmtid="{D5CDD505-2E9C-101B-9397-08002B2CF9AE}" pid="12" name="TemplateUrl">
    <vt:lpwstr/>
  </property>
  <property fmtid="{D5CDD505-2E9C-101B-9397-08002B2CF9AE}" pid="13" name="MediaServiceImageTags">
    <vt:lpwstr/>
  </property>
</Properties>
</file>